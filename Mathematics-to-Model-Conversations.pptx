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93346ed7e343d2" /><Relationship Type="http://schemas.openxmlformats.org/officeDocument/2006/relationships/extended-properties" Target="/docProps/app.xml" Id="R1cb84035ab084102" /><Relationship Type="http://schemas.openxmlformats.org/officeDocument/2006/relationships/officeDocument" Target="/ppt/presentation.xml" Id="Rdca6ecfa6e6443a9" /></Relationships>
</file>

<file path=ppt/presentation.xml><?xml version="1.0" encoding="utf-8"?>
<p:presentation xmlns:p="http://schemas.openxmlformats.org/presentationml/2006/main">
  <p:sldMasterIdLst>
    <p:sldMasterId xmlns:r="http://schemas.openxmlformats.org/officeDocument/2006/relationships" id="2147483648" r:id="Rab3e6895027f44c5"/>
  </p:sldMasterIdLst>
  <p:notesMasterIdLst>
    <p:notesMasterId xmlns:r="http://schemas.openxmlformats.org/officeDocument/2006/relationships" r:id="R79581a39b53a4980"/>
  </p:notesMasterIdLst>
  <p:sldIdLst>
    <p:sldId xmlns:r="http://schemas.openxmlformats.org/officeDocument/2006/relationships" id="256" r:id="Rc59c8bcf63844395"/>
    <p:sldId xmlns:r="http://schemas.openxmlformats.org/officeDocument/2006/relationships" id="257" r:id="R9fca3b59f3e64e13"/>
    <p:sldId xmlns:r="http://schemas.openxmlformats.org/officeDocument/2006/relationships" id="258" r:id="R555837c81c894534"/>
    <p:sldId xmlns:r="http://schemas.openxmlformats.org/officeDocument/2006/relationships" id="259" r:id="Rb41c391e9f284788"/>
    <p:sldId xmlns:r="http://schemas.openxmlformats.org/officeDocument/2006/relationships" id="260" r:id="Rceda148725b04fe4"/>
    <p:sldId xmlns:r="http://schemas.openxmlformats.org/officeDocument/2006/relationships" id="261" r:id="Rfc12096efb944ccc"/>
    <p:sldId xmlns:r="http://schemas.openxmlformats.org/officeDocument/2006/relationships" id="262" r:id="R7b7c1a69dd64486d"/>
    <p:sldId xmlns:r="http://schemas.openxmlformats.org/officeDocument/2006/relationships" id="263" r:id="Ra94ab3b6f9d44d51"/>
    <p:sldId xmlns:r="http://schemas.openxmlformats.org/officeDocument/2006/relationships" id="264" r:id="R5544df96c93c441b"/>
    <p:sldId xmlns:r="http://schemas.openxmlformats.org/officeDocument/2006/relationships" id="265" r:id="R6905067bb524481c"/>
    <p:sldId xmlns:r="http://schemas.openxmlformats.org/officeDocument/2006/relationships" id="266" r:id="Rc68070c66be94790"/>
    <p:sldId xmlns:r="http://schemas.openxmlformats.org/officeDocument/2006/relationships" id="267" r:id="R6bede9dadbc0452c"/>
    <p:sldId xmlns:r="http://schemas.openxmlformats.org/officeDocument/2006/relationships" id="268" r:id="Ra5e7d5ddb45f47b6"/>
    <p:sldId xmlns:r="http://schemas.openxmlformats.org/officeDocument/2006/relationships" id="269" r:id="R4b6255f5460f4956"/>
    <p:sldId xmlns:r="http://schemas.openxmlformats.org/officeDocument/2006/relationships" id="270" r:id="Ra075a02ccbff4e06"/>
    <p:sldId xmlns:r="http://schemas.openxmlformats.org/officeDocument/2006/relationships" id="271" r:id="R88e4ee42a3334c31"/>
    <p:sldId xmlns:r="http://schemas.openxmlformats.org/officeDocument/2006/relationships" id="272" r:id="Rd13a0ed0a690459f"/>
    <p:sldId xmlns:r="http://schemas.openxmlformats.org/officeDocument/2006/relationships" id="273" r:id="Re70ddc5b5d5e4ebd"/>
    <p:sldId xmlns:r="http://schemas.openxmlformats.org/officeDocument/2006/relationships" id="274" r:id="Rc34bdd044b824a94"/>
    <p:sldId xmlns:r="http://schemas.openxmlformats.org/officeDocument/2006/relationships" id="275" r:id="R4b1c458b45c34ad1"/>
    <p:sldId xmlns:r="http://schemas.openxmlformats.org/officeDocument/2006/relationships" id="276" r:id="R98b50029b0e24079"/>
    <p:sldId xmlns:r="http://schemas.openxmlformats.org/officeDocument/2006/relationships" id="277" r:id="R998f18ddf8c8483e"/>
    <p:sldId xmlns:r="http://schemas.openxmlformats.org/officeDocument/2006/relationships" id="278" r:id="Rb49b3f938bbd446f"/>
    <p:sldId xmlns:r="http://schemas.openxmlformats.org/officeDocument/2006/relationships" id="279" r:id="Rb4b2fb4a1e1c4abe"/>
    <p:sldId xmlns:r="http://schemas.openxmlformats.org/officeDocument/2006/relationships" id="280" r:id="R1ec3150d5e944081"/>
    <p:sldId xmlns:r="http://schemas.openxmlformats.org/officeDocument/2006/relationships" id="281" r:id="Rfa5cae9b9f844bf4"/>
    <p:sldId xmlns:r="http://schemas.openxmlformats.org/officeDocument/2006/relationships" id="282" r:id="R7a2fd5d03e944405"/>
    <p:sldId xmlns:r="http://schemas.openxmlformats.org/officeDocument/2006/relationships" id="283" r:id="Ra616fcbe72924570"/>
    <p:sldId xmlns:r="http://schemas.openxmlformats.org/officeDocument/2006/relationships" id="284" r:id="R5716916633124e52"/>
    <p:sldId xmlns:r="http://schemas.openxmlformats.org/officeDocument/2006/relationships" id="285" r:id="R5a03d0838eae4d04"/>
    <p:sldId xmlns:r="http://schemas.openxmlformats.org/officeDocument/2006/relationships" id="286" r:id="Rfc2a12a75a7549c1"/>
    <p:sldId xmlns:r="http://schemas.openxmlformats.org/officeDocument/2006/relationships" id="287" r:id="R3fcb901156124093"/>
    <p:sldId xmlns:r="http://schemas.openxmlformats.org/officeDocument/2006/relationships" id="288" r:id="R69803f3abeeb41a7"/>
    <p:sldId xmlns:r="http://schemas.openxmlformats.org/officeDocument/2006/relationships" id="289" r:id="R37dfd89d242341bf"/>
    <p:sldId xmlns:r="http://schemas.openxmlformats.org/officeDocument/2006/relationships" id="290" r:id="R6307b60c02d54445"/>
    <p:sldId xmlns:r="http://schemas.openxmlformats.org/officeDocument/2006/relationships" id="291" r:id="R6bde597a5da44ebb"/>
    <p:sldId xmlns:r="http://schemas.openxmlformats.org/officeDocument/2006/relationships" id="292" r:id="Red7b1f6a07bb4ee2"/>
    <p:sldId xmlns:r="http://schemas.openxmlformats.org/officeDocument/2006/relationships" id="293" r:id="R98e127a7d6484638"/>
    <p:sldId xmlns:r="http://schemas.openxmlformats.org/officeDocument/2006/relationships" id="294" r:id="Rd6bb08ff67614cc1"/>
    <p:sldId xmlns:r="http://schemas.openxmlformats.org/officeDocument/2006/relationships" id="295" r:id="Rd879cbd0e5b64681"/>
    <p:sldId xmlns:r="http://schemas.openxmlformats.org/officeDocument/2006/relationships" id="296" r:id="R86ae0e10eb954dc5"/>
    <p:sldId xmlns:r="http://schemas.openxmlformats.org/officeDocument/2006/relationships" id="297" r:id="R18444d73a2864225"/>
    <p:sldId xmlns:r="http://schemas.openxmlformats.org/officeDocument/2006/relationships" id="298" r:id="R06aa921b232f4e73"/>
    <p:sldId xmlns:r="http://schemas.openxmlformats.org/officeDocument/2006/relationships" id="299" r:id="Re8e4efb4da6343cf"/>
    <p:sldId xmlns:r="http://schemas.openxmlformats.org/officeDocument/2006/relationships" id="300" r:id="Rd899bbf6c7bb4b55"/>
    <p:sldId xmlns:r="http://schemas.openxmlformats.org/officeDocument/2006/relationships" id="301" r:id="R522c27cfb50d4eeb"/>
    <p:sldId xmlns:r="http://schemas.openxmlformats.org/officeDocument/2006/relationships" id="302" r:id="Rb17624320e014a2b"/>
    <p:sldId xmlns:r="http://schemas.openxmlformats.org/officeDocument/2006/relationships" id="303" r:id="R89da88a5e1f34e63"/>
    <p:sldId xmlns:r="http://schemas.openxmlformats.org/officeDocument/2006/relationships" id="304" r:id="Rb16792f8f3634ce6"/>
    <p:sldId xmlns:r="http://schemas.openxmlformats.org/officeDocument/2006/relationships" id="305" r:id="R4db4ae96a5e241ee"/>
    <p:sldId xmlns:r="http://schemas.openxmlformats.org/officeDocument/2006/relationships" id="306" r:id="Reb9417a433c54761"/>
    <p:sldId xmlns:r="http://schemas.openxmlformats.org/officeDocument/2006/relationships" id="307" r:id="Rc660377c9d8e4ce9"/>
    <p:sldId xmlns:r="http://schemas.openxmlformats.org/officeDocument/2006/relationships" id="308" r:id="R4f9bdc51659542f1"/>
    <p:sldId xmlns:r="http://schemas.openxmlformats.org/officeDocument/2006/relationships" id="309" r:id="R31fe616cd5524d9e"/>
    <p:sldId xmlns:r="http://schemas.openxmlformats.org/officeDocument/2006/relationships" id="310" r:id="Ra9ba47c0d5f645ab"/>
    <p:sldId xmlns:r="http://schemas.openxmlformats.org/officeDocument/2006/relationships" id="311" r:id="R2e4c2b7f0432404c"/>
    <p:sldId xmlns:r="http://schemas.openxmlformats.org/officeDocument/2006/relationships" id="312" r:id="R119d90150cd24e04"/>
    <p:sldId xmlns:r="http://schemas.openxmlformats.org/officeDocument/2006/relationships" id="313" r:id="R47be1c09a0214c22"/>
    <p:sldId xmlns:r="http://schemas.openxmlformats.org/officeDocument/2006/relationships" id="314" r:id="Re6fb4b41ff104ca3"/>
    <p:sldId xmlns:r="http://schemas.openxmlformats.org/officeDocument/2006/relationships" id="315" r:id="R9d62b4e935db4081"/>
    <p:sldId xmlns:r="http://schemas.openxmlformats.org/officeDocument/2006/relationships" id="316" r:id="R5e9a9849233b49c0"/>
    <p:sldId xmlns:r="http://schemas.openxmlformats.org/officeDocument/2006/relationships" id="317" r:id="R30f346014e1142f7"/>
    <p:sldId xmlns:r="http://schemas.openxmlformats.org/officeDocument/2006/relationships" id="318" r:id="R0d11dad696b44d93"/>
    <p:sldId xmlns:r="http://schemas.openxmlformats.org/officeDocument/2006/relationships" id="319" r:id="R16a9705daccc4f0a"/>
    <p:sldId xmlns:r="http://schemas.openxmlformats.org/officeDocument/2006/relationships" id="320" r:id="Rdaaa524dd1514b8b"/>
    <p:sldId xmlns:r="http://schemas.openxmlformats.org/officeDocument/2006/relationships" id="321" r:id="Rdab11ac1dde84347"/>
    <p:sldId xmlns:r="http://schemas.openxmlformats.org/officeDocument/2006/relationships" id="322" r:id="Rb8ea2ae2736846fc"/>
    <p:sldId xmlns:r="http://schemas.openxmlformats.org/officeDocument/2006/relationships" id="323" r:id="Reb7f3921513944dc"/>
    <p:sldId xmlns:r="http://schemas.openxmlformats.org/officeDocument/2006/relationships" id="324" r:id="R5ccace7f3043410a"/>
    <p:sldId xmlns:r="http://schemas.openxmlformats.org/officeDocument/2006/relationships" id="325" r:id="R66f4eebabeed4e85"/>
    <p:sldId xmlns:r="http://schemas.openxmlformats.org/officeDocument/2006/relationships" id="326" r:id="R092a2db0047846fc"/>
    <p:sldId xmlns:r="http://schemas.openxmlformats.org/officeDocument/2006/relationships" id="327" r:id="Rf6bc80ead5184b69"/>
    <p:sldId xmlns:r="http://schemas.openxmlformats.org/officeDocument/2006/relationships" id="328" r:id="Rfe29db0761e64eeb"/>
    <p:sldId xmlns:r="http://schemas.openxmlformats.org/officeDocument/2006/relationships" id="329" r:id="R0a1190f721ca4783"/>
    <p:sldId xmlns:r="http://schemas.openxmlformats.org/officeDocument/2006/relationships" id="330" r:id="R9b1e135ab1eb4891"/>
    <p:sldId xmlns:r="http://schemas.openxmlformats.org/officeDocument/2006/relationships" id="331" r:id="R817d8c0557bb46c3"/>
    <p:sldId xmlns:r="http://schemas.openxmlformats.org/officeDocument/2006/relationships" id="332" r:id="Rc4dc5a170c15430a"/>
    <p:sldId xmlns:r="http://schemas.openxmlformats.org/officeDocument/2006/relationships" id="333" r:id="Ra7426ad7ccc34043"/>
    <p:sldId xmlns:r="http://schemas.openxmlformats.org/officeDocument/2006/relationships" id="334" r:id="R66683abdb0e240c3"/>
    <p:sldId xmlns:r="http://schemas.openxmlformats.org/officeDocument/2006/relationships" id="335" r:id="Redc0a8c6b08f4efa"/>
    <p:sldId xmlns:r="http://schemas.openxmlformats.org/officeDocument/2006/relationships" id="336" r:id="Rec8033d9d6a24c06"/>
    <p:sldId xmlns:r="http://schemas.openxmlformats.org/officeDocument/2006/relationships" id="337" r:id="R59b71a3f2b754869"/>
    <p:sldId xmlns:r="http://schemas.openxmlformats.org/officeDocument/2006/relationships" id="338" r:id="Rcc256c3c934349ba"/>
    <p:sldId xmlns:r="http://schemas.openxmlformats.org/officeDocument/2006/relationships" id="339" r:id="R3fd0f5302429482d"/>
    <p:sldId xmlns:r="http://schemas.openxmlformats.org/officeDocument/2006/relationships" id="340" r:id="R77b711cd490047a0"/>
    <p:sldId xmlns:r="http://schemas.openxmlformats.org/officeDocument/2006/relationships" id="341" r:id="R61e68940bc294af3"/>
    <p:sldId xmlns:r="http://schemas.openxmlformats.org/officeDocument/2006/relationships" id="342" r:id="Re92e3764f9c84bf0"/>
    <p:sldId xmlns:r="http://schemas.openxmlformats.org/officeDocument/2006/relationships" id="343" r:id="R1ff0fa332a03497a"/>
    <p:sldId xmlns:r="http://schemas.openxmlformats.org/officeDocument/2006/relationships" id="344" r:id="R49173e6475db42ee"/>
    <p:sldId xmlns:r="http://schemas.openxmlformats.org/officeDocument/2006/relationships" id="345" r:id="Re5a64d9751f14b07"/>
    <p:sldId xmlns:r="http://schemas.openxmlformats.org/officeDocument/2006/relationships" id="346" r:id="R832d52403b264818"/>
    <p:sldId xmlns:r="http://schemas.openxmlformats.org/officeDocument/2006/relationships" id="347" r:id="R201e6b2cce3e40ff"/>
    <p:sldId xmlns:r="http://schemas.openxmlformats.org/officeDocument/2006/relationships" id="348" r:id="R036cf6c26d48412a"/>
    <p:sldId xmlns:r="http://schemas.openxmlformats.org/officeDocument/2006/relationships" id="349" r:id="R0ff602532f3f4ddd"/>
    <p:sldId xmlns:r="http://schemas.openxmlformats.org/officeDocument/2006/relationships" id="350" r:id="Ra81f3218898f46bd"/>
    <p:sldId xmlns:r="http://schemas.openxmlformats.org/officeDocument/2006/relationships" id="351" r:id="R3894de19b2214459"/>
    <p:sldId xmlns:r="http://schemas.openxmlformats.org/officeDocument/2006/relationships" id="352" r:id="Rf9cd90fed4894b68"/>
    <p:sldId xmlns:r="http://schemas.openxmlformats.org/officeDocument/2006/relationships" id="353" r:id="Re5dd1e4dbdbc4f7c"/>
    <p:sldId xmlns:r="http://schemas.openxmlformats.org/officeDocument/2006/relationships" id="354" r:id="R1c2fb0989bb440f2"/>
    <p:sldId xmlns:r="http://schemas.openxmlformats.org/officeDocument/2006/relationships" id="355" r:id="R5ce117e814794fa0"/>
  </p:sldIdLst>
  <p:sldSz cx="10692003" cy="7559993"/>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7af255d2c04f07" /><Relationship Type="http://schemas.openxmlformats.org/officeDocument/2006/relationships/slideMaster" Target="/ppt/slideMasters/slideMaster1.xml" Id="Rab3e6895027f44c5" /><Relationship Type="http://schemas.openxmlformats.org/officeDocument/2006/relationships/notesMaster" Target="/ppt/notesMasters/notesMaster1.xml" Id="R79581a39b53a4980" /><Relationship Type="http://schemas.openxmlformats.org/officeDocument/2006/relationships/presProps" Target="/ppt/presProps.xml" Id="Rf444bb3e007c45a5" /><Relationship Type="http://schemas.openxmlformats.org/officeDocument/2006/relationships/tableStyles" Target="/ppt/tableStyles.xml" Id="R327ac55a2ca74048" /><Relationship Type="http://schemas.openxmlformats.org/officeDocument/2006/relationships/slide" Target="/ppt/slides/slide1.xml" Id="Rc59c8bcf63844395" /><Relationship Type="http://schemas.openxmlformats.org/officeDocument/2006/relationships/slide" Target="/ppt/slides/slide2.xml" Id="R9fca3b59f3e64e13" /><Relationship Type="http://schemas.openxmlformats.org/officeDocument/2006/relationships/slide" Target="/ppt/slides/slide3.xml" Id="R555837c81c894534" /><Relationship Type="http://schemas.openxmlformats.org/officeDocument/2006/relationships/slide" Target="/ppt/slides/slide4.xml" Id="Rb41c391e9f284788" /><Relationship Type="http://schemas.openxmlformats.org/officeDocument/2006/relationships/slide" Target="/ppt/slides/slide5.xml" Id="Rceda148725b04fe4" /><Relationship Type="http://schemas.openxmlformats.org/officeDocument/2006/relationships/slide" Target="/ppt/slides/slide6.xml" Id="Rfc12096efb944ccc" /><Relationship Type="http://schemas.openxmlformats.org/officeDocument/2006/relationships/slide" Target="/ppt/slides/slide7.xml" Id="R7b7c1a69dd64486d" /><Relationship Type="http://schemas.openxmlformats.org/officeDocument/2006/relationships/slide" Target="/ppt/slides/slide8.xml" Id="Ra94ab3b6f9d44d51" /><Relationship Type="http://schemas.openxmlformats.org/officeDocument/2006/relationships/slide" Target="/ppt/slides/slide9.xml" Id="R5544df96c93c441b" /><Relationship Type="http://schemas.openxmlformats.org/officeDocument/2006/relationships/slide" Target="/ppt/slides/slide10.xml" Id="R6905067bb524481c" /><Relationship Type="http://schemas.openxmlformats.org/officeDocument/2006/relationships/slide" Target="/ppt/slides/slide11.xml" Id="Rc68070c66be94790" /><Relationship Type="http://schemas.openxmlformats.org/officeDocument/2006/relationships/slide" Target="/ppt/slides/slide12.xml" Id="R6bede9dadbc0452c" /><Relationship Type="http://schemas.openxmlformats.org/officeDocument/2006/relationships/slide" Target="/ppt/slides/slide13.xml" Id="Ra5e7d5ddb45f47b6" /><Relationship Type="http://schemas.openxmlformats.org/officeDocument/2006/relationships/slide" Target="/ppt/slides/slide14.xml" Id="R4b6255f5460f4956" /><Relationship Type="http://schemas.openxmlformats.org/officeDocument/2006/relationships/slide" Target="/ppt/slides/slide15.xml" Id="Ra075a02ccbff4e06" /><Relationship Type="http://schemas.openxmlformats.org/officeDocument/2006/relationships/slide" Target="/ppt/slides/slide16.xml" Id="R88e4ee42a3334c31" /><Relationship Type="http://schemas.openxmlformats.org/officeDocument/2006/relationships/slide" Target="/ppt/slides/slide17.xml" Id="Rd13a0ed0a690459f" /><Relationship Type="http://schemas.openxmlformats.org/officeDocument/2006/relationships/slide" Target="/ppt/slides/slide18.xml" Id="Re70ddc5b5d5e4ebd" /><Relationship Type="http://schemas.openxmlformats.org/officeDocument/2006/relationships/slide" Target="/ppt/slides/slide19.xml" Id="Rc34bdd044b824a94" /><Relationship Type="http://schemas.openxmlformats.org/officeDocument/2006/relationships/slide" Target="/ppt/slides/slide20.xml" Id="R4b1c458b45c34ad1" /><Relationship Type="http://schemas.openxmlformats.org/officeDocument/2006/relationships/slide" Target="/ppt/slides/slide21.xml" Id="R98b50029b0e24079" /><Relationship Type="http://schemas.openxmlformats.org/officeDocument/2006/relationships/slide" Target="/ppt/slides/slide22.xml" Id="R998f18ddf8c8483e" /><Relationship Type="http://schemas.openxmlformats.org/officeDocument/2006/relationships/slide" Target="/ppt/slides/slide23.xml" Id="Rb49b3f938bbd446f" /><Relationship Type="http://schemas.openxmlformats.org/officeDocument/2006/relationships/slide" Target="/ppt/slides/slide24.xml" Id="Rb4b2fb4a1e1c4abe" /><Relationship Type="http://schemas.openxmlformats.org/officeDocument/2006/relationships/slide" Target="/ppt/slides/slide25.xml" Id="R1ec3150d5e944081" /><Relationship Type="http://schemas.openxmlformats.org/officeDocument/2006/relationships/slide" Target="/ppt/slides/slide26.xml" Id="Rfa5cae9b9f844bf4" /><Relationship Type="http://schemas.openxmlformats.org/officeDocument/2006/relationships/slide" Target="/ppt/slides/slide27.xml" Id="R7a2fd5d03e944405" /><Relationship Type="http://schemas.openxmlformats.org/officeDocument/2006/relationships/slide" Target="/ppt/slides/slide28.xml" Id="Ra616fcbe72924570" /><Relationship Type="http://schemas.openxmlformats.org/officeDocument/2006/relationships/slide" Target="/ppt/slides/slide29.xml" Id="R5716916633124e52" /><Relationship Type="http://schemas.openxmlformats.org/officeDocument/2006/relationships/slide" Target="/ppt/slides/slide30.xml" Id="R5a03d0838eae4d04" /><Relationship Type="http://schemas.openxmlformats.org/officeDocument/2006/relationships/slide" Target="/ppt/slides/slide31.xml" Id="Rfc2a12a75a7549c1" /><Relationship Type="http://schemas.openxmlformats.org/officeDocument/2006/relationships/slide" Target="/ppt/slides/slide32.xml" Id="R3fcb901156124093" /><Relationship Type="http://schemas.openxmlformats.org/officeDocument/2006/relationships/slide" Target="/ppt/slides/slide33.xml" Id="R69803f3abeeb41a7" /><Relationship Type="http://schemas.openxmlformats.org/officeDocument/2006/relationships/slide" Target="/ppt/slides/slide34.xml" Id="R37dfd89d242341bf" /><Relationship Type="http://schemas.openxmlformats.org/officeDocument/2006/relationships/slide" Target="/ppt/slides/slide35.xml" Id="R6307b60c02d54445" /><Relationship Type="http://schemas.openxmlformats.org/officeDocument/2006/relationships/slide" Target="/ppt/slides/slide36.xml" Id="R6bde597a5da44ebb" /><Relationship Type="http://schemas.openxmlformats.org/officeDocument/2006/relationships/slide" Target="/ppt/slides/slide37.xml" Id="Red7b1f6a07bb4ee2" /><Relationship Type="http://schemas.openxmlformats.org/officeDocument/2006/relationships/slide" Target="/ppt/slides/slide38.xml" Id="R98e127a7d6484638" /><Relationship Type="http://schemas.openxmlformats.org/officeDocument/2006/relationships/slide" Target="/ppt/slides/slide39.xml" Id="Rd6bb08ff67614cc1" /><Relationship Type="http://schemas.openxmlformats.org/officeDocument/2006/relationships/slide" Target="/ppt/slides/slide40.xml" Id="Rd879cbd0e5b64681" /><Relationship Type="http://schemas.openxmlformats.org/officeDocument/2006/relationships/slide" Target="/ppt/slides/slide41.xml" Id="R86ae0e10eb954dc5" /><Relationship Type="http://schemas.openxmlformats.org/officeDocument/2006/relationships/slide" Target="/ppt/slides/slide42.xml" Id="R18444d73a2864225" /><Relationship Type="http://schemas.openxmlformats.org/officeDocument/2006/relationships/slide" Target="/ppt/slides/slide43.xml" Id="R06aa921b232f4e73" /><Relationship Type="http://schemas.openxmlformats.org/officeDocument/2006/relationships/slide" Target="/ppt/slides/slide44.xml" Id="Re8e4efb4da6343cf" /><Relationship Type="http://schemas.openxmlformats.org/officeDocument/2006/relationships/slide" Target="/ppt/slides/slide45.xml" Id="Rd899bbf6c7bb4b55" /><Relationship Type="http://schemas.openxmlformats.org/officeDocument/2006/relationships/slide" Target="/ppt/slides/slide46.xml" Id="R522c27cfb50d4eeb" /><Relationship Type="http://schemas.openxmlformats.org/officeDocument/2006/relationships/slide" Target="/ppt/slides/slide47.xml" Id="Rb17624320e014a2b" /><Relationship Type="http://schemas.openxmlformats.org/officeDocument/2006/relationships/slide" Target="/ppt/slides/slide48.xml" Id="R89da88a5e1f34e63" /><Relationship Type="http://schemas.openxmlformats.org/officeDocument/2006/relationships/slide" Target="/ppt/slides/slide49.xml" Id="Rb16792f8f3634ce6" /><Relationship Type="http://schemas.openxmlformats.org/officeDocument/2006/relationships/slide" Target="/ppt/slides/slide50.xml" Id="R4db4ae96a5e241ee" /><Relationship Type="http://schemas.openxmlformats.org/officeDocument/2006/relationships/slide" Target="/ppt/slides/slide51.xml" Id="Reb9417a433c54761" /><Relationship Type="http://schemas.openxmlformats.org/officeDocument/2006/relationships/slide" Target="/ppt/slides/slide52.xml" Id="Rc660377c9d8e4ce9" /><Relationship Type="http://schemas.openxmlformats.org/officeDocument/2006/relationships/slide" Target="/ppt/slides/slide53.xml" Id="R4f9bdc51659542f1" /><Relationship Type="http://schemas.openxmlformats.org/officeDocument/2006/relationships/slide" Target="/ppt/slides/slide54.xml" Id="R31fe616cd5524d9e" /><Relationship Type="http://schemas.openxmlformats.org/officeDocument/2006/relationships/slide" Target="/ppt/slides/slide55.xml" Id="Ra9ba47c0d5f645ab" /><Relationship Type="http://schemas.openxmlformats.org/officeDocument/2006/relationships/slide" Target="/ppt/slides/slide56.xml" Id="R2e4c2b7f0432404c" /><Relationship Type="http://schemas.openxmlformats.org/officeDocument/2006/relationships/slide" Target="/ppt/slides/slide57.xml" Id="R119d90150cd24e04" /><Relationship Type="http://schemas.openxmlformats.org/officeDocument/2006/relationships/slide" Target="/ppt/slides/slide58.xml" Id="R47be1c09a0214c22" /><Relationship Type="http://schemas.openxmlformats.org/officeDocument/2006/relationships/slide" Target="/ppt/slides/slide59.xml" Id="Re6fb4b41ff104ca3" /><Relationship Type="http://schemas.openxmlformats.org/officeDocument/2006/relationships/slide" Target="/ppt/slides/slide60.xml" Id="R9d62b4e935db4081" /><Relationship Type="http://schemas.openxmlformats.org/officeDocument/2006/relationships/slide" Target="/ppt/slides/slide61.xml" Id="R5e9a9849233b49c0" /><Relationship Type="http://schemas.openxmlformats.org/officeDocument/2006/relationships/slide" Target="/ppt/slides/slide62.xml" Id="R30f346014e1142f7" /><Relationship Type="http://schemas.openxmlformats.org/officeDocument/2006/relationships/slide" Target="/ppt/slides/slide63.xml" Id="R0d11dad696b44d93" /><Relationship Type="http://schemas.openxmlformats.org/officeDocument/2006/relationships/slide" Target="/ppt/slides/slide64.xml" Id="R16a9705daccc4f0a" /><Relationship Type="http://schemas.openxmlformats.org/officeDocument/2006/relationships/slide" Target="/ppt/slides/slide65.xml" Id="Rdaaa524dd1514b8b" /><Relationship Type="http://schemas.openxmlformats.org/officeDocument/2006/relationships/slide" Target="/ppt/slides/slide66.xml" Id="Rdab11ac1dde84347" /><Relationship Type="http://schemas.openxmlformats.org/officeDocument/2006/relationships/slide" Target="/ppt/slides/slide67.xml" Id="Rb8ea2ae2736846fc" /><Relationship Type="http://schemas.openxmlformats.org/officeDocument/2006/relationships/slide" Target="/ppt/slides/slide68.xml" Id="Reb7f3921513944dc" /><Relationship Type="http://schemas.openxmlformats.org/officeDocument/2006/relationships/slide" Target="/ppt/slides/slide69.xml" Id="R5ccace7f3043410a" /><Relationship Type="http://schemas.openxmlformats.org/officeDocument/2006/relationships/slide" Target="/ppt/slides/slide70.xml" Id="R66f4eebabeed4e85" /><Relationship Type="http://schemas.openxmlformats.org/officeDocument/2006/relationships/slide" Target="/ppt/slides/slide71.xml" Id="R092a2db0047846fc" /><Relationship Type="http://schemas.openxmlformats.org/officeDocument/2006/relationships/slide" Target="/ppt/slides/slide72.xml" Id="Rf6bc80ead5184b69" /><Relationship Type="http://schemas.openxmlformats.org/officeDocument/2006/relationships/slide" Target="/ppt/slides/slide73.xml" Id="Rfe29db0761e64eeb" /><Relationship Type="http://schemas.openxmlformats.org/officeDocument/2006/relationships/slide" Target="/ppt/slides/slide74.xml" Id="R0a1190f721ca4783" /><Relationship Type="http://schemas.openxmlformats.org/officeDocument/2006/relationships/slide" Target="/ppt/slides/slide75.xml" Id="R9b1e135ab1eb4891" /><Relationship Type="http://schemas.openxmlformats.org/officeDocument/2006/relationships/slide" Target="/ppt/slides/slide76.xml" Id="R817d8c0557bb46c3" /><Relationship Type="http://schemas.openxmlformats.org/officeDocument/2006/relationships/slide" Target="/ppt/slides/slide77.xml" Id="Rc4dc5a170c15430a" /><Relationship Type="http://schemas.openxmlformats.org/officeDocument/2006/relationships/slide" Target="/ppt/slides/slide78.xml" Id="Ra7426ad7ccc34043" /><Relationship Type="http://schemas.openxmlformats.org/officeDocument/2006/relationships/slide" Target="/ppt/slides/slide79.xml" Id="R66683abdb0e240c3" /><Relationship Type="http://schemas.openxmlformats.org/officeDocument/2006/relationships/slide" Target="/ppt/slides/slide80.xml" Id="Redc0a8c6b08f4efa" /><Relationship Type="http://schemas.openxmlformats.org/officeDocument/2006/relationships/slide" Target="/ppt/slides/slide81.xml" Id="Rec8033d9d6a24c06" /><Relationship Type="http://schemas.openxmlformats.org/officeDocument/2006/relationships/slide" Target="/ppt/slides/slide82.xml" Id="R59b71a3f2b754869" /><Relationship Type="http://schemas.openxmlformats.org/officeDocument/2006/relationships/slide" Target="/ppt/slides/slide83.xml" Id="Rcc256c3c934349ba" /><Relationship Type="http://schemas.openxmlformats.org/officeDocument/2006/relationships/slide" Target="/ppt/slides/slide84.xml" Id="R3fd0f5302429482d" /><Relationship Type="http://schemas.openxmlformats.org/officeDocument/2006/relationships/slide" Target="/ppt/slides/slide85.xml" Id="R77b711cd490047a0" /><Relationship Type="http://schemas.openxmlformats.org/officeDocument/2006/relationships/slide" Target="/ppt/slides/slide86.xml" Id="R61e68940bc294af3" /><Relationship Type="http://schemas.openxmlformats.org/officeDocument/2006/relationships/slide" Target="/ppt/slides/slide87.xml" Id="Re92e3764f9c84bf0" /><Relationship Type="http://schemas.openxmlformats.org/officeDocument/2006/relationships/slide" Target="/ppt/slides/slide88.xml" Id="R1ff0fa332a03497a" /><Relationship Type="http://schemas.openxmlformats.org/officeDocument/2006/relationships/slide" Target="/ppt/slides/slide89.xml" Id="R49173e6475db42ee" /><Relationship Type="http://schemas.openxmlformats.org/officeDocument/2006/relationships/slide" Target="/ppt/slides/slide90.xml" Id="Re5a64d9751f14b07" /><Relationship Type="http://schemas.openxmlformats.org/officeDocument/2006/relationships/slide" Target="/ppt/slides/slide91.xml" Id="R832d52403b264818" /><Relationship Type="http://schemas.openxmlformats.org/officeDocument/2006/relationships/slide" Target="/ppt/slides/slide92.xml" Id="R201e6b2cce3e40ff" /><Relationship Type="http://schemas.openxmlformats.org/officeDocument/2006/relationships/slide" Target="/ppt/slides/slide93.xml" Id="R036cf6c26d48412a" /><Relationship Type="http://schemas.openxmlformats.org/officeDocument/2006/relationships/slide" Target="/ppt/slides/slide94.xml" Id="R0ff602532f3f4ddd" /><Relationship Type="http://schemas.openxmlformats.org/officeDocument/2006/relationships/slide" Target="/ppt/slides/slide95.xml" Id="Ra81f3218898f46bd" /><Relationship Type="http://schemas.openxmlformats.org/officeDocument/2006/relationships/slide" Target="/ppt/slides/slide96.xml" Id="R3894de19b2214459" /><Relationship Type="http://schemas.openxmlformats.org/officeDocument/2006/relationships/slide" Target="/ppt/slides/slide97.xml" Id="Rf9cd90fed4894b68" /><Relationship Type="http://schemas.openxmlformats.org/officeDocument/2006/relationships/slide" Target="/ppt/slides/slide98.xml" Id="Re5dd1e4dbdbc4f7c" /><Relationship Type="http://schemas.openxmlformats.org/officeDocument/2006/relationships/slide" Target="/ppt/slides/slide99.xml" Id="R1c2fb0989bb440f2" /><Relationship Type="http://schemas.openxmlformats.org/officeDocument/2006/relationships/slide" Target="/ppt/slides/slide100.xml" Id="R5ce117e814794f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15be6b3d6244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c99b9317374aa8" /><Relationship Type="http://schemas.openxmlformats.org/officeDocument/2006/relationships/notesMaster" Target="/ppt/notesMasters/notesMaster1.xml" Id="R455dcb08947d4b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3e7cdb2aab45b6" /><Relationship Type="http://schemas.openxmlformats.org/officeDocument/2006/relationships/notesMaster" Target="/ppt/notesMasters/notesMaster1.xml" Id="Re120c6642bdb46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dfdfd44a104af4" /><Relationship Type="http://schemas.openxmlformats.org/officeDocument/2006/relationships/notesMaster" Target="/ppt/notesMasters/notesMaster1.xml" Id="R3636d07213ab42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3b777200e8457e" /><Relationship Type="http://schemas.openxmlformats.org/officeDocument/2006/relationships/notesMaster" Target="/ppt/notesMasters/notesMaster1.xml" Id="R9dda095283494c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76e446690d4070" /><Relationship Type="http://schemas.openxmlformats.org/officeDocument/2006/relationships/notesMaster" Target="/ppt/notesMasters/notesMaster1.xml" Id="R03a3dd8953b24f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90848b171747bb" /><Relationship Type="http://schemas.openxmlformats.org/officeDocument/2006/relationships/notesMaster" Target="/ppt/notesMasters/notesMaster1.xml" Id="R1fc6e0bf6cd840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ad1b120b734af0" /><Relationship Type="http://schemas.openxmlformats.org/officeDocument/2006/relationships/notesMaster" Target="/ppt/notesMasters/notesMaster1.xml" Id="R3fe0d7db61b448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d42d76af724a8c" /><Relationship Type="http://schemas.openxmlformats.org/officeDocument/2006/relationships/notesMaster" Target="/ppt/notesMasters/notesMaster1.xml" Id="R69ca30681e0a47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11b12c34d84c79" /><Relationship Type="http://schemas.openxmlformats.org/officeDocument/2006/relationships/notesMaster" Target="/ppt/notesMasters/notesMaster1.xml" Id="Rec765549841542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a40abcfdf44122" /><Relationship Type="http://schemas.openxmlformats.org/officeDocument/2006/relationships/notesMaster" Target="/ppt/notesMasters/notesMaster1.xml" Id="Rd4a749dffb5b4d8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2a3e58d82864b9e" /><Relationship Type="http://schemas.openxmlformats.org/officeDocument/2006/relationships/notesMaster" Target="/ppt/notesMasters/notesMaster1.xml" Id="Rf041f89d37874e7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81d19b03d0f492a" /><Relationship Type="http://schemas.openxmlformats.org/officeDocument/2006/relationships/notesMaster" Target="/ppt/notesMasters/notesMaster1.xml" Id="R8f95127e30464c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268d5b6e2044105" /><Relationship Type="http://schemas.openxmlformats.org/officeDocument/2006/relationships/notesMaster" Target="/ppt/notesMasters/notesMaster1.xml" Id="R3ed27cd9734343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4df3cb7a9aa487f" /><Relationship Type="http://schemas.openxmlformats.org/officeDocument/2006/relationships/notesMaster" Target="/ppt/notesMasters/notesMaster1.xml" Id="Re88166c9feae4eb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665656a81654c92" /><Relationship Type="http://schemas.openxmlformats.org/officeDocument/2006/relationships/notesMaster" Target="/ppt/notesMasters/notesMaster1.xml" Id="R1669dcd7666e472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4604f4115c44fa1" /><Relationship Type="http://schemas.openxmlformats.org/officeDocument/2006/relationships/notesMaster" Target="/ppt/notesMasters/notesMaster1.xml" Id="R4320acea5aba418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50093142c2549f6" /><Relationship Type="http://schemas.openxmlformats.org/officeDocument/2006/relationships/notesMaster" Target="/ppt/notesMasters/notesMaster1.xml" Id="Rbf7599c66cd5484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235ef69496b4284" /><Relationship Type="http://schemas.openxmlformats.org/officeDocument/2006/relationships/notesMaster" Target="/ppt/notesMasters/notesMaster1.xml" Id="R5a361eeb85ce463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31d5ded25fa48e3" /><Relationship Type="http://schemas.openxmlformats.org/officeDocument/2006/relationships/notesMaster" Target="/ppt/notesMasters/notesMaster1.xml" Id="Reaaaaa4609474f5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ed3bc2d974e4dae" /><Relationship Type="http://schemas.openxmlformats.org/officeDocument/2006/relationships/notesMaster" Target="/ppt/notesMasters/notesMaster1.xml" Id="Re199db3d8d65496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c6078f18a7041d9" /><Relationship Type="http://schemas.openxmlformats.org/officeDocument/2006/relationships/notesMaster" Target="/ppt/notesMasters/notesMaster1.xml" Id="Rac601adc1911498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b3a299de1b64e11" /><Relationship Type="http://schemas.openxmlformats.org/officeDocument/2006/relationships/notesMaster" Target="/ppt/notesMasters/notesMaster1.xml" Id="R26d8333a0b0c42a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a5aff8cc9ad4519" /><Relationship Type="http://schemas.openxmlformats.org/officeDocument/2006/relationships/notesMaster" Target="/ppt/notesMasters/notesMaster1.xml" Id="R9593e07b22c44b9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6fdf4b617564462" /><Relationship Type="http://schemas.openxmlformats.org/officeDocument/2006/relationships/notesMaster" Target="/ppt/notesMasters/notesMaster1.xml" Id="R3db6ee4867744ad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507214a23944375" /><Relationship Type="http://schemas.openxmlformats.org/officeDocument/2006/relationships/notesMaster" Target="/ppt/notesMasters/notesMaster1.xml" Id="R1f61a82ebdb1487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befcd4177fd4a19" /><Relationship Type="http://schemas.openxmlformats.org/officeDocument/2006/relationships/notesMaster" Target="/ppt/notesMasters/notesMaster1.xml" Id="R720d233d34654b3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1c084ec210d41f9" /><Relationship Type="http://schemas.openxmlformats.org/officeDocument/2006/relationships/notesMaster" Target="/ppt/notesMasters/notesMaster1.xml" Id="Rafc80ac02a6644d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69ea7f74db34308" /><Relationship Type="http://schemas.openxmlformats.org/officeDocument/2006/relationships/notesMaster" Target="/ppt/notesMasters/notesMaster1.xml" Id="Rbe4aba89495c474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01ab15934a744fd" /><Relationship Type="http://schemas.openxmlformats.org/officeDocument/2006/relationships/notesMaster" Target="/ppt/notesMasters/notesMaster1.xml" Id="R0ef119c23008483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992f176f5c34e7a" /><Relationship Type="http://schemas.openxmlformats.org/officeDocument/2006/relationships/notesMaster" Target="/ppt/notesMasters/notesMaster1.xml" Id="R551469d52f034a3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9210f2b9c8545dc" /><Relationship Type="http://schemas.openxmlformats.org/officeDocument/2006/relationships/notesMaster" Target="/ppt/notesMasters/notesMaster1.xml" Id="Rd657511fcd4549f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866f15637854ec8" /><Relationship Type="http://schemas.openxmlformats.org/officeDocument/2006/relationships/notesMaster" Target="/ppt/notesMasters/notesMaster1.xml" Id="R5406406cee1e472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06b652a1a494995" /><Relationship Type="http://schemas.openxmlformats.org/officeDocument/2006/relationships/notesMaster" Target="/ppt/notesMasters/notesMaster1.xml" Id="R3971e0a17eef471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259563b71d44f8d" /><Relationship Type="http://schemas.openxmlformats.org/officeDocument/2006/relationships/notesMaster" Target="/ppt/notesMasters/notesMaster1.xml" Id="R43cda50d667f455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e5cb4dbdee14e96" /><Relationship Type="http://schemas.openxmlformats.org/officeDocument/2006/relationships/notesMaster" Target="/ppt/notesMasters/notesMaster1.xml" Id="R26e285dee4e342d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bc20a4bbe004391" /><Relationship Type="http://schemas.openxmlformats.org/officeDocument/2006/relationships/notesMaster" Target="/ppt/notesMasters/notesMaster1.xml" Id="R65822fa1f02b4d0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da04d33ffc54951" /><Relationship Type="http://schemas.openxmlformats.org/officeDocument/2006/relationships/notesMaster" Target="/ppt/notesMasters/notesMaster1.xml" Id="R4228420db054412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048eac7fc75496b" /><Relationship Type="http://schemas.openxmlformats.org/officeDocument/2006/relationships/notesMaster" Target="/ppt/notesMasters/notesMaster1.xml" Id="R9d68ae14b0ae4f5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5410cc63ed94867" /><Relationship Type="http://schemas.openxmlformats.org/officeDocument/2006/relationships/notesMaster" Target="/ppt/notesMasters/notesMaster1.xml" Id="R1218079106114fc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1f61f86d7804a31" /><Relationship Type="http://schemas.openxmlformats.org/officeDocument/2006/relationships/notesMaster" Target="/ppt/notesMasters/notesMaster1.xml" Id="Rbbce50fbae8046e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51dcb7b349b45f0" /><Relationship Type="http://schemas.openxmlformats.org/officeDocument/2006/relationships/notesMaster" Target="/ppt/notesMasters/notesMaster1.xml" Id="R296ee8d270e6428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4fbe7f13b6849cc" /><Relationship Type="http://schemas.openxmlformats.org/officeDocument/2006/relationships/notesMaster" Target="/ppt/notesMasters/notesMaster1.xml" Id="Rb6eae34a01a34e6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a1d2df8200d4098" /><Relationship Type="http://schemas.openxmlformats.org/officeDocument/2006/relationships/notesMaster" Target="/ppt/notesMasters/notesMaster1.xml" Id="R6609dfbacbaf46b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80e8f4f7e364c8c" /><Relationship Type="http://schemas.openxmlformats.org/officeDocument/2006/relationships/notesMaster" Target="/ppt/notesMasters/notesMaster1.xml" Id="R023a54fe8940495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1d828bf6871412b" /><Relationship Type="http://schemas.openxmlformats.org/officeDocument/2006/relationships/notesMaster" Target="/ppt/notesMasters/notesMaster1.xml" Id="Rfa054dbd35ab4571"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365a83de2554052" /><Relationship Type="http://schemas.openxmlformats.org/officeDocument/2006/relationships/notesMaster" Target="/ppt/notesMasters/notesMaster1.xml" Id="R200edddad5974ba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5f89018ac3042c7" /><Relationship Type="http://schemas.openxmlformats.org/officeDocument/2006/relationships/notesMaster" Target="/ppt/notesMasters/notesMaster1.xml" Id="R779ed1aa486c4af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18edfcb7e734c59" /><Relationship Type="http://schemas.openxmlformats.org/officeDocument/2006/relationships/notesMaster" Target="/ppt/notesMasters/notesMaster1.xml" Id="R15c993343eba4c0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e23955e0f1b4988" /><Relationship Type="http://schemas.openxmlformats.org/officeDocument/2006/relationships/notesMaster" Target="/ppt/notesMasters/notesMaster1.xml" Id="R5f2b736244c54e3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b74b43eb034479e" /><Relationship Type="http://schemas.openxmlformats.org/officeDocument/2006/relationships/notesMaster" Target="/ppt/notesMasters/notesMaster1.xml" Id="R0c95cd89a07f474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013b768fd0a4a01" /><Relationship Type="http://schemas.openxmlformats.org/officeDocument/2006/relationships/notesMaster" Target="/ppt/notesMasters/notesMaster1.xml" Id="R2a3fe49917c74f0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70075e712934ad8" /><Relationship Type="http://schemas.openxmlformats.org/officeDocument/2006/relationships/notesMaster" Target="/ppt/notesMasters/notesMaster1.xml" Id="R1722412fefc248d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fb1c168e96f40c7" /><Relationship Type="http://schemas.openxmlformats.org/officeDocument/2006/relationships/notesMaster" Target="/ppt/notesMasters/notesMaster1.xml" Id="R99e0358f5d124d3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6e8101ac8534972" /><Relationship Type="http://schemas.openxmlformats.org/officeDocument/2006/relationships/notesMaster" Target="/ppt/notesMasters/notesMaster1.xml" Id="R16b021e612b5437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c50f9c07e564bf4" /><Relationship Type="http://schemas.openxmlformats.org/officeDocument/2006/relationships/notesMaster" Target="/ppt/notesMasters/notesMaster1.xml" Id="Rde5b52193a53430b"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99e9d3d70172420c" /><Relationship Type="http://schemas.openxmlformats.org/officeDocument/2006/relationships/notesMaster" Target="/ppt/notesMasters/notesMaster1.xml" Id="R6467ab6cda6c40a4"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cbdd6da3ac084b86" /><Relationship Type="http://schemas.openxmlformats.org/officeDocument/2006/relationships/notesMaster" Target="/ppt/notesMasters/notesMaster1.xml" Id="R15ebafef622442eb"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cdfcdaff04b54d76" /><Relationship Type="http://schemas.openxmlformats.org/officeDocument/2006/relationships/notesMaster" Target="/ppt/notesMasters/notesMaster1.xml" Id="R3dfeca2d128248c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085aabc8e4f4413e" /><Relationship Type="http://schemas.openxmlformats.org/officeDocument/2006/relationships/notesMaster" Target="/ppt/notesMasters/notesMaster1.xml" Id="Rcbea56fd178e4e7f"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1697226343bb4350" /><Relationship Type="http://schemas.openxmlformats.org/officeDocument/2006/relationships/notesMaster" Target="/ppt/notesMasters/notesMaster1.xml" Id="R970ad6b33dd74bde"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0285dd2c1964513" /><Relationship Type="http://schemas.openxmlformats.org/officeDocument/2006/relationships/notesMaster" Target="/ppt/notesMasters/notesMaster1.xml" Id="R2ebc1db1b41e4215"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49b2c1583704156" /><Relationship Type="http://schemas.openxmlformats.org/officeDocument/2006/relationships/notesMaster" Target="/ppt/notesMasters/notesMaster1.xml" Id="R01e4633a9e9745e3"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976d9db3488c46c2" /><Relationship Type="http://schemas.openxmlformats.org/officeDocument/2006/relationships/notesMaster" Target="/ppt/notesMasters/notesMaster1.xml" Id="Rc3629cd88aaf42a5"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311e2efc4f044bc" /><Relationship Type="http://schemas.openxmlformats.org/officeDocument/2006/relationships/notesMaster" Target="/ppt/notesMasters/notesMaster1.xml" Id="Re9c8581124c941d9"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1e325a6d9f6b47f9" /><Relationship Type="http://schemas.openxmlformats.org/officeDocument/2006/relationships/notesMaster" Target="/ppt/notesMasters/notesMaster1.xml" Id="Rf1b40e6fe9674c94"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10dcd051d15f4d07" /><Relationship Type="http://schemas.openxmlformats.org/officeDocument/2006/relationships/notesMaster" Target="/ppt/notesMasters/notesMaster1.xml" Id="R0c61c212e7634c5d"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a614755530c8412c" /><Relationship Type="http://schemas.openxmlformats.org/officeDocument/2006/relationships/notesMaster" Target="/ppt/notesMasters/notesMaster1.xml" Id="R7f5584ac81634b98"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6f499866601d4e49" /><Relationship Type="http://schemas.openxmlformats.org/officeDocument/2006/relationships/notesMaster" Target="/ppt/notesMasters/notesMaster1.xml" Id="R20360f084d5848be"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f062214af5414784" /><Relationship Type="http://schemas.openxmlformats.org/officeDocument/2006/relationships/notesMaster" Target="/ppt/notesMasters/notesMaster1.xml" Id="Rd2a143689af14be0"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1c757e47e5b94fc3" /><Relationship Type="http://schemas.openxmlformats.org/officeDocument/2006/relationships/notesMaster" Target="/ppt/notesMasters/notesMaster1.xml" Id="Rcc0c6706e70e428b"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a4d77d82d6894064" /><Relationship Type="http://schemas.openxmlformats.org/officeDocument/2006/relationships/notesMaster" Target="/ppt/notesMasters/notesMaster1.xml" Id="R6862369cb5c44fbb"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99ae923f2dce4241" /><Relationship Type="http://schemas.openxmlformats.org/officeDocument/2006/relationships/notesMaster" Target="/ppt/notesMasters/notesMaster1.xml" Id="R202e5de40c834d58"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0e227f0e16ee4fe4" /><Relationship Type="http://schemas.openxmlformats.org/officeDocument/2006/relationships/notesMaster" Target="/ppt/notesMasters/notesMaster1.xml" Id="R32cadbf520004747"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b4e2375a9cf44115" /><Relationship Type="http://schemas.openxmlformats.org/officeDocument/2006/relationships/notesMaster" Target="/ppt/notesMasters/notesMaster1.xml" Id="R74fdfe626d104f93"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67962d0a43604692" /><Relationship Type="http://schemas.openxmlformats.org/officeDocument/2006/relationships/notesMaster" Target="/ppt/notesMasters/notesMaster1.xml" Id="R0fb5024f8b074373"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f9226e824bb14c70" /><Relationship Type="http://schemas.openxmlformats.org/officeDocument/2006/relationships/notesMaster" Target="/ppt/notesMasters/notesMaster1.xml" Id="R5fc4216fabac4918"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f190a82762ac4d69" /><Relationship Type="http://schemas.openxmlformats.org/officeDocument/2006/relationships/notesMaster" Target="/ppt/notesMasters/notesMaster1.xml" Id="Rac8dab5e877a4397"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da1b357214764548" /><Relationship Type="http://schemas.openxmlformats.org/officeDocument/2006/relationships/notesMaster" Target="/ppt/notesMasters/notesMaster1.xml" Id="R12a2260a609747e3"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384c347dfd854ef4" /><Relationship Type="http://schemas.openxmlformats.org/officeDocument/2006/relationships/notesMaster" Target="/ppt/notesMasters/notesMaster1.xml" Id="R8545bc604ecf4c87"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af56a513ac4748eb" /><Relationship Type="http://schemas.openxmlformats.org/officeDocument/2006/relationships/notesMaster" Target="/ppt/notesMasters/notesMaster1.xml" Id="R31387510b9e54517"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33daae3d2e904a2a" /><Relationship Type="http://schemas.openxmlformats.org/officeDocument/2006/relationships/notesMaster" Target="/ppt/notesMasters/notesMaster1.xml" Id="R37205aa90fe74a55"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0bfe737f3f6248ad" /><Relationship Type="http://schemas.openxmlformats.org/officeDocument/2006/relationships/notesMaster" Target="/ppt/notesMasters/notesMaster1.xml" Id="R5da905de16194570"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343ab74d19ab426a" /><Relationship Type="http://schemas.openxmlformats.org/officeDocument/2006/relationships/notesMaster" Target="/ppt/notesMasters/notesMaster1.xml" Id="R4b3170719d8f4439"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61d45b4c7b244a2a" /><Relationship Type="http://schemas.openxmlformats.org/officeDocument/2006/relationships/notesMaster" Target="/ppt/notesMasters/notesMaster1.xml" Id="R29298c7cb37143fb"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b6150f6a161c445c" /><Relationship Type="http://schemas.openxmlformats.org/officeDocument/2006/relationships/notesMaster" Target="/ppt/notesMasters/notesMaster1.xml" Id="Rd97e0ec16f13411b"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2dec0a62eddb4a34" /><Relationship Type="http://schemas.openxmlformats.org/officeDocument/2006/relationships/notesMaster" Target="/ppt/notesMasters/notesMaster1.xml" Id="R0c697e80f2614e76"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ff9360efa4a94753" /><Relationship Type="http://schemas.openxmlformats.org/officeDocument/2006/relationships/notesMaster" Target="/ppt/notesMasters/notesMaster1.xml" Id="R4edc1f8ae40f4410"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956f6ab8bfdf40a3" /><Relationship Type="http://schemas.openxmlformats.org/officeDocument/2006/relationships/notesMaster" Target="/ppt/notesMasters/notesMaster1.xml" Id="R5e38a6bd360f4a92"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b7280bc4b71b4f68" /><Relationship Type="http://schemas.openxmlformats.org/officeDocument/2006/relationships/notesMaster" Target="/ppt/notesMasters/notesMaster1.xml" Id="Rbc5cde4ee9644fda"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38e32fd7d9464ae8" /><Relationship Type="http://schemas.openxmlformats.org/officeDocument/2006/relationships/notesMaster" Target="/ppt/notesMasters/notesMaster1.xml" Id="R5ba4fc55633d4ef8"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ff8345c0264c4172" /><Relationship Type="http://schemas.openxmlformats.org/officeDocument/2006/relationships/notesMaster" Target="/ppt/notesMasters/notesMaster1.xml" Id="Rf9e382f28b8d4ded"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0ed2a9ccbd7c4674" /><Relationship Type="http://schemas.openxmlformats.org/officeDocument/2006/relationships/notesMaster" Target="/ppt/notesMasters/notesMaster1.xml" Id="R4b80589b496b4c6c"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dbcbf1686ddb4406" /><Relationship Type="http://schemas.openxmlformats.org/officeDocument/2006/relationships/notesMaster" Target="/ppt/notesMasters/notesMaster1.xml" Id="R3646192d9b4d4cde"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45646b73b5424f2b" /><Relationship Type="http://schemas.openxmlformats.org/officeDocument/2006/relationships/notesMaster" Target="/ppt/notesMasters/notesMaster1.xml" Id="R394caea3bbe84c27"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1c4bc9e3f7414f79" /><Relationship Type="http://schemas.openxmlformats.org/officeDocument/2006/relationships/notesMaster" Target="/ppt/notesMasters/notesMaster1.xml" Id="Rac18f1d653184707"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7c47676a34e044cb" /><Relationship Type="http://schemas.openxmlformats.org/officeDocument/2006/relationships/notesMaster" Target="/ppt/notesMasters/notesMaster1.xml" Id="Re6a74dfecd534912"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39e66018e52640fb" /><Relationship Type="http://schemas.openxmlformats.org/officeDocument/2006/relationships/notesMaster" Target="/ppt/notesMasters/notesMaster1.xml" Id="Rc23759d435eb4a4b"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c7ff60a322594582" /><Relationship Type="http://schemas.openxmlformats.org/officeDocument/2006/relationships/notesMaster" Target="/ppt/notesMasters/notesMaster1.xml" Id="R52daca7c72f142f9"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f72cb36ad805497d" /><Relationship Type="http://schemas.openxmlformats.org/officeDocument/2006/relationships/notesMaster" Target="/ppt/notesMasters/notesMaster1.xml" Id="R95c7299b0ecc40c8"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b4c4d8fe4c9f438b" /><Relationship Type="http://schemas.openxmlformats.org/officeDocument/2006/relationships/notesMaster" Target="/ppt/notesMasters/notesMaster1.xml" Id="Raf120d4510104b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1: Scalar</a:t>
            </a:r>
          </a:p>
          <a:p xmlns:a="http://schemas.openxmlformats.org/drawingml/2006/main">
            <a:r>
              <a:t/>
            </a:r>
          </a:p>
          <a:p xmlns:a="http://schemas.openxmlformats.org/drawingml/2006/main">
            <a:r>
              <a:t>Understanding check</a:t>
            </a:r>
          </a:p>
          <a:p xmlns:a="http://schemas.openxmlformats.org/drawingml/2006/main">
            <a:r>
              <a:t>Which object is a scalar?</a:t>
            </a:r>
          </a:p>
          <a:p xmlns:a="http://schemas.openxmlformats.org/drawingml/2006/main">
            <a:r>
              <a:t>A. (7.5, 2)</a:t>
            </a:r>
          </a:p>
          <a:p xmlns:a="http://schemas.openxmlformats.org/drawingml/2006/main">
            <a:r>
              <a:t>B. A table of 12 readings</a:t>
            </a:r>
          </a:p>
          <a:p xmlns:a="http://schemas.openxmlformats.org/drawingml/2006/main">
            <a:r>
              <a:t>C. 7.5</a:t>
            </a:r>
          </a:p>
          <a:p xmlns:a="http://schemas.openxmlformats.org/drawingml/2006/main">
            <a:r>
              <a:t>D. A list of three temperatures</a:t>
            </a:r>
          </a:p>
          <a:p xmlns:a="http://schemas.openxmlformats.org/drawingml/2006/main">
            <a:r>
              <a:t/>
            </a:r>
          </a:p>
          <a:p xmlns:a="http://schemas.openxmlformats.org/drawingml/2006/main">
            <a:r>
              <a:t>Answer: C. 7.5</a:t>
            </a:r>
          </a:p>
          <a:p xmlns:a="http://schemas.openxmlformats.org/drawingml/2006/main">
            <a:r>
              <a:t>A scalar is a single number. A vector or matrix contains several scalar entries. The unit explains what a measured number means.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A cumulative course for Linus and other curious learners: 100 concepts, 100 worked examples, 100 metaphors, and 100 questions. Numerical examples are teaching examples, not measured project results. Mathematics uses real scalars unless stated otherwise. Bracketed inner lists denote matrix rows. Engineering concepts use operational calculations rather than invented mathematical definitions.</a:t>
            </a:r>
          </a:p>
          <a:p xmlns:a="http://schemas.openxmlformats.org/drawingml/2006/main">
            <a:r>
              <a:t>The application follows Danny Castonguay’s description of Sememe.ai and the proposed Australian well-log demonstration for the Houston OSDU forum. Available prior context also describes work with his mentor Shie Mannor on computational models, sensing, and control. Retrieval did not recover the complete prior Australian autoencoder chat. Dataset choice, SDK methods, model architecture, and performance remain unverified here. The VQ-VAE pipeline is an educational candidate design, not a claim about the current implementation.</a:t>
            </a:r>
          </a:p>
          <a:p xmlns:a="http://schemas.openxmlformats.org/drawingml/2006/main">
            <a:r>
              <a:t>Shie Mannor, Yishay Mansour, and Aviv Tamar coauthored Reinforcement Learning: Foundations. Mannor’s work on sensing and dynamical systems provides relevant background for the control chapter. These sources do not establish endorsement of this course or of the proposed Sememe.ai design.</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2: Variable</a:t>
            </a:r>
          </a:p>
          <a:p xmlns:a="http://schemas.openxmlformats.org/drawingml/2006/main">
            <a:r>
              <a:t/>
            </a:r>
          </a:p>
          <a:p xmlns:a="http://schemas.openxmlformats.org/drawingml/2006/main">
            <a:r>
              <a:t>Understanding check</a:t>
            </a:r>
          </a:p>
          <a:p xmlns:a="http://schemas.openxmlformats.org/drawingml/2006/main">
            <a:r>
              <a:t>For y = 2x + 1, what is y when x = 4?</a:t>
            </a:r>
          </a:p>
          <a:p xmlns:a="http://schemas.openxmlformats.org/drawingml/2006/main">
            <a:r>
              <a:t>A. 6</a:t>
            </a:r>
          </a:p>
          <a:p xmlns:a="http://schemas.openxmlformats.org/drawingml/2006/main">
            <a:r>
              <a:t>B. 5</a:t>
            </a:r>
          </a:p>
          <a:p xmlns:a="http://schemas.openxmlformats.org/drawingml/2006/main">
            <a:r>
              <a:t>C. 8</a:t>
            </a:r>
          </a:p>
          <a:p xmlns:a="http://schemas.openxmlformats.org/drawingml/2006/main">
            <a:r>
              <a:t>D. 9</a:t>
            </a:r>
          </a:p>
          <a:p xmlns:a="http://schemas.openxmlformats.org/drawingml/2006/main">
            <a:r>
              <a:t/>
            </a:r>
          </a:p>
          <a:p xmlns:a="http://schemas.openxmlformats.org/drawingml/2006/main">
            <a:r>
              <a:t>Answer: D. 9</a:t>
            </a:r>
          </a:p>
          <a:p xmlns:a="http://schemas.openxmlformats.org/drawingml/2006/main">
            <a:r>
              <a:t>Substitute 4 for x: 2 × 4 + 1 = 9. The symbol changes its value; the rule does not change.</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3: Function</a:t>
            </a:r>
          </a:p>
          <a:p xmlns:a="http://schemas.openxmlformats.org/drawingml/2006/main">
            <a:r>
              <a:t/>
            </a:r>
          </a:p>
          <a:p xmlns:a="http://schemas.openxmlformats.org/drawingml/2006/main">
            <a:r>
              <a:t>Understanding check</a:t>
            </a:r>
          </a:p>
          <a:p xmlns:a="http://schemas.openxmlformats.org/drawingml/2006/main">
            <a:r>
              <a:t>Can a function map both 3 and −3 to 9?</a:t>
            </a:r>
          </a:p>
          <a:p xmlns:a="http://schemas.openxmlformats.org/drawingml/2006/main">
            <a:r>
              <a:t>A. No, outputs must all differ</a:t>
            </a:r>
          </a:p>
          <a:p xmlns:a="http://schemas.openxmlformats.org/drawingml/2006/main">
            <a:r>
              <a:t>B. Only if 9 is negative</a:t>
            </a:r>
          </a:p>
          <a:p xmlns:a="http://schemas.openxmlformats.org/drawingml/2006/main">
            <a:r>
              <a:t>C. Only if the function is linear</a:t>
            </a:r>
          </a:p>
          <a:p xmlns:a="http://schemas.openxmlformats.org/drawingml/2006/main">
            <a:r>
              <a:t>D. Yes, each input still has exactly one output</a:t>
            </a:r>
          </a:p>
          <a:p xmlns:a="http://schemas.openxmlformats.org/drawingml/2006/main">
            <a:r>
              <a:t/>
            </a:r>
          </a:p>
          <a:p xmlns:a="http://schemas.openxmlformats.org/drawingml/2006/main">
            <a:r>
              <a:t>Answer: D. Yes, each input still has exactly one output</a:t>
            </a:r>
          </a:p>
          <a:p xmlns:a="http://schemas.openxmlformats.org/drawingml/2006/main">
            <a:r>
              <a:t>A function requires one output per input, not one input per output. The squaring function is many-to-one.</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4: Units</a:t>
            </a:r>
          </a:p>
          <a:p xmlns:a="http://schemas.openxmlformats.org/drawingml/2006/main">
            <a:r>
              <a:t/>
            </a:r>
          </a:p>
          <a:p xmlns:a="http://schemas.openxmlformats.org/drawingml/2006/main">
            <a:r>
              <a:t>Understanding check</a:t>
            </a:r>
          </a:p>
          <a:p xmlns:a="http://schemas.openxmlformats.org/drawingml/2006/main">
            <a:r>
              <a:t>At 5 metres/second for 6 seconds, how far do you travel?</a:t>
            </a:r>
          </a:p>
          <a:p xmlns:a="http://schemas.openxmlformats.org/drawingml/2006/main">
            <a:r>
              <a:t>A. 1.2 metres</a:t>
            </a:r>
          </a:p>
          <a:p xmlns:a="http://schemas.openxmlformats.org/drawingml/2006/main">
            <a:r>
              <a:t>B. 30 seconds</a:t>
            </a:r>
          </a:p>
          <a:p xmlns:a="http://schemas.openxmlformats.org/drawingml/2006/main">
            <a:r>
              <a:t>C. 30 metres</a:t>
            </a:r>
          </a:p>
          <a:p xmlns:a="http://schemas.openxmlformats.org/drawingml/2006/main">
            <a:r>
              <a:t>D. 11 metres</a:t>
            </a:r>
          </a:p>
          <a:p xmlns:a="http://schemas.openxmlformats.org/drawingml/2006/main">
            <a:r>
              <a:t/>
            </a:r>
          </a:p>
          <a:p xmlns:a="http://schemas.openxmlformats.org/drawingml/2006/main">
            <a:r>
              <a:t>Answer: C. 30 metres</a:t>
            </a:r>
          </a:p>
          <a:p xmlns:a="http://schemas.openxmlformats.org/drawingml/2006/main">
            <a:r>
              <a:t>Multiply speed by duration. Units are part of the calculation, not decoration. A model must preserve them when reading or answering questions about data.</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5: Vector</a:t>
            </a:r>
          </a:p>
          <a:p xmlns:a="http://schemas.openxmlformats.org/drawingml/2006/main">
            <a:r>
              <a:t/>
            </a:r>
          </a:p>
          <a:p xmlns:a="http://schemas.openxmlformats.org/drawingml/2006/main">
            <a:r>
              <a:t>Understanding check</a:t>
            </a:r>
          </a:p>
          <a:p xmlns:a="http://schemas.openxmlformats.org/drawingml/2006/main">
            <a:r>
              <a:t>If x = (2, 5), what is 3x?</a:t>
            </a:r>
          </a:p>
          <a:p xmlns:a="http://schemas.openxmlformats.org/drawingml/2006/main">
            <a:r>
              <a:t>A. (15, 6)</a:t>
            </a:r>
          </a:p>
          <a:p xmlns:a="http://schemas.openxmlformats.org/drawingml/2006/main">
            <a:r>
              <a:t>B. (5, 8)</a:t>
            </a:r>
          </a:p>
          <a:p xmlns:a="http://schemas.openxmlformats.org/drawingml/2006/main">
            <a:r>
              <a:t>C. 21</a:t>
            </a:r>
          </a:p>
          <a:p xmlns:a="http://schemas.openxmlformats.org/drawingml/2006/main">
            <a:r>
              <a:t>D. (6, 15)</a:t>
            </a:r>
          </a:p>
          <a:p xmlns:a="http://schemas.openxmlformats.org/drawingml/2006/main">
            <a:r>
              <a:t/>
            </a:r>
          </a:p>
          <a:p xmlns:a="http://schemas.openxmlformats.org/drawingml/2006/main">
            <a:r>
              <a:t>Answer: D. (6, 15)</a:t>
            </a:r>
          </a:p>
          <a:p xmlns:a="http://schemas.openxmlformats.org/drawingml/2006/main">
            <a:r>
              <a:t>Scalar multiplication multiplies every coordinate. It does not add 3, collapse the list, or reverse its order.</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6: Matrix</a:t>
            </a:r>
          </a:p>
          <a:p xmlns:a="http://schemas.openxmlformats.org/drawingml/2006/main">
            <a:r>
              <a:t/>
            </a:r>
          </a:p>
          <a:p xmlns:a="http://schemas.openxmlformats.org/drawingml/2006/main">
            <a:r>
              <a:t>Understanding check</a:t>
            </a:r>
          </a:p>
          <a:p xmlns:a="http://schemas.openxmlformats.org/drawingml/2006/main">
            <a:r>
              <a:t>What is A₂₁ in A = [[1, 2], [3, 4]]?</a:t>
            </a:r>
          </a:p>
          <a:p xmlns:a="http://schemas.openxmlformats.org/drawingml/2006/main">
            <a:r>
              <a:t>A. 2</a:t>
            </a:r>
          </a:p>
          <a:p xmlns:a="http://schemas.openxmlformats.org/drawingml/2006/main">
            <a:r>
              <a:t>B. 4</a:t>
            </a:r>
          </a:p>
          <a:p xmlns:a="http://schemas.openxmlformats.org/drawingml/2006/main">
            <a:r>
              <a:t>C. 3</a:t>
            </a:r>
          </a:p>
          <a:p xmlns:a="http://schemas.openxmlformats.org/drawingml/2006/main">
            <a:r>
              <a:t>D. 1</a:t>
            </a:r>
          </a:p>
          <a:p xmlns:a="http://schemas.openxmlformats.org/drawingml/2006/main">
            <a:r>
              <a:t/>
            </a:r>
          </a:p>
          <a:p xmlns:a="http://schemas.openxmlformats.org/drawingml/2006/main">
            <a:r>
              <a:t>Answer: C. 3</a:t>
            </a:r>
          </a:p>
          <a:p xmlns:a="http://schemas.openxmlformats.org/drawingml/2006/main">
            <a:r>
              <a:t>The first subscript selects the row, the second selects the column. Row 2, column 1 contains 3.</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7: Tensor</a:t>
            </a:r>
          </a:p>
          <a:p xmlns:a="http://schemas.openxmlformats.org/drawingml/2006/main">
            <a:r>
              <a:t/>
            </a:r>
          </a:p>
          <a:p xmlns:a="http://schemas.openxmlformats.org/drawingml/2006/main">
            <a:r>
              <a:t>Understanding check</a:t>
            </a:r>
          </a:p>
          <a:p xmlns:a="http://schemas.openxmlformats.org/drawingml/2006/main">
            <a:r>
              <a:t>In the displayed tensor, what is T₂₂₁?</a:t>
            </a:r>
          </a:p>
          <a:p xmlns:a="http://schemas.openxmlformats.org/drawingml/2006/main">
            <a:r>
              <a:t>A. 6</a:t>
            </a:r>
          </a:p>
          <a:p xmlns:a="http://schemas.openxmlformats.org/drawingml/2006/main">
            <a:r>
              <a:t>B. 8</a:t>
            </a:r>
          </a:p>
          <a:p xmlns:a="http://schemas.openxmlformats.org/drawingml/2006/main">
            <a:r>
              <a:t>C. 3</a:t>
            </a:r>
          </a:p>
          <a:p xmlns:a="http://schemas.openxmlformats.org/drawingml/2006/main">
            <a:r>
              <a:t>D. 7</a:t>
            </a:r>
          </a:p>
          <a:p xmlns:a="http://schemas.openxmlformats.org/drawingml/2006/main">
            <a:r>
              <a:t/>
            </a:r>
          </a:p>
          <a:p xmlns:a="http://schemas.openxmlformats.org/drawingml/2006/main">
            <a:r>
              <a:t>Answer: D. 7</a:t>
            </a:r>
          </a:p>
          <a:p xmlns:a="http://schemas.openxmlformats.org/drawingml/2006/main">
            <a:r>
              <a:t>Choose layer 2, then row 2, then column 1: the value is 7. Shape (2, 2, 2) means three axes, each of length two. A scalar has zero axes. This page uses the ML software meaning of tensor. In geometry, a tensor is a multilinear object independent of a chosen basis; its array of components changes according to the basis-transformation rules.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Introduction to Tensors, TensorFlow</a:t>
            </a:r>
          </a:p>
          <a:p xmlns:a="http://schemas.openxmlformats.org/drawingml/2006/main">
            <a:r>
              <a:t>https://www.tensorflow.org/guide/tensor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8: Summation</a:t>
            </a:r>
          </a:p>
          <a:p xmlns:a="http://schemas.openxmlformats.org/drawingml/2006/main">
            <a:r>
              <a:t/>
            </a:r>
          </a:p>
          <a:p xmlns:a="http://schemas.openxmlformats.org/drawingml/2006/main">
            <a:r>
              <a:t>Understanding check</a:t>
            </a:r>
          </a:p>
          <a:p xmlns:a="http://schemas.openxmlformats.org/drawingml/2006/main">
            <a:r>
              <a:t>What is Σᵢ₌₁³ i²?</a:t>
            </a:r>
          </a:p>
          <a:p xmlns:a="http://schemas.openxmlformats.org/drawingml/2006/main">
            <a:r>
              <a:t>A. 6</a:t>
            </a:r>
          </a:p>
          <a:p xmlns:a="http://schemas.openxmlformats.org/drawingml/2006/main">
            <a:r>
              <a:t>B. 9</a:t>
            </a:r>
          </a:p>
          <a:p xmlns:a="http://schemas.openxmlformats.org/drawingml/2006/main">
            <a:r>
              <a:t>C. 14</a:t>
            </a:r>
          </a:p>
          <a:p xmlns:a="http://schemas.openxmlformats.org/drawingml/2006/main">
            <a:r>
              <a:t>D. 36</a:t>
            </a:r>
          </a:p>
          <a:p xmlns:a="http://schemas.openxmlformats.org/drawingml/2006/main">
            <a:r>
              <a:t/>
            </a:r>
          </a:p>
          <a:p xmlns:a="http://schemas.openxmlformats.org/drawingml/2006/main">
            <a:r>
              <a:t>Answer: C. 14</a:t>
            </a:r>
          </a:p>
          <a:p xmlns:a="http://schemas.openxmlformats.org/drawingml/2006/main">
            <a:r>
              <a:t>Add 1² + 2² + 3² = 1 + 4 + 9 = 14. The index tells us which terms to use.</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9: Dot product</a:t>
            </a:r>
          </a:p>
          <a:p xmlns:a="http://schemas.openxmlformats.org/drawingml/2006/main">
            <a:r>
              <a:t/>
            </a:r>
          </a:p>
          <a:p xmlns:a="http://schemas.openxmlformats.org/drawingml/2006/main">
            <a:r>
              <a:t>Understanding check</a:t>
            </a:r>
          </a:p>
          <a:p xmlns:a="http://schemas.openxmlformats.org/drawingml/2006/main">
            <a:r>
              <a:t>What is (1, 4) · (3, 2)?</a:t>
            </a:r>
          </a:p>
          <a:p xmlns:a="http://schemas.openxmlformats.org/drawingml/2006/main">
            <a:r>
              <a:t>A. 24</a:t>
            </a:r>
          </a:p>
          <a:p xmlns:a="http://schemas.openxmlformats.org/drawingml/2006/main">
            <a:r>
              <a:t>B. 11</a:t>
            </a:r>
          </a:p>
          <a:p xmlns:a="http://schemas.openxmlformats.org/drawingml/2006/main">
            <a:r>
              <a:t>C. (3, 8)</a:t>
            </a:r>
          </a:p>
          <a:p xmlns:a="http://schemas.openxmlformats.org/drawingml/2006/main">
            <a:r>
              <a:t>D. 10</a:t>
            </a:r>
          </a:p>
          <a:p xmlns:a="http://schemas.openxmlformats.org/drawingml/2006/main">
            <a:r>
              <a:t/>
            </a:r>
          </a:p>
          <a:p xmlns:a="http://schemas.openxmlformats.org/drawingml/2006/main">
            <a:r>
              <a:t>Answer: B. 11</a:t>
            </a:r>
          </a:p>
          <a:p xmlns:a="http://schemas.openxmlformats.org/drawingml/2006/main">
            <a:r>
              <a:t>The products are 3 and 8; their sum is 11. Keeping (3, 8) would be elementwise multiplication, not a dot product.</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10: Matrix multiplication</a:t>
            </a:r>
          </a:p>
          <a:p xmlns:a="http://schemas.openxmlformats.org/drawingml/2006/main">
            <a:r>
              <a:t/>
            </a:r>
          </a:p>
          <a:p xmlns:a="http://schemas.openxmlformats.org/drawingml/2006/main">
            <a:r>
              <a:t>Understanding check</a:t>
            </a:r>
          </a:p>
          <a:p xmlns:a="http://schemas.openxmlformats.org/drawingml/2006/main">
            <a:r>
              <a:t>A is 2 × 3 and B is 3 × 4. What shape is AB?</a:t>
            </a:r>
          </a:p>
          <a:p xmlns:a="http://schemas.openxmlformats.org/drawingml/2006/main">
            <a:r>
              <a:t>A. 3 × 3</a:t>
            </a:r>
          </a:p>
          <a:p xmlns:a="http://schemas.openxmlformats.org/drawingml/2006/main">
            <a:r>
              <a:t>B. 2 × 4</a:t>
            </a:r>
          </a:p>
          <a:p xmlns:a="http://schemas.openxmlformats.org/drawingml/2006/main">
            <a:r>
              <a:t>C. 6 × 12</a:t>
            </a:r>
          </a:p>
          <a:p xmlns:a="http://schemas.openxmlformats.org/drawingml/2006/main">
            <a:r>
              <a:t>D. 4 × 2</a:t>
            </a:r>
          </a:p>
          <a:p xmlns:a="http://schemas.openxmlformats.org/drawingml/2006/main">
            <a:r>
              <a:t/>
            </a:r>
          </a:p>
          <a:p xmlns:a="http://schemas.openxmlformats.org/drawingml/2006/main">
            <a:r>
              <a:t>Answer: B. 2 × 4</a:t>
            </a:r>
          </a:p>
          <a:p xmlns:a="http://schemas.openxmlformats.org/drawingml/2006/main">
            <a:r>
              <a:t>The inner dimensions, 3 and 3, must match. The outer dimensions form the result, 2 × 4. Matrix multiplication is generally order-dependent.</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11: Transpose</a:t>
            </a:r>
          </a:p>
          <a:p xmlns:a="http://schemas.openxmlformats.org/drawingml/2006/main">
            <a:r>
              <a:t/>
            </a:r>
          </a:p>
          <a:p xmlns:a="http://schemas.openxmlformats.org/drawingml/2006/main">
            <a:r>
              <a:t>Understanding check</a:t>
            </a:r>
          </a:p>
          <a:p xmlns:a="http://schemas.openxmlformats.org/drawingml/2006/main">
            <a:r>
              <a:t>What is the transpose of a 2 × 5 matrix?</a:t>
            </a:r>
          </a:p>
          <a:p xmlns:a="http://schemas.openxmlformats.org/drawingml/2006/main">
            <a:r>
              <a:t>A. A 2 × 5 matrix with doubled entries</a:t>
            </a:r>
          </a:p>
          <a:p xmlns:a="http://schemas.openxmlformats.org/drawingml/2006/main">
            <a:r>
              <a:t>B. Its inverse</a:t>
            </a:r>
          </a:p>
          <a:p xmlns:a="http://schemas.openxmlformats.org/drawingml/2006/main">
            <a:r>
              <a:t>C. A 5 × 2 matrix</a:t>
            </a:r>
          </a:p>
          <a:p xmlns:a="http://schemas.openxmlformats.org/drawingml/2006/main">
            <a:r>
              <a:t>D. A 10 × 1 matrix</a:t>
            </a:r>
          </a:p>
          <a:p xmlns:a="http://schemas.openxmlformats.org/drawingml/2006/main">
            <a:r>
              <a:t/>
            </a:r>
          </a:p>
          <a:p xmlns:a="http://schemas.openxmlformats.org/drawingml/2006/main">
            <a:r>
              <a:t>Answer: C. A 5 × 2 matrix</a:t>
            </a:r>
          </a:p>
          <a:p xmlns:a="http://schemas.openxmlformats.org/drawingml/2006/main">
            <a:r>
              <a:t>Transposing swaps the two axes. It does not change the values, flatten the matrix, or undo a transformation.</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12: Linear transformation</a:t>
            </a:r>
          </a:p>
          <a:p xmlns:a="http://schemas.openxmlformats.org/drawingml/2006/main">
            <a:r>
              <a:t/>
            </a:r>
          </a:p>
          <a:p xmlns:a="http://schemas.openxmlformats.org/drawingml/2006/main">
            <a:r>
              <a:t>Understanding check</a:t>
            </a:r>
          </a:p>
          <a:p xmlns:a="http://schemas.openxmlformats.org/drawingml/2006/main">
            <a:r>
              <a:t>Which function is linear in the mathematical sense?</a:t>
            </a:r>
          </a:p>
          <a:p xmlns:a="http://schemas.openxmlformats.org/drawingml/2006/main">
            <a:r>
              <a:t>A. f(x) = x + 3</a:t>
            </a:r>
          </a:p>
          <a:p xmlns:a="http://schemas.openxmlformats.org/drawingml/2006/main">
            <a:r>
              <a:t>B. f(x) = 3x</a:t>
            </a:r>
          </a:p>
          <a:p xmlns:a="http://schemas.openxmlformats.org/drawingml/2006/main">
            <a:r>
              <a:t>C. f(x) = x²</a:t>
            </a:r>
          </a:p>
          <a:p xmlns:a="http://schemas.openxmlformats.org/drawingml/2006/main">
            <a:r>
              <a:t>D. f(x) = max(0, x)</a:t>
            </a:r>
          </a:p>
          <a:p xmlns:a="http://schemas.openxmlformats.org/drawingml/2006/main">
            <a:r>
              <a:t/>
            </a:r>
          </a:p>
          <a:p xmlns:a="http://schemas.openxmlformats.org/drawingml/2006/main">
            <a:r>
              <a:t>Answer: B. f(x) = 3x</a:t>
            </a:r>
          </a:p>
          <a:p xmlns:a="http://schemas.openxmlformats.org/drawingml/2006/main">
            <a:r>
              <a:t>A linear map sends zero to zero and obeys superposition. The familiar straight-line function 3x + b is affine when b is nonzero.</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13: Euclidean distance</a:t>
            </a:r>
          </a:p>
          <a:p xmlns:a="http://schemas.openxmlformats.org/drawingml/2006/main">
            <a:r>
              <a:t/>
            </a:r>
          </a:p>
          <a:p xmlns:a="http://schemas.openxmlformats.org/drawingml/2006/main">
            <a:r>
              <a:t>Understanding check</a:t>
            </a:r>
          </a:p>
          <a:p xmlns:a="http://schemas.openxmlformats.org/drawingml/2006/main">
            <a:r>
              <a:t>What is the distance from (1, 1) to (4, 5)?</a:t>
            </a:r>
          </a:p>
          <a:p xmlns:a="http://schemas.openxmlformats.org/drawingml/2006/main">
            <a:r>
              <a:t>A. 7</a:t>
            </a:r>
          </a:p>
          <a:p xmlns:a="http://schemas.openxmlformats.org/drawingml/2006/main">
            <a:r>
              <a:t>B. 5</a:t>
            </a:r>
          </a:p>
          <a:p xmlns:a="http://schemas.openxmlformats.org/drawingml/2006/main">
            <a:r>
              <a:t>C. 4</a:t>
            </a:r>
          </a:p>
          <a:p xmlns:a="http://schemas.openxmlformats.org/drawingml/2006/main">
            <a:r>
              <a:t>D. 25</a:t>
            </a:r>
          </a:p>
          <a:p xmlns:a="http://schemas.openxmlformats.org/drawingml/2006/main">
            <a:r>
              <a:t/>
            </a:r>
          </a:p>
          <a:p xmlns:a="http://schemas.openxmlformats.org/drawingml/2006/main">
            <a:r>
              <a:t>Answer: B. 5</a:t>
            </a:r>
          </a:p>
          <a:p xmlns:a="http://schemas.openxmlformats.org/drawingml/2006/main">
            <a:r>
              <a:t>The displacement is (3, 4), whose length is 5. With mixed physical features, choose units and scaling before interpreting distance.</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14: Probability</a:t>
            </a:r>
          </a:p>
          <a:p xmlns:a="http://schemas.openxmlformats.org/drawingml/2006/main">
            <a:r>
              <a:t/>
            </a:r>
          </a:p>
          <a:p xmlns:a="http://schemas.openxmlformats.org/drawingml/2006/main">
            <a:r>
              <a:t>Understanding check</a:t>
            </a:r>
          </a:p>
          <a:p xmlns:a="http://schemas.openxmlformats.org/drawingml/2006/main">
            <a:r>
              <a:t>A fair die is rolled. What is P(rolling more than 4)?</a:t>
            </a:r>
          </a:p>
          <a:p xmlns:a="http://schemas.openxmlformats.org/drawingml/2006/main">
            <a:r>
              <a:t>A. 1/6</a:t>
            </a:r>
          </a:p>
          <a:p xmlns:a="http://schemas.openxmlformats.org/drawingml/2006/main">
            <a:r>
              <a:t>B. 1/2</a:t>
            </a:r>
          </a:p>
          <a:p xmlns:a="http://schemas.openxmlformats.org/drawingml/2006/main">
            <a:r>
              <a:t>C. 1/3</a:t>
            </a:r>
          </a:p>
          <a:p xmlns:a="http://schemas.openxmlformats.org/drawingml/2006/main">
            <a:r>
              <a:t>D. 2/3</a:t>
            </a:r>
          </a:p>
          <a:p xmlns:a="http://schemas.openxmlformats.org/drawingml/2006/main">
            <a:r>
              <a:t/>
            </a:r>
          </a:p>
          <a:p xmlns:a="http://schemas.openxmlformats.org/drawingml/2006/main">
            <a:r>
              <a:t>Answer: C. 1/3</a:t>
            </a:r>
          </a:p>
          <a:p xmlns:a="http://schemas.openxmlformats.org/drawingml/2006/main">
            <a:r>
              <a:t>The favorable outcomes are 5 and 6: two of six equally likely outcomes. A probability describes uncertainty, not certainty about one trial.</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15: Conditional probability</a:t>
            </a:r>
          </a:p>
          <a:p xmlns:a="http://schemas.openxmlformats.org/drawingml/2006/main">
            <a:r>
              <a:t/>
            </a:r>
          </a:p>
          <a:p xmlns:a="http://schemas.openxmlformats.org/drawingml/2006/main">
            <a:r>
              <a:t>Understanding check</a:t>
            </a:r>
          </a:p>
          <a:p xmlns:a="http://schemas.openxmlformats.org/drawingml/2006/main">
            <a:r>
              <a:t>Of 10 samples, 4 are deep and 3 of those are hot. P(hot given deep)?</a:t>
            </a:r>
          </a:p>
          <a:p xmlns:a="http://schemas.openxmlformats.org/drawingml/2006/main">
            <a:r>
              <a:t>A. 3/4</a:t>
            </a:r>
          </a:p>
          <a:p xmlns:a="http://schemas.openxmlformats.org/drawingml/2006/main">
            <a:r>
              <a:t>B. 4/10</a:t>
            </a:r>
          </a:p>
          <a:p xmlns:a="http://schemas.openxmlformats.org/drawingml/2006/main">
            <a:r>
              <a:t>C. 4/3</a:t>
            </a:r>
          </a:p>
          <a:p xmlns:a="http://schemas.openxmlformats.org/drawingml/2006/main">
            <a:r>
              <a:t>D. 3/10</a:t>
            </a:r>
          </a:p>
          <a:p xmlns:a="http://schemas.openxmlformats.org/drawingml/2006/main">
            <a:r>
              <a:t/>
            </a:r>
          </a:p>
          <a:p xmlns:a="http://schemas.openxmlformats.org/drawingml/2006/main">
            <a:r>
              <a:t>Answer: A. 3/4</a:t>
            </a:r>
          </a:p>
          <a:p xmlns:a="http://schemas.openxmlformats.org/drawingml/2006/main">
            <a:r>
              <a:t>Conditioning changes the relevant denominator to the four deep samples. P(A given B) generally differs from P(B given A).</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16: Expected value</a:t>
            </a:r>
          </a:p>
          <a:p xmlns:a="http://schemas.openxmlformats.org/drawingml/2006/main">
            <a:r>
              <a:t/>
            </a:r>
          </a:p>
          <a:p xmlns:a="http://schemas.openxmlformats.org/drawingml/2006/main">
            <a:r>
              <a:t>Understanding check</a:t>
            </a:r>
          </a:p>
          <a:p xmlns:a="http://schemas.openxmlformats.org/drawingml/2006/main">
            <a:r>
              <a:t>A game pays 8 with probability 1/4 and 0 otherwise. Expected payout?</a:t>
            </a:r>
          </a:p>
          <a:p xmlns:a="http://schemas.openxmlformats.org/drawingml/2006/main">
            <a:r>
              <a:t>A. 2</a:t>
            </a:r>
          </a:p>
          <a:p xmlns:a="http://schemas.openxmlformats.org/drawingml/2006/main">
            <a:r>
              <a:t>B. 0.25</a:t>
            </a:r>
          </a:p>
          <a:p xmlns:a="http://schemas.openxmlformats.org/drawingml/2006/main">
            <a:r>
              <a:t>C. 4</a:t>
            </a:r>
          </a:p>
          <a:p xmlns:a="http://schemas.openxmlformats.org/drawingml/2006/main">
            <a:r>
              <a:t>D. 8</a:t>
            </a:r>
          </a:p>
          <a:p xmlns:a="http://schemas.openxmlformats.org/drawingml/2006/main">
            <a:r>
              <a:t/>
            </a:r>
          </a:p>
          <a:p xmlns:a="http://schemas.openxmlformats.org/drawingml/2006/main">
            <a:r>
              <a:t>Answer: A. 2</a:t>
            </a:r>
          </a:p>
          <a:p xmlns:a="http://schemas.openxmlformats.org/drawingml/2006/main">
            <a:r>
              <a:t>The weighted average is 8 × 1/4 + 0 × 3/4 = 2. You need not receive exactly 2 in any play.</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17: Variance</a:t>
            </a:r>
          </a:p>
          <a:p xmlns:a="http://schemas.openxmlformats.org/drawingml/2006/main">
            <a:r>
              <a:t/>
            </a:r>
          </a:p>
          <a:p xmlns:a="http://schemas.openxmlformats.org/drawingml/2006/main">
            <a:r>
              <a:t>Understanding check</a:t>
            </a:r>
          </a:p>
          <a:p xmlns:a="http://schemas.openxmlformats.org/drawingml/2006/main">
            <a:r>
              <a:t>For equally likely 1 and 5, what is the variance?</a:t>
            </a:r>
          </a:p>
          <a:p xmlns:a="http://schemas.openxmlformats.org/drawingml/2006/main">
            <a:r>
              <a:t>A. 3</a:t>
            </a:r>
          </a:p>
          <a:p xmlns:a="http://schemas.openxmlformats.org/drawingml/2006/main">
            <a:r>
              <a:t>B. 2</a:t>
            </a:r>
          </a:p>
          <a:p xmlns:a="http://schemas.openxmlformats.org/drawingml/2006/main">
            <a:r>
              <a:t>C. 4</a:t>
            </a:r>
          </a:p>
          <a:p xmlns:a="http://schemas.openxmlformats.org/drawingml/2006/main">
            <a:r>
              <a:t>D. 16</a:t>
            </a:r>
          </a:p>
          <a:p xmlns:a="http://schemas.openxmlformats.org/drawingml/2006/main">
            <a:r>
              <a:t/>
            </a:r>
          </a:p>
          <a:p xmlns:a="http://schemas.openxmlformats.org/drawingml/2006/main">
            <a:r>
              <a:t>Answer: C. 4</a:t>
            </a:r>
          </a:p>
          <a:p xmlns:a="http://schemas.openxmlformats.org/drawingml/2006/main">
            <a:r>
              <a:t>The mean is 3. Both squared deviations are 4, so their average is 4. Standard deviation would be 2. This is a population calculation.</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18: Exponential and logarithm</a:t>
            </a:r>
          </a:p>
          <a:p xmlns:a="http://schemas.openxmlformats.org/drawingml/2006/main">
            <a:r>
              <a:t/>
            </a:r>
          </a:p>
          <a:p xmlns:a="http://schemas.openxmlformats.org/drawingml/2006/main">
            <a:r>
              <a:t>Understanding check</a:t>
            </a:r>
          </a:p>
          <a:p xmlns:a="http://schemas.openxmlformats.org/drawingml/2006/main">
            <a:r>
              <a:t>What is ln(e³)?</a:t>
            </a:r>
          </a:p>
          <a:p xmlns:a="http://schemas.openxmlformats.org/drawingml/2006/main">
            <a:r>
              <a:t>A. 9</a:t>
            </a:r>
          </a:p>
          <a:p xmlns:a="http://schemas.openxmlformats.org/drawingml/2006/main">
            <a:r>
              <a:t>B. 1</a:t>
            </a:r>
          </a:p>
          <a:p xmlns:a="http://schemas.openxmlformats.org/drawingml/2006/main">
            <a:r>
              <a:t>C. e</a:t>
            </a:r>
          </a:p>
          <a:p xmlns:a="http://schemas.openxmlformats.org/drawingml/2006/main">
            <a:r>
              <a:t>D. 3</a:t>
            </a:r>
          </a:p>
          <a:p xmlns:a="http://schemas.openxmlformats.org/drawingml/2006/main">
            <a:r>
              <a:t/>
            </a:r>
          </a:p>
          <a:p xmlns:a="http://schemas.openxmlformats.org/drawingml/2006/main">
            <a:r>
              <a:t>Answer: D. 3</a:t>
            </a:r>
          </a:p>
          <a:p xmlns:a="http://schemas.openxmlformats.org/drawingml/2006/main">
            <a:r>
              <a:t>The logarithm reverses exponentiation. In later probability losses, logarithms also turn products of probabilities into sums.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19: Derivative</a:t>
            </a:r>
          </a:p>
          <a:p xmlns:a="http://schemas.openxmlformats.org/drawingml/2006/main">
            <a:r>
              <a:t/>
            </a:r>
          </a:p>
          <a:p xmlns:a="http://schemas.openxmlformats.org/drawingml/2006/main">
            <a:r>
              <a:t>Understanding check</a:t>
            </a:r>
          </a:p>
          <a:p xmlns:a="http://schemas.openxmlformats.org/drawingml/2006/main">
            <a:r>
              <a:t>For f(x) = x², what is the derivative at x = 4?</a:t>
            </a:r>
          </a:p>
          <a:p xmlns:a="http://schemas.openxmlformats.org/drawingml/2006/main">
            <a:r>
              <a:t>A. 8</a:t>
            </a:r>
          </a:p>
          <a:p xmlns:a="http://schemas.openxmlformats.org/drawingml/2006/main">
            <a:r>
              <a:t>B. 16</a:t>
            </a:r>
          </a:p>
          <a:p xmlns:a="http://schemas.openxmlformats.org/drawingml/2006/main">
            <a:r>
              <a:t>C. 4</a:t>
            </a:r>
          </a:p>
          <a:p xmlns:a="http://schemas.openxmlformats.org/drawingml/2006/main">
            <a:r>
              <a:t>D. 2</a:t>
            </a:r>
          </a:p>
          <a:p xmlns:a="http://schemas.openxmlformats.org/drawingml/2006/main">
            <a:r>
              <a:t/>
            </a:r>
          </a:p>
          <a:p xmlns:a="http://schemas.openxmlformats.org/drawingml/2006/main">
            <a:r>
              <a:t>Answer: A. 8</a:t>
            </a:r>
          </a:p>
          <a:p xmlns:a="http://schemas.openxmlformats.org/drawingml/2006/main">
            <a:r>
              <a:t>The derivative is 2x, so its value is 8. The function's value is 16. Local slope and height are different quantities.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20: Integral</a:t>
            </a:r>
          </a:p>
          <a:p xmlns:a="http://schemas.openxmlformats.org/drawingml/2006/main">
            <a:r>
              <a:t/>
            </a:r>
          </a:p>
          <a:p xmlns:a="http://schemas.openxmlformats.org/drawingml/2006/main">
            <a:r>
              <a:t>Understanding check</a:t>
            </a:r>
          </a:p>
          <a:p xmlns:a="http://schemas.openxmlformats.org/drawingml/2006/main">
            <a:r>
              <a:t>A constant speed of 4 metres/second lasts 5 seconds. Integral of speed?</a:t>
            </a:r>
          </a:p>
          <a:p xmlns:a="http://schemas.openxmlformats.org/drawingml/2006/main">
            <a:r>
              <a:t>A. 9 metres</a:t>
            </a:r>
          </a:p>
          <a:p xmlns:a="http://schemas.openxmlformats.org/drawingml/2006/main">
            <a:r>
              <a:t>B. 0.8 metres</a:t>
            </a:r>
          </a:p>
          <a:p xmlns:a="http://schemas.openxmlformats.org/drawingml/2006/main">
            <a:r>
              <a:t>C. 20 metres/second</a:t>
            </a:r>
          </a:p>
          <a:p xmlns:a="http://schemas.openxmlformats.org/drawingml/2006/main">
            <a:r>
              <a:t>D. 20 metres</a:t>
            </a:r>
          </a:p>
          <a:p xmlns:a="http://schemas.openxmlformats.org/drawingml/2006/main">
            <a:r>
              <a:t/>
            </a:r>
          </a:p>
          <a:p xmlns:a="http://schemas.openxmlformats.org/drawingml/2006/main">
            <a:r>
              <a:t>Answer: D. 20 metres</a:t>
            </a:r>
          </a:p>
          <a:p xmlns:a="http://schemas.openxmlformats.org/drawingml/2006/main">
            <a:r>
              <a:t>For the constant speed, 4 × 5 = 20 metres. Integrating nonnegative speed gives distance; integrating signed velocity gives displacement. The displayed equal-width limit defines the integral for continuous functions, and more generally for Riemann-integrable functions.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21: Gradient</a:t>
            </a:r>
          </a:p>
          <a:p xmlns:a="http://schemas.openxmlformats.org/drawingml/2006/main">
            <a:r>
              <a:t/>
            </a:r>
          </a:p>
          <a:p xmlns:a="http://schemas.openxmlformats.org/drawingml/2006/main">
            <a:r>
              <a:t>Understanding check</a:t>
            </a:r>
          </a:p>
          <a:p xmlns:a="http://schemas.openxmlformats.org/drawingml/2006/main">
            <a:r>
              <a:t>For L = x² + y² at (2, 3), what is ∇L?</a:t>
            </a:r>
          </a:p>
          <a:p xmlns:a="http://schemas.openxmlformats.org/drawingml/2006/main">
            <a:r>
              <a:t>A. 13</a:t>
            </a:r>
          </a:p>
          <a:p xmlns:a="http://schemas.openxmlformats.org/drawingml/2006/main">
            <a:r>
              <a:t>B. (2, 3)</a:t>
            </a:r>
          </a:p>
          <a:p xmlns:a="http://schemas.openxmlformats.org/drawingml/2006/main">
            <a:r>
              <a:t>C. (4, 6)</a:t>
            </a:r>
          </a:p>
          <a:p xmlns:a="http://schemas.openxmlformats.org/drawingml/2006/main">
            <a:r>
              <a:t>D. (−4, −6)</a:t>
            </a:r>
          </a:p>
          <a:p xmlns:a="http://schemas.openxmlformats.org/drawingml/2006/main">
            <a:r>
              <a:t/>
            </a:r>
          </a:p>
          <a:p xmlns:a="http://schemas.openxmlformats.org/drawingml/2006/main">
            <a:r>
              <a:t>Answer: C. (4, 6)</a:t>
            </a:r>
          </a:p>
          <a:p xmlns:a="http://schemas.openxmlformats.org/drawingml/2006/main">
            <a:r>
              <a:t>Differentiate with respect to each coordinate. The negative gradient points locally downhill; the gradient itself points toward fastest local increase under Euclidean geometry.</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22: Chain rule</a:t>
            </a:r>
          </a:p>
          <a:p xmlns:a="http://schemas.openxmlformats.org/drawingml/2006/main">
            <a:r>
              <a:t/>
            </a:r>
          </a:p>
          <a:p xmlns:a="http://schemas.openxmlformats.org/drawingml/2006/main">
            <a:r>
              <a:t>Understanding check</a:t>
            </a:r>
          </a:p>
          <a:p xmlns:a="http://schemas.openxmlformats.org/drawingml/2006/main">
            <a:r>
              <a:t>For y = (3x)², what is dy/dx at x = 2?</a:t>
            </a:r>
          </a:p>
          <a:p xmlns:a="http://schemas.openxmlformats.org/drawingml/2006/main">
            <a:r>
              <a:t>A. 12</a:t>
            </a:r>
          </a:p>
          <a:p xmlns:a="http://schemas.openxmlformats.org/drawingml/2006/main">
            <a:r>
              <a:t>B. 6</a:t>
            </a:r>
          </a:p>
          <a:p xmlns:a="http://schemas.openxmlformats.org/drawingml/2006/main">
            <a:r>
              <a:t>C. 36</a:t>
            </a:r>
          </a:p>
          <a:p xmlns:a="http://schemas.openxmlformats.org/drawingml/2006/main">
            <a:r>
              <a:t>D. 18</a:t>
            </a:r>
          </a:p>
          <a:p xmlns:a="http://schemas.openxmlformats.org/drawingml/2006/main">
            <a:r>
              <a:t/>
            </a:r>
          </a:p>
          <a:p xmlns:a="http://schemas.openxmlformats.org/drawingml/2006/main">
            <a:r>
              <a:t>Answer: C. 36</a:t>
            </a:r>
          </a:p>
          <a:p xmlns:a="http://schemas.openxmlformats.org/drawingml/2006/main">
            <a:r>
              <a:t>Let u = 3x. Then dy/dx = 2u × 3 = 18x = 36. Forgetting the inner derivative loses a factor of 3.</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23: Optimization</a:t>
            </a:r>
          </a:p>
          <a:p xmlns:a="http://schemas.openxmlformats.org/drawingml/2006/main">
            <a:r>
              <a:t/>
            </a:r>
          </a:p>
          <a:p xmlns:a="http://schemas.openxmlformats.org/drawingml/2006/main">
            <a:r>
              <a:t>Understanding check</a:t>
            </a:r>
          </a:p>
          <a:p xmlns:a="http://schemas.openxmlformats.org/drawingml/2006/main">
            <a:r>
              <a:t>Minimize (x − 5)² subject to 0 ≤ x ≤ 3. Which x wins?</a:t>
            </a:r>
          </a:p>
          <a:p xmlns:a="http://schemas.openxmlformats.org/drawingml/2006/main">
            <a:r>
              <a:t>A. 5</a:t>
            </a:r>
          </a:p>
          <a:p xmlns:a="http://schemas.openxmlformats.org/drawingml/2006/main">
            <a:r>
              <a:t>B. 2</a:t>
            </a:r>
          </a:p>
          <a:p xmlns:a="http://schemas.openxmlformats.org/drawingml/2006/main">
            <a:r>
              <a:t>C. 0</a:t>
            </a:r>
          </a:p>
          <a:p xmlns:a="http://schemas.openxmlformats.org/drawingml/2006/main">
            <a:r>
              <a:t>D. 3</a:t>
            </a:r>
          </a:p>
          <a:p xmlns:a="http://schemas.openxmlformats.org/drawingml/2006/main">
            <a:r>
              <a:t/>
            </a:r>
          </a:p>
          <a:p xmlns:a="http://schemas.openxmlformats.org/drawingml/2006/main">
            <a:r>
              <a:t>Answer: D. 3</a:t>
            </a:r>
          </a:p>
          <a:p xmlns:a="http://schemas.openxmlformats.org/drawingml/2006/main">
            <a:r>
              <a:t>The unconstrained minimum is 5, but it is not allowed. Among allowed inputs, 3 is closest to 5. The optimum input differs from its objective value.</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24: Gradient descent</a:t>
            </a:r>
          </a:p>
          <a:p xmlns:a="http://schemas.openxmlformats.org/drawingml/2006/main">
            <a:r>
              <a:t/>
            </a:r>
          </a:p>
          <a:p xmlns:a="http://schemas.openxmlformats.org/drawingml/2006/main">
            <a:r>
              <a:t>Understanding check</a:t>
            </a:r>
          </a:p>
          <a:p xmlns:a="http://schemas.openxmlformats.org/drawingml/2006/main">
            <a:r>
              <a:t>For θ = 4, gradient 6, and learning rate 0.1, what is the next θ?</a:t>
            </a:r>
          </a:p>
          <a:p xmlns:a="http://schemas.openxmlformats.org/drawingml/2006/main">
            <a:r>
              <a:t>A. 0.6</a:t>
            </a:r>
          </a:p>
          <a:p xmlns:a="http://schemas.openxmlformats.org/drawingml/2006/main">
            <a:r>
              <a:t>B. 4.6</a:t>
            </a:r>
          </a:p>
          <a:p xmlns:a="http://schemas.openxmlformats.org/drawingml/2006/main">
            <a:r>
              <a:t>C. 3.4</a:t>
            </a:r>
          </a:p>
          <a:p xmlns:a="http://schemas.openxmlformats.org/drawingml/2006/main">
            <a:r>
              <a:t>D. −2</a:t>
            </a:r>
          </a:p>
          <a:p xmlns:a="http://schemas.openxmlformats.org/drawingml/2006/main">
            <a:r>
              <a:t/>
            </a:r>
          </a:p>
          <a:p xmlns:a="http://schemas.openxmlformats.org/drawingml/2006/main">
            <a:r>
              <a:t>Answer: C. 3.4</a:t>
            </a:r>
          </a:p>
          <a:p xmlns:a="http://schemas.openxmlformats.org/drawingml/2006/main">
            <a:r>
              <a:t>Subtract 0.1 × 6 from 4. Large steps can increase the loss, and nonconvex objectives need not lead to a global minimum.</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25: Dataset and features</a:t>
            </a:r>
          </a:p>
          <a:p xmlns:a="http://schemas.openxmlformats.org/drawingml/2006/main">
            <a:r>
              <a:t/>
            </a:r>
          </a:p>
          <a:p xmlns:a="http://schemas.openxmlformats.org/drawingml/2006/main">
            <a:r>
              <a:t>Understanding check</a:t>
            </a:r>
          </a:p>
          <a:p xmlns:a="http://schemas.openxmlformats.org/drawingml/2006/main">
            <a:r>
              <a:t>There are 20 samples and 4 features per sample. Shape of X?</a:t>
            </a:r>
          </a:p>
          <a:p xmlns:a="http://schemas.openxmlformats.org/drawingml/2006/main">
            <a:r>
              <a:t>A. 20 × 4</a:t>
            </a:r>
          </a:p>
          <a:p xmlns:a="http://schemas.openxmlformats.org/drawingml/2006/main">
            <a:r>
              <a:t>B. 4 × 4</a:t>
            </a:r>
          </a:p>
          <a:p xmlns:a="http://schemas.openxmlformats.org/drawingml/2006/main">
            <a:r>
              <a:t>C. 80 × 1 only</a:t>
            </a:r>
          </a:p>
          <a:p xmlns:a="http://schemas.openxmlformats.org/drawingml/2006/main">
            <a:r>
              <a:t>D. 20 × 20</a:t>
            </a:r>
          </a:p>
          <a:p xmlns:a="http://schemas.openxmlformats.org/drawingml/2006/main">
            <a:r>
              <a:t/>
            </a:r>
          </a:p>
          <a:p xmlns:a="http://schemas.openxmlformats.org/drawingml/2006/main">
            <a:r>
              <a:t>Answer: A. 20 × 4</a:t>
            </a:r>
          </a:p>
          <a:p xmlns:a="http://schemas.openxmlformats.org/drawingml/2006/main">
            <a:r>
              <a:t>By the row-per-sample convention, X has 20 rows and 4 columns. A measured target must not accidentally be included as an input feature.</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26: Linear regression</a:t>
            </a:r>
          </a:p>
          <a:p xmlns:a="http://schemas.openxmlformats.org/drawingml/2006/main">
            <a:r>
              <a:t/>
            </a:r>
          </a:p>
          <a:p xmlns:a="http://schemas.openxmlformats.org/drawingml/2006/main">
            <a:r>
              <a:t>Understanding check</a:t>
            </a:r>
          </a:p>
          <a:p xmlns:a="http://schemas.openxmlformats.org/drawingml/2006/main">
            <a:r>
              <a:t>For ŷ = 2x + 3, what is predicted at x = 5?</a:t>
            </a:r>
          </a:p>
          <a:p xmlns:a="http://schemas.openxmlformats.org/drawingml/2006/main">
            <a:r>
              <a:t>A. 10</a:t>
            </a:r>
          </a:p>
          <a:p xmlns:a="http://schemas.openxmlformats.org/drawingml/2006/main">
            <a:r>
              <a:t>B. 13</a:t>
            </a:r>
          </a:p>
          <a:p xmlns:a="http://schemas.openxmlformats.org/drawingml/2006/main">
            <a:r>
              <a:t>C. 25</a:t>
            </a:r>
          </a:p>
          <a:p xmlns:a="http://schemas.openxmlformats.org/drawingml/2006/main">
            <a:r>
              <a:t>D. 8</a:t>
            </a:r>
          </a:p>
          <a:p xmlns:a="http://schemas.openxmlformats.org/drawingml/2006/main">
            <a:r>
              <a:t/>
            </a:r>
          </a:p>
          <a:p xmlns:a="http://schemas.openxmlformats.org/drawingml/2006/main">
            <a:r>
              <a:t>Answer: B. 13</a:t>
            </a:r>
          </a:p>
          <a:p xmlns:a="http://schemas.openxmlformats.org/drawingml/2006/main">
            <a:r>
              <a:t>Multiply 5 by 2 and add the intercept 3. Regression predicts quantities; a classifier predicts categories or their probabilities.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27: Mean squared error</a:t>
            </a:r>
          </a:p>
          <a:p xmlns:a="http://schemas.openxmlformats.org/drawingml/2006/main">
            <a:r>
              <a:t/>
            </a:r>
          </a:p>
          <a:p xmlns:a="http://schemas.openxmlformats.org/drawingml/2006/main">
            <a:r>
              <a:t>Understanding check</a:t>
            </a:r>
          </a:p>
          <a:p xmlns:a="http://schemas.openxmlformats.org/drawingml/2006/main">
            <a:r>
              <a:t>Errors are 1 and 3. What is their MSE?</a:t>
            </a:r>
          </a:p>
          <a:p xmlns:a="http://schemas.openxmlformats.org/drawingml/2006/main">
            <a:r>
              <a:t>A. 5</a:t>
            </a:r>
          </a:p>
          <a:p xmlns:a="http://schemas.openxmlformats.org/drawingml/2006/main">
            <a:r>
              <a:t>B. 4</a:t>
            </a:r>
          </a:p>
          <a:p xmlns:a="http://schemas.openxmlformats.org/drawingml/2006/main">
            <a:r>
              <a:t>C. 10</a:t>
            </a:r>
          </a:p>
          <a:p xmlns:a="http://schemas.openxmlformats.org/drawingml/2006/main">
            <a:r>
              <a:t>D. 2</a:t>
            </a:r>
          </a:p>
          <a:p xmlns:a="http://schemas.openxmlformats.org/drawingml/2006/main">
            <a:r>
              <a:t/>
            </a:r>
          </a:p>
          <a:p xmlns:a="http://schemas.openxmlformats.org/drawingml/2006/main">
            <a:r>
              <a:t>Answer: A. 5</a:t>
            </a:r>
          </a:p>
          <a:p xmlns:a="http://schemas.openxmlformats.org/drawingml/2006/main">
            <a:r>
              <a:t>Square first: 1 and 9. Then average: 5. The loss has squared target units, so it is not directly an average absolute error.</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Mean squared error, PyTorch</a:t>
            </a:r>
          </a:p>
          <a:p xmlns:a="http://schemas.openxmlformats.org/drawingml/2006/main">
            <a:r>
              <a:t>https://docs.pytorch.org/docs/stable/generated/torch.nn.MSELoss.html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28: Supervised learning</a:t>
            </a:r>
          </a:p>
          <a:p xmlns:a="http://schemas.openxmlformats.org/drawingml/2006/main">
            <a:r>
              <a:t/>
            </a:r>
          </a:p>
          <a:p xmlns:a="http://schemas.openxmlformats.org/drawingml/2006/main">
            <a:r>
              <a:t>Understanding check</a:t>
            </a:r>
          </a:p>
          <a:p xmlns:a="http://schemas.openxmlformats.org/drawingml/2006/main">
            <a:r>
              <a:t>Which task is supervised learning?</a:t>
            </a:r>
          </a:p>
          <a:p xmlns:a="http://schemas.openxmlformats.org/drawingml/2006/main">
            <a:r>
              <a:t>A. Learn rock type from logs paired with rock labels</a:t>
            </a:r>
          </a:p>
          <a:p xmlns:a="http://schemas.openxmlformats.org/drawingml/2006/main">
            <a:r>
              <a:t>B. Choose actions using only rewards</a:t>
            </a:r>
          </a:p>
          <a:p xmlns:a="http://schemas.openxmlformats.org/drawingml/2006/main">
            <a:r>
              <a:t>C. Store a file unchanged</a:t>
            </a:r>
          </a:p>
          <a:p xmlns:a="http://schemas.openxmlformats.org/drawingml/2006/main">
            <a:r>
              <a:t>D. Compress logs without rock labels</a:t>
            </a:r>
          </a:p>
          <a:p xmlns:a="http://schemas.openxmlformats.org/drawingml/2006/main">
            <a:r>
              <a:t/>
            </a:r>
          </a:p>
          <a:p xmlns:a="http://schemas.openxmlformats.org/drawingml/2006/main">
            <a:r>
              <a:t>Answer: A. Learn rock type from logs paired with rock labels</a:t>
            </a:r>
          </a:p>
          <a:p xmlns:a="http://schemas.openxmlformats.org/drawingml/2006/main">
            <a:r>
              <a:t>Supervision supplies target answers for inputs. Those targets may be numeric or categorical. The learned rule still needs evaluation on unseen examples.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29: Parameter and hyperparameter</a:t>
            </a:r>
          </a:p>
          <a:p xmlns:a="http://schemas.openxmlformats.org/drawingml/2006/main">
            <a:r>
              <a:t/>
            </a:r>
          </a:p>
          <a:p xmlns:a="http://schemas.openxmlformats.org/drawingml/2006/main">
            <a:r>
              <a:t>Understanding check</a:t>
            </a:r>
          </a:p>
          <a:p xmlns:a="http://schemas.openxmlformats.org/drawingml/2006/main">
            <a:r>
              <a:t>Which is normally a hyperparameter in gradient descent?</a:t>
            </a:r>
          </a:p>
          <a:p xmlns:a="http://schemas.openxmlformats.org/drawingml/2006/main">
            <a:r>
              <a:t>A. Fitted regression weight</a:t>
            </a:r>
          </a:p>
          <a:p xmlns:a="http://schemas.openxmlformats.org/drawingml/2006/main">
            <a:r>
              <a:t>B. A learned neuron weight</a:t>
            </a:r>
          </a:p>
          <a:p xmlns:a="http://schemas.openxmlformats.org/drawingml/2006/main">
            <a:r>
              <a:t>C. Fitted intercept</a:t>
            </a:r>
          </a:p>
          <a:p xmlns:a="http://schemas.openxmlformats.org/drawingml/2006/main">
            <a:r>
              <a:t>D. Learning rate</a:t>
            </a:r>
          </a:p>
          <a:p xmlns:a="http://schemas.openxmlformats.org/drawingml/2006/main">
            <a:r>
              <a:t/>
            </a:r>
          </a:p>
          <a:p xmlns:a="http://schemas.openxmlformats.org/drawingml/2006/main">
            <a:r>
              <a:t>Answer: D. Learning rate</a:t>
            </a:r>
          </a:p>
          <a:p xmlns:a="http://schemas.openxmlformats.org/drawingml/2006/main">
            <a:r>
              <a:t>Weights and biases are fitted by training. Learning rate and batch size usually configure that training. Other optimization procedures can themselves tune hyperparameters.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30: Training, validation and test</a:t>
            </a:r>
          </a:p>
          <a:p xmlns:a="http://schemas.openxmlformats.org/drawingml/2006/main">
            <a:r>
              <a:t/>
            </a:r>
          </a:p>
          <a:p xmlns:a="http://schemas.openxmlformats.org/drawingml/2006/main">
            <a:r>
              <a:t>Understanding check</a:t>
            </a:r>
          </a:p>
          <a:p xmlns:a="http://schemas.openxmlformats.org/drawingml/2006/main">
            <a:r>
              <a:t>Which set should choose the learning rate?</a:t>
            </a:r>
          </a:p>
          <a:p xmlns:a="http://schemas.openxmlformats.org/drawingml/2006/main">
            <a:r>
              <a:t>A. Validation set</a:t>
            </a:r>
          </a:p>
          <a:p xmlns:a="http://schemas.openxmlformats.org/drawingml/2006/main">
            <a:r>
              <a:t>B. Final test set repeatedly</a:t>
            </a:r>
          </a:p>
          <a:p xmlns:a="http://schemas.openxmlformats.org/drawingml/2006/main">
            <a:r>
              <a:t>C. The alphabetic first well only</a:t>
            </a:r>
          </a:p>
          <a:p xmlns:a="http://schemas.openxmlformats.org/drawingml/2006/main">
            <a:r>
              <a:t>D. All data including the final test</a:t>
            </a:r>
          </a:p>
          <a:p xmlns:a="http://schemas.openxmlformats.org/drawingml/2006/main">
            <a:r>
              <a:t/>
            </a:r>
          </a:p>
          <a:p xmlns:a="http://schemas.openxmlformats.org/drawingml/2006/main">
            <a:r>
              <a:t>Answer: A. Validation set</a:t>
            </a:r>
          </a:p>
          <a:p xmlns:a="http://schemas.openxmlformats.org/drawingml/2006/main">
            <a:r>
              <a:t>Use validation performance to choose settings. Reusing the final test to tune the model makes it part of the development process.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31: Data leakage</a:t>
            </a:r>
          </a:p>
          <a:p xmlns:a="http://schemas.openxmlformats.org/drawingml/2006/main">
            <a:r>
              <a:t/>
            </a:r>
          </a:p>
          <a:p xmlns:a="http://schemas.openxmlformats.org/drawingml/2006/main">
            <a:r>
              <a:t>Understanding check</a:t>
            </a:r>
          </a:p>
          <a:p xmlns:a="http://schemas.openxmlformats.org/drawingml/2006/main">
            <a:r>
              <a:t>To measure generalization to unseen wells, how should you split data?</a:t>
            </a:r>
          </a:p>
          <a:p xmlns:a="http://schemas.openxmlformats.org/drawingml/2006/main">
            <a:r>
              <a:t>A. Randomly split overlapping windows</a:t>
            </a:r>
          </a:p>
          <a:p xmlns:a="http://schemas.openxmlformats.org/drawingml/2006/main">
            <a:r>
              <a:t>B. Keep each well entirely in one split</a:t>
            </a:r>
          </a:p>
          <a:p xmlns:a="http://schemas.openxmlformats.org/drawingml/2006/main">
            <a:r>
              <a:t>C. Put duplicate rows in every split</a:t>
            </a:r>
          </a:p>
          <a:p xmlns:a="http://schemas.openxmlformats.org/drawingml/2006/main">
            <a:r>
              <a:t>D. Normalize using all test values first</a:t>
            </a:r>
          </a:p>
          <a:p xmlns:a="http://schemas.openxmlformats.org/drawingml/2006/main">
            <a:r>
              <a:t/>
            </a:r>
          </a:p>
          <a:p xmlns:a="http://schemas.openxmlformats.org/drawingml/2006/main">
            <a:r>
              <a:t>Answer: B. Keep each well entirely in one split</a:t>
            </a:r>
          </a:p>
          <a:p xmlns:a="http://schemas.openxmlformats.org/drawingml/2006/main">
            <a:r>
              <a:t>Nearby measurements and overlapping windows are strongly related. Split at the deployment-relevant group before creating windows and fitting preprocessing.</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32: Normalization</a:t>
            </a:r>
          </a:p>
          <a:p xmlns:a="http://schemas.openxmlformats.org/drawingml/2006/main">
            <a:r>
              <a:t/>
            </a:r>
          </a:p>
          <a:p xmlns:a="http://schemas.openxmlformats.org/drawingml/2006/main">
            <a:r>
              <a:t>Understanding check</a:t>
            </a:r>
          </a:p>
          <a:p xmlns:a="http://schemas.openxmlformats.org/drawingml/2006/main">
            <a:r>
              <a:t>With training mean 10 and standard deviation 2, what does 14 become?</a:t>
            </a:r>
          </a:p>
          <a:p xmlns:a="http://schemas.openxmlformats.org/drawingml/2006/main">
            <a:r>
              <a:t>A. 2</a:t>
            </a:r>
          </a:p>
          <a:p xmlns:a="http://schemas.openxmlformats.org/drawingml/2006/main">
            <a:r>
              <a:t>B. 12</a:t>
            </a:r>
          </a:p>
          <a:p xmlns:a="http://schemas.openxmlformats.org/drawingml/2006/main">
            <a:r>
              <a:t>C. 7</a:t>
            </a:r>
          </a:p>
          <a:p xmlns:a="http://schemas.openxmlformats.org/drawingml/2006/main">
            <a:r>
              <a:t>D. 4</a:t>
            </a:r>
          </a:p>
          <a:p xmlns:a="http://schemas.openxmlformats.org/drawingml/2006/main">
            <a:r>
              <a:t/>
            </a:r>
          </a:p>
          <a:p xmlns:a="http://schemas.openxmlformats.org/drawingml/2006/main">
            <a:r>
              <a:t>Answer: A. 2</a:t>
            </a:r>
          </a:p>
          <a:p xmlns:a="http://schemas.openxmlformats.org/drawingml/2006/main">
            <a:r>
              <a:t>Compute (14 − 10)/2 = 2. Fit the mean and scale using training data only, reuse them later, and handle constant features separately.</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33: Artificial neuron</a:t>
            </a:r>
          </a:p>
          <a:p xmlns:a="http://schemas.openxmlformats.org/drawingml/2006/main">
            <a:r>
              <a:t/>
            </a:r>
          </a:p>
          <a:p xmlns:a="http://schemas.openxmlformats.org/drawingml/2006/main">
            <a:r>
              <a:t>Understanding check</a:t>
            </a:r>
          </a:p>
          <a:p xmlns:a="http://schemas.openxmlformats.org/drawingml/2006/main">
            <a:r>
              <a:t>Before activation, what is 2 × 3 + (−1) × 4 + 1?</a:t>
            </a:r>
          </a:p>
          <a:p xmlns:a="http://schemas.openxmlformats.org/drawingml/2006/main">
            <a:r>
              <a:t>A. 3</a:t>
            </a:r>
          </a:p>
          <a:p xmlns:a="http://schemas.openxmlformats.org/drawingml/2006/main">
            <a:r>
              <a:t>B. −3</a:t>
            </a:r>
          </a:p>
          <a:p xmlns:a="http://schemas.openxmlformats.org/drawingml/2006/main">
            <a:r>
              <a:t>C. 1</a:t>
            </a:r>
          </a:p>
          <a:p xmlns:a="http://schemas.openxmlformats.org/drawingml/2006/main">
            <a:r>
              <a:t>D. 11</a:t>
            </a:r>
          </a:p>
          <a:p xmlns:a="http://schemas.openxmlformats.org/drawingml/2006/main">
            <a:r>
              <a:t/>
            </a:r>
          </a:p>
          <a:p xmlns:a="http://schemas.openxmlformats.org/drawingml/2006/main">
            <a:r>
              <a:t>Answer: A. 3</a:t>
            </a:r>
          </a:p>
          <a:p xmlns:a="http://schemas.openxmlformats.org/drawingml/2006/main">
            <a:r>
              <a:t>The sum is 6 − 4 + 1 = 3. “Neuron” is a computational abstraction, not a detailed biological model.</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34: Sigmoid</a:t>
            </a:r>
          </a:p>
          <a:p xmlns:a="http://schemas.openxmlformats.org/drawingml/2006/main">
            <a:r>
              <a:t/>
            </a:r>
          </a:p>
          <a:p xmlns:a="http://schemas.openxmlformats.org/drawingml/2006/main">
            <a:r>
              <a:t>Understanding check</a:t>
            </a:r>
          </a:p>
          <a:p xmlns:a="http://schemas.openxmlformats.org/drawingml/2006/main">
            <a:r>
              <a:t>What is σ(0)?</a:t>
            </a:r>
          </a:p>
          <a:p xmlns:a="http://schemas.openxmlformats.org/drawingml/2006/main">
            <a:r>
              <a:t>A. 0</a:t>
            </a:r>
          </a:p>
          <a:p xmlns:a="http://schemas.openxmlformats.org/drawingml/2006/main">
            <a:r>
              <a:t>B. Undefined</a:t>
            </a:r>
          </a:p>
          <a:p xmlns:a="http://schemas.openxmlformats.org/drawingml/2006/main">
            <a:r>
              <a:t>C. 0.5</a:t>
            </a:r>
          </a:p>
          <a:p xmlns:a="http://schemas.openxmlformats.org/drawingml/2006/main">
            <a:r>
              <a:t>D. 1</a:t>
            </a:r>
          </a:p>
          <a:p xmlns:a="http://schemas.openxmlformats.org/drawingml/2006/main">
            <a:r>
              <a:t/>
            </a:r>
          </a:p>
          <a:p xmlns:a="http://schemas.openxmlformats.org/drawingml/2006/main">
            <a:r>
              <a:t>Answer: C. 0.5</a:t>
            </a:r>
          </a:p>
          <a:p xmlns:a="http://schemas.openxmlformats.org/drawingml/2006/main">
            <a:r>
              <a:t>Since e⁰ = 1, the output is 1/(1 + 1). A sigmoid output can model a binary probability, but training and calibration determine how reliable it is.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35: ReLU</a:t>
            </a:r>
          </a:p>
          <a:p xmlns:a="http://schemas.openxmlformats.org/drawingml/2006/main">
            <a:r>
              <a:t/>
            </a:r>
          </a:p>
          <a:p xmlns:a="http://schemas.openxmlformats.org/drawingml/2006/main">
            <a:r>
              <a:t>Understanding check</a:t>
            </a:r>
          </a:p>
          <a:p xmlns:a="http://schemas.openxmlformats.org/drawingml/2006/main">
            <a:r>
              <a:t>What is ReLU(−2) + ReLU(3)?</a:t>
            </a:r>
          </a:p>
          <a:p xmlns:a="http://schemas.openxmlformats.org/drawingml/2006/main">
            <a:r>
              <a:t>A. 3</a:t>
            </a:r>
          </a:p>
          <a:p xmlns:a="http://schemas.openxmlformats.org/drawingml/2006/main">
            <a:r>
              <a:t>B. 0</a:t>
            </a:r>
          </a:p>
          <a:p xmlns:a="http://schemas.openxmlformats.org/drawingml/2006/main">
            <a:r>
              <a:t>C. 1</a:t>
            </a:r>
          </a:p>
          <a:p xmlns:a="http://schemas.openxmlformats.org/drawingml/2006/main">
            <a:r>
              <a:t>D. 5</a:t>
            </a:r>
          </a:p>
          <a:p xmlns:a="http://schemas.openxmlformats.org/drawingml/2006/main">
            <a:r>
              <a:t/>
            </a:r>
          </a:p>
          <a:p xmlns:a="http://schemas.openxmlformats.org/drawingml/2006/main">
            <a:r>
              <a:t>Answer: A. 3</a:t>
            </a:r>
          </a:p>
          <a:p xmlns:a="http://schemas.openxmlformats.org/drawingml/2006/main">
            <a:r>
              <a:t>The two outputs are 0 and 3. At zero the ordinary derivative is undefined; software chooses a convention, often zero.</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36: Forward pass</a:t>
            </a:r>
          </a:p>
          <a:p xmlns:a="http://schemas.openxmlformats.org/drawingml/2006/main">
            <a:r>
              <a:t/>
            </a:r>
          </a:p>
          <a:p xmlns:a="http://schemas.openxmlformats.org/drawingml/2006/main">
            <a:r>
              <a:t>Understanding check</a:t>
            </a:r>
          </a:p>
          <a:p xmlns:a="http://schemas.openxmlformats.org/drawingml/2006/main">
            <a:r>
              <a:t>During an ordinary forward pass, what happens to the weights?</a:t>
            </a:r>
          </a:p>
          <a:p xmlns:a="http://schemas.openxmlformats.org/drawingml/2006/main">
            <a:r>
              <a:t>A. They are replaced by the targets</a:t>
            </a:r>
          </a:p>
          <a:p xmlns:a="http://schemas.openxmlformats.org/drawingml/2006/main">
            <a:r>
              <a:t>B. They are differentiated and updated automatically</a:t>
            </a:r>
          </a:p>
          <a:p xmlns:a="http://schemas.openxmlformats.org/drawingml/2006/main">
            <a:r>
              <a:t>C. They all become zero</a:t>
            </a:r>
          </a:p>
          <a:p xmlns:a="http://schemas.openxmlformats.org/drawingml/2006/main">
            <a:r>
              <a:t>D. They stay fixed while outputs are calculated</a:t>
            </a:r>
          </a:p>
          <a:p xmlns:a="http://schemas.openxmlformats.org/drawingml/2006/main">
            <a:r>
              <a:t/>
            </a:r>
          </a:p>
          <a:p xmlns:a="http://schemas.openxmlformats.org/drawingml/2006/main">
            <a:r>
              <a:t>Answer: D. They stay fixed while outputs are calculated</a:t>
            </a:r>
          </a:p>
          <a:p xmlns:a="http://schemas.openxmlformats.org/drawingml/2006/main">
            <a:r>
              <a:t>Forward computation produces predictions and intermediate values. Training also needs a loss, a backward pass, and an optimizer update.</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37: Backpropagation</a:t>
            </a:r>
          </a:p>
          <a:p xmlns:a="http://schemas.openxmlformats.org/drawingml/2006/main">
            <a:r>
              <a:t/>
            </a:r>
          </a:p>
          <a:p xmlns:a="http://schemas.openxmlformats.org/drawingml/2006/main">
            <a:r>
              <a:t>Understanding check</a:t>
            </a:r>
          </a:p>
          <a:p xmlns:a="http://schemas.openxmlformats.org/drawingml/2006/main">
            <a:r>
              <a:t>In this example, does the negative weight gradient suggest increasing or decreasing w?</a:t>
            </a:r>
          </a:p>
          <a:p xmlns:a="http://schemas.openxmlformats.org/drawingml/2006/main">
            <a:r>
              <a:t>A. Setting w equal to the gradient</a:t>
            </a:r>
          </a:p>
          <a:p xmlns:a="http://schemas.openxmlformats.org/drawingml/2006/main">
            <a:r>
              <a:t>B. Backpropagation already changed w</a:t>
            </a:r>
          </a:p>
          <a:p xmlns:a="http://schemas.openxmlformats.org/drawingml/2006/main">
            <a:r>
              <a:t>C. Decreasing w to reduce loss locally</a:t>
            </a:r>
          </a:p>
          <a:p xmlns:a="http://schemas.openxmlformats.org/drawingml/2006/main">
            <a:r>
              <a:t>D. Increasing w to reduce loss locally</a:t>
            </a:r>
          </a:p>
          <a:p xmlns:a="http://schemas.openxmlformats.org/drawingml/2006/main">
            <a:r>
              <a:t/>
            </a:r>
          </a:p>
          <a:p xmlns:a="http://schemas.openxmlformats.org/drawingml/2006/main">
            <a:r>
              <a:t>Answer: D. Increasing w to reduce loss locally</a:t>
            </a:r>
          </a:p>
          <a:p xmlns:a="http://schemas.openxmlformats.org/drawingml/2006/main">
            <a:r>
              <a:t>Gradient descent subtracts the negative gradient, so w increases for a positive step size. Backpropagation calculates derivatives; the optimizer performs the update.</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Automatic differentiation, PyTorch</a:t>
            </a:r>
          </a:p>
          <a:p xmlns:a="http://schemas.openxmlformats.org/drawingml/2006/main">
            <a:r>
              <a:t>https://docs.pytorch.org/tutorials/beginner/basics/autogradqs_tutorial.html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38: Mini-batch gradient descent</a:t>
            </a:r>
          </a:p>
          <a:p xmlns:a="http://schemas.openxmlformats.org/drawingml/2006/main">
            <a:r>
              <a:t/>
            </a:r>
          </a:p>
          <a:p xmlns:a="http://schemas.openxmlformats.org/drawingml/2006/main">
            <a:r>
              <a:t>Understanding check</a:t>
            </a:r>
          </a:p>
          <a:p xmlns:a="http://schemas.openxmlformats.org/drawingml/2006/main">
            <a:r>
              <a:t>Batch gradients are 2 and 6. What is their average?</a:t>
            </a:r>
          </a:p>
          <a:p xmlns:a="http://schemas.openxmlformats.org/drawingml/2006/main">
            <a:r>
              <a:t>A. 3</a:t>
            </a:r>
          </a:p>
          <a:p xmlns:a="http://schemas.openxmlformats.org/drawingml/2006/main">
            <a:r>
              <a:t>B. 12</a:t>
            </a:r>
          </a:p>
          <a:p xmlns:a="http://schemas.openxmlformats.org/drawingml/2006/main">
            <a:r>
              <a:t>C. 4</a:t>
            </a:r>
          </a:p>
          <a:p xmlns:a="http://schemas.openxmlformats.org/drawingml/2006/main">
            <a:r>
              <a:t>D. 8</a:t>
            </a:r>
          </a:p>
          <a:p xmlns:a="http://schemas.openxmlformats.org/drawingml/2006/main">
            <a:r>
              <a:t/>
            </a:r>
          </a:p>
          <a:p xmlns:a="http://schemas.openxmlformats.org/drawingml/2006/main">
            <a:r>
              <a:t>Answer: C. 4</a:t>
            </a:r>
          </a:p>
          <a:p xmlns:a="http://schemas.openxmlformats.org/drawingml/2006/main">
            <a:r>
              <a:t>Average the example gradients. Random mini-batches trade computation for sampling noise, which is why individual updates may not decrease the full training loss.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39: Epoch</a:t>
            </a:r>
          </a:p>
          <a:p xmlns:a="http://schemas.openxmlformats.org/drawingml/2006/main">
            <a:r>
              <a:t/>
            </a:r>
          </a:p>
          <a:p xmlns:a="http://schemas.openxmlformats.org/drawingml/2006/main">
            <a:r>
              <a:t>Understanding check</a:t>
            </a:r>
          </a:p>
          <a:p xmlns:a="http://schemas.openxmlformats.org/drawingml/2006/main">
            <a:r>
              <a:t>With 120 examples and batches of 30, how many steps in two epochs?</a:t>
            </a:r>
          </a:p>
          <a:p xmlns:a="http://schemas.openxmlformats.org/drawingml/2006/main">
            <a:r>
              <a:t>A. 240</a:t>
            </a:r>
          </a:p>
          <a:p xmlns:a="http://schemas.openxmlformats.org/drawingml/2006/main">
            <a:r>
              <a:t>B. 8</a:t>
            </a:r>
          </a:p>
          <a:p xmlns:a="http://schemas.openxmlformats.org/drawingml/2006/main">
            <a:r>
              <a:t>C. 4</a:t>
            </a:r>
          </a:p>
          <a:p xmlns:a="http://schemas.openxmlformats.org/drawingml/2006/main">
            <a:r>
              <a:t>D. 60</a:t>
            </a:r>
          </a:p>
          <a:p xmlns:a="http://schemas.openxmlformats.org/drawingml/2006/main">
            <a:r>
              <a:t/>
            </a:r>
          </a:p>
          <a:p xmlns:a="http://schemas.openxmlformats.org/drawingml/2006/main">
            <a:r>
              <a:t>Answer: B. 8</a:t>
            </a:r>
          </a:p>
          <a:p xmlns:a="http://schemas.openxmlformats.org/drawingml/2006/main">
            <a:r>
              <a:t>There are 4 steps per epoch and 8 in two epochs. The formula assumes the final partial batch is kept and no gradient accumulation is used.</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40: Deep neural network</a:t>
            </a:r>
          </a:p>
          <a:p xmlns:a="http://schemas.openxmlformats.org/drawingml/2006/main">
            <a:r>
              <a:t/>
            </a:r>
          </a:p>
          <a:p xmlns:a="http://schemas.openxmlformats.org/drawingml/2006/main">
            <a:r>
              <a:t>Understanding check</a:t>
            </a:r>
          </a:p>
          <a:p xmlns:a="http://schemas.openxmlformats.org/drawingml/2006/main">
            <a:r>
              <a:t>Why include nonlinear activations between linear layers?</a:t>
            </a:r>
          </a:p>
          <a:p xmlns:a="http://schemas.openxmlformats.org/drawingml/2006/main">
            <a:r>
              <a:t>A. Otherwise their composition remains linear</a:t>
            </a:r>
          </a:p>
          <a:p xmlns:a="http://schemas.openxmlformats.org/drawingml/2006/main">
            <a:r>
              <a:t>B. They make every weight positive</a:t>
            </a:r>
          </a:p>
          <a:p xmlns:a="http://schemas.openxmlformats.org/drawingml/2006/main">
            <a:r>
              <a:t>C. They guarantee correct answers</a:t>
            </a:r>
          </a:p>
          <a:p xmlns:a="http://schemas.openxmlformats.org/drawingml/2006/main">
            <a:r>
              <a:t>D. They remove all need for data</a:t>
            </a:r>
          </a:p>
          <a:p xmlns:a="http://schemas.openxmlformats.org/drawingml/2006/main">
            <a:r>
              <a:t/>
            </a:r>
          </a:p>
          <a:p xmlns:a="http://schemas.openxmlformats.org/drawingml/2006/main">
            <a:r>
              <a:t>Answer: A. Otherwise their composition remains linear</a:t>
            </a:r>
          </a:p>
          <a:p xmlns:a="http://schemas.openxmlformats.org/drawingml/2006/main">
            <a:r>
              <a:t>A stack of linear maps collapses to one linear map. Biases make it affine, still affine without nonlinearities. Depth alone does not guarantee useful learning.</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41: Overfitting</a:t>
            </a:r>
          </a:p>
          <a:p xmlns:a="http://schemas.openxmlformats.org/drawingml/2006/main">
            <a:r>
              <a:t/>
            </a:r>
          </a:p>
          <a:p xmlns:a="http://schemas.openxmlformats.org/drawingml/2006/main">
            <a:r>
              <a:t>Understanding check</a:t>
            </a:r>
          </a:p>
          <a:p xmlns:a="http://schemas.openxmlformats.org/drawingml/2006/main">
            <a:r>
              <a:t>Training error falls while validation error steadily rises. What is the likely issue?</a:t>
            </a:r>
          </a:p>
          <a:p xmlns:a="http://schemas.openxmlformats.org/drawingml/2006/main">
            <a:r>
              <a:t>A. Overfitting</a:t>
            </a:r>
          </a:p>
          <a:p xmlns:a="http://schemas.openxmlformats.org/drawingml/2006/main">
            <a:r>
              <a:t>B. The model is necessarily too small</a:t>
            </a:r>
          </a:p>
          <a:p xmlns:a="http://schemas.openxmlformats.org/drawingml/2006/main">
            <a:r>
              <a:t>C. Guaranteed improvement on new data</a:t>
            </a:r>
          </a:p>
          <a:p xmlns:a="http://schemas.openxmlformats.org/drawingml/2006/main">
            <a:r>
              <a:t>D. Validation is no longer needed</a:t>
            </a:r>
          </a:p>
          <a:p xmlns:a="http://schemas.openxmlformats.org/drawingml/2006/main">
            <a:r>
              <a:t/>
            </a:r>
          </a:p>
          <a:p xmlns:a="http://schemas.openxmlformats.org/drawingml/2006/main">
            <a:r>
              <a:t>Answer: A. Overfitting</a:t>
            </a:r>
          </a:p>
          <a:p xmlns:a="http://schemas.openxmlformats.org/drawingml/2006/main">
            <a:r>
              <a:t>The model may be fitting details that do not transfer. More representative data, regularization, or early stopping may help; first rule out a data mismatch.</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42: Regularization</a:t>
            </a:r>
          </a:p>
          <a:p xmlns:a="http://schemas.openxmlformats.org/drawingml/2006/main">
            <a:r>
              <a:t/>
            </a:r>
          </a:p>
          <a:p xmlns:a="http://schemas.openxmlformats.org/drawingml/2006/main">
            <a:r>
              <a:t>Understanding check</a:t>
            </a:r>
          </a:p>
          <a:p xmlns:a="http://schemas.openxmlformats.org/drawingml/2006/main">
            <a:r>
              <a:t>Increasing λ in L2 regularization directly increases what?</a:t>
            </a:r>
          </a:p>
          <a:p xmlns:a="http://schemas.openxmlformats.org/drawingml/2006/main">
            <a:r>
              <a:t>A. The penalty on large weights</a:t>
            </a:r>
          </a:p>
          <a:p xmlns:a="http://schemas.openxmlformats.org/drawingml/2006/main">
            <a:r>
              <a:t>B. The test-set accuracy by a guaranteed amount</a:t>
            </a:r>
          </a:p>
          <a:p xmlns:a="http://schemas.openxmlformats.org/drawingml/2006/main">
            <a:r>
              <a:t>C. The number of labels</a:t>
            </a:r>
          </a:p>
          <a:p xmlns:a="http://schemas.openxmlformats.org/drawingml/2006/main">
            <a:r>
              <a:t>D. The dataset size</a:t>
            </a:r>
          </a:p>
          <a:p xmlns:a="http://schemas.openxmlformats.org/drawingml/2006/main">
            <a:r>
              <a:t/>
            </a:r>
          </a:p>
          <a:p xmlns:a="http://schemas.openxmlformats.org/drawingml/2006/main">
            <a:r>
              <a:t>Answer: A. The penalty on large weights</a:t>
            </a:r>
          </a:p>
          <a:p xmlns:a="http://schemas.openxmlformats.org/drawingml/2006/main">
            <a:r>
              <a:t>L2 adds a weight-size penalty. Too much regularization can underfit. It is a preference, not a guarantee of better predictions.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43: Softmax</a:t>
            </a:r>
          </a:p>
          <a:p xmlns:a="http://schemas.openxmlformats.org/drawingml/2006/main">
            <a:r>
              <a:t/>
            </a:r>
          </a:p>
          <a:p xmlns:a="http://schemas.openxmlformats.org/drawingml/2006/main">
            <a:r>
              <a:t>Understanding check</a:t>
            </a:r>
          </a:p>
          <a:p xmlns:a="http://schemas.openxmlformats.org/drawingml/2006/main">
            <a:r>
              <a:t>Equal logits (2, 2) produce which probabilities?</a:t>
            </a:r>
          </a:p>
          <a:p xmlns:a="http://schemas.openxmlformats.org/drawingml/2006/main">
            <a:r>
              <a:t>A. (0.5, 0.5)</a:t>
            </a:r>
          </a:p>
          <a:p xmlns:a="http://schemas.openxmlformats.org/drawingml/2006/main">
            <a:r>
              <a:t>B. (0, 1)</a:t>
            </a:r>
          </a:p>
          <a:p xmlns:a="http://schemas.openxmlformats.org/drawingml/2006/main">
            <a:r>
              <a:t>C. (0.25, 0.75)</a:t>
            </a:r>
          </a:p>
          <a:p xmlns:a="http://schemas.openxmlformats.org/drawingml/2006/main">
            <a:r>
              <a:t>D. (2, 2)</a:t>
            </a:r>
          </a:p>
          <a:p xmlns:a="http://schemas.openxmlformats.org/drawingml/2006/main">
            <a:r>
              <a:t/>
            </a:r>
          </a:p>
          <a:p xmlns:a="http://schemas.openxmlformats.org/drawingml/2006/main">
            <a:r>
              <a:t>Answer: A. (0.5, 0.5)</a:t>
            </a:r>
          </a:p>
          <a:p xmlns:a="http://schemas.openxmlformats.org/drawingml/2006/main">
            <a:r>
              <a:t>Equal exponentials get equal shares. Softmax creates normalized scores; it does not prove that the underlying model is well calibrated.</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44: Cross-entropy</a:t>
            </a:r>
          </a:p>
          <a:p xmlns:a="http://schemas.openxmlformats.org/drawingml/2006/main">
            <a:r>
              <a:t/>
            </a:r>
          </a:p>
          <a:p xmlns:a="http://schemas.openxmlformats.org/drawingml/2006/main">
            <a:r>
              <a:t>Understanding check</a:t>
            </a:r>
          </a:p>
          <a:p xmlns:a="http://schemas.openxmlformats.org/drawingml/2006/main">
            <a:r>
              <a:t>Which correct-class probability gives the smaller cross-entropy loss?</a:t>
            </a:r>
          </a:p>
          <a:p xmlns:a="http://schemas.openxmlformats.org/drawingml/2006/main">
            <a:r>
              <a:t>A. 0.9</a:t>
            </a:r>
          </a:p>
          <a:p xmlns:a="http://schemas.openxmlformats.org/drawingml/2006/main">
            <a:r>
              <a:t>B. 0.5</a:t>
            </a:r>
          </a:p>
          <a:p xmlns:a="http://schemas.openxmlformats.org/drawingml/2006/main">
            <a:r>
              <a:t>C. 0.1</a:t>
            </a:r>
          </a:p>
          <a:p xmlns:a="http://schemas.openxmlformats.org/drawingml/2006/main">
            <a:r>
              <a:t>D. 0.01</a:t>
            </a:r>
          </a:p>
          <a:p xmlns:a="http://schemas.openxmlformats.org/drawingml/2006/main">
            <a:r>
              <a:t/>
            </a:r>
          </a:p>
          <a:p xmlns:a="http://schemas.openxmlformats.org/drawingml/2006/main">
            <a:r>
              <a:t>Answer: A. 0.9</a:t>
            </a:r>
          </a:p>
          <a:p xmlns:a="http://schemas.openxmlformats.org/drawingml/2006/main">
            <a:r>
              <a:t>For a one-hot target, loss is −ln pcorrect. Higher probability for the true class reduces it. Confident mistakes are penalized heavily.</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45: Self-supervised learning</a:t>
            </a:r>
          </a:p>
          <a:p xmlns:a="http://schemas.openxmlformats.org/drawingml/2006/main">
            <a:r>
              <a:t/>
            </a:r>
          </a:p>
          <a:p xmlns:a="http://schemas.openxmlformats.org/drawingml/2006/main">
            <a:r>
              <a:t>Understanding check</a:t>
            </a:r>
          </a:p>
          <a:p xmlns:a="http://schemas.openxmlformats.org/drawingml/2006/main">
            <a:r>
              <a:t>Which task is self-supervised?</a:t>
            </a:r>
          </a:p>
          <a:p xmlns:a="http://schemas.openxmlformats.org/drawingml/2006/main">
            <a:r>
              <a:t>A. Ask an expert to label every sample</a:t>
            </a:r>
          </a:p>
          <a:p xmlns:a="http://schemas.openxmlformats.org/drawingml/2006/main">
            <a:r>
              <a:t>B. Hide a measured value and predict it from the remaining data</a:t>
            </a:r>
          </a:p>
          <a:p xmlns:a="http://schemas.openxmlformats.org/drawingml/2006/main">
            <a:r>
              <a:t>C. Choose actions using only rewards</a:t>
            </a:r>
          </a:p>
          <a:p xmlns:a="http://schemas.openxmlformats.org/drawingml/2006/main">
            <a:r>
              <a:t>D. Copy files without a learning objective</a:t>
            </a:r>
          </a:p>
          <a:p xmlns:a="http://schemas.openxmlformats.org/drawingml/2006/main">
            <a:r>
              <a:t/>
            </a:r>
          </a:p>
          <a:p xmlns:a="http://schemas.openxmlformats.org/drawingml/2006/main">
            <a:r>
              <a:t>Answer: B. Hide a measured value and predict it from the remaining data</a:t>
            </a:r>
          </a:p>
          <a:p xmlns:a="http://schemas.openxmlformats.org/drawingml/2006/main">
            <a:r>
              <a:t>The original data provide the answer to the constructed task. This is still prediction with a loss; it does not mean learning without any target signal.</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46: Embedding</a:t>
            </a:r>
          </a:p>
          <a:p xmlns:a="http://schemas.openxmlformats.org/drawingml/2006/main">
            <a:r>
              <a:t/>
            </a:r>
          </a:p>
          <a:p xmlns:a="http://schemas.openxmlformats.org/drawingml/2006/main">
            <a:r>
              <a:t>Understanding check</a:t>
            </a:r>
          </a:p>
          <a:p xmlns:a="http://schemas.openxmlformats.org/drawingml/2006/main">
            <a:r>
              <a:t>What is an embedding of a well-log window?</a:t>
            </a:r>
          </a:p>
          <a:p xmlns:a="http://schemas.openxmlformats.org/drawingml/2006/main">
            <a:r>
              <a:t>A. A vector representing that window</a:t>
            </a:r>
          </a:p>
          <a:p xmlns:a="http://schemas.openxmlformats.org/drawingml/2006/main">
            <a:r>
              <a:t>B. The original file's name only</a:t>
            </a:r>
          </a:p>
          <a:p xmlns:a="http://schemas.openxmlformats.org/drawingml/2006/main">
            <a:r>
              <a:t>C. Necessarily an English sentence</a:t>
            </a:r>
          </a:p>
          <a:p xmlns:a="http://schemas.openxmlformats.org/drawingml/2006/main">
            <a:r>
              <a:t>D. A guarantee of rock type</a:t>
            </a:r>
          </a:p>
          <a:p xmlns:a="http://schemas.openxmlformats.org/drawingml/2006/main">
            <a:r>
              <a:t/>
            </a:r>
          </a:p>
          <a:p xmlns:a="http://schemas.openxmlformats.org/drawingml/2006/main">
            <a:r>
              <a:t>Answer: A. A vector representing that window</a:t>
            </a:r>
          </a:p>
          <a:p xmlns:a="http://schemas.openxmlformats.org/drawingml/2006/main">
            <a:r>
              <a:t>Embeddings encode patterns useful under their training objective. Nearby vectors need not imply the same geology, and coordinates need not have individual human meanings.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47: Cosine similarity</a:t>
            </a:r>
          </a:p>
          <a:p xmlns:a="http://schemas.openxmlformats.org/drawingml/2006/main">
            <a:r>
              <a:t/>
            </a:r>
          </a:p>
          <a:p xmlns:a="http://schemas.openxmlformats.org/drawingml/2006/main">
            <a:r>
              <a:t>Understanding check</a:t>
            </a:r>
          </a:p>
          <a:p xmlns:a="http://schemas.openxmlformats.org/drawingml/2006/main">
            <a:r>
              <a:t>What is the cosine similarity of (1, 0) and (0, 1)?</a:t>
            </a:r>
          </a:p>
          <a:p xmlns:a="http://schemas.openxmlformats.org/drawingml/2006/main">
            <a:r>
              <a:t>A. 2</a:t>
            </a:r>
          </a:p>
          <a:p xmlns:a="http://schemas.openxmlformats.org/drawingml/2006/main">
            <a:r>
              <a:t>B. 0</a:t>
            </a:r>
          </a:p>
          <a:p xmlns:a="http://schemas.openxmlformats.org/drawingml/2006/main">
            <a:r>
              <a:t>C. −1</a:t>
            </a:r>
          </a:p>
          <a:p xmlns:a="http://schemas.openxmlformats.org/drawingml/2006/main">
            <a:r>
              <a:t>D. 1</a:t>
            </a:r>
          </a:p>
          <a:p xmlns:a="http://schemas.openxmlformats.org/drawingml/2006/main">
            <a:r>
              <a:t/>
            </a:r>
          </a:p>
          <a:p xmlns:a="http://schemas.openxmlformats.org/drawingml/2006/main">
            <a:r>
              <a:t>Answer: B. 0</a:t>
            </a:r>
          </a:p>
          <a:p xmlns:a="http://schemas.openxmlformats.org/drawingml/2006/main">
            <a:r>
              <a:t>Their dot product is zero, so their directions are perpendicular. Cosine ignores length and is undefined for a zero vector without a software convention.</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48: Principal component analysis</a:t>
            </a:r>
          </a:p>
          <a:p xmlns:a="http://schemas.openxmlformats.org/drawingml/2006/main">
            <a:r>
              <a:t/>
            </a:r>
          </a:p>
          <a:p xmlns:a="http://schemas.openxmlformats.org/drawingml/2006/main">
            <a:r>
              <a:t>Understanding check</a:t>
            </a:r>
          </a:p>
          <a:p xmlns:a="http://schemas.openxmlformats.org/drawingml/2006/main">
            <a:r>
              <a:t>What does the first principal component maximize?</a:t>
            </a:r>
          </a:p>
          <a:p xmlns:a="http://schemas.openxmlformats.org/drawingml/2006/main">
            <a:r>
              <a:t>A. Prediction accuracy on every task</a:t>
            </a:r>
          </a:p>
          <a:p xmlns:a="http://schemas.openxmlformats.org/drawingml/2006/main">
            <a:r>
              <a:t>B. Number of original features</a:t>
            </a:r>
          </a:p>
          <a:p xmlns:a="http://schemas.openxmlformats.org/drawingml/2006/main">
            <a:r>
              <a:t>C. Number of class labels</a:t>
            </a:r>
          </a:p>
          <a:p xmlns:a="http://schemas.openxmlformats.org/drawingml/2006/main">
            <a:r>
              <a:t>D. Projected variance of centered data</a:t>
            </a:r>
          </a:p>
          <a:p xmlns:a="http://schemas.openxmlformats.org/drawingml/2006/main">
            <a:r>
              <a:t/>
            </a:r>
          </a:p>
          <a:p xmlns:a="http://schemas.openxmlformats.org/drawingml/2006/main">
            <a:r>
              <a:t>Answer: D. Projected variance of centered data</a:t>
            </a:r>
          </a:p>
          <a:p xmlns:a="http://schemas.openxmlformats.org/drawingml/2006/main">
            <a:r>
              <a:t>PCA uses variance, not labels or task importance. A low-variance feature can still be crucial, so PCA is a baseline rather than a universal answer.</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49: Autoencoder</a:t>
            </a:r>
          </a:p>
          <a:p xmlns:a="http://schemas.openxmlformats.org/drawingml/2006/main">
            <a:r>
              <a:t/>
            </a:r>
          </a:p>
          <a:p xmlns:a="http://schemas.openxmlformats.org/drawingml/2006/main">
            <a:r>
              <a:t>Understanding check</a:t>
            </a:r>
          </a:p>
          <a:p xmlns:a="http://schemas.openxmlformats.org/drawingml/2006/main">
            <a:r>
              <a:t>What target does a basic autoencoder try to reconstruct?</a:t>
            </a:r>
          </a:p>
          <a:p xmlns:a="http://schemas.openxmlformats.org/drawingml/2006/main">
            <a:r>
              <a:t>A. Its input</a:t>
            </a:r>
          </a:p>
          <a:p xmlns:a="http://schemas.openxmlformats.org/drawingml/2006/main">
            <a:r>
              <a:t>B. A human preference score only</a:t>
            </a:r>
          </a:p>
          <a:p xmlns:a="http://schemas.openxmlformats.org/drawingml/2006/main">
            <a:r>
              <a:t>C. A randomly chosen class always</a:t>
            </a:r>
          </a:p>
          <a:p xmlns:a="http://schemas.openxmlformats.org/drawingml/2006/main">
            <a:r>
              <a:t>D. The training computer's name</a:t>
            </a:r>
          </a:p>
          <a:p xmlns:a="http://schemas.openxmlformats.org/drawingml/2006/main">
            <a:r>
              <a:t/>
            </a:r>
          </a:p>
          <a:p xmlns:a="http://schemas.openxmlformats.org/drawingml/2006/main">
            <a:r>
              <a:t>Answer: A. Its input</a:t>
            </a:r>
          </a:p>
          <a:p xmlns:a="http://schemas.openxmlformats.org/drawingml/2006/main">
            <a:r>
              <a:t>The input supplies the reconstruction target. This can reveal structure, but copying inputs accurately does not by itself create useful scientific concepts.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Deep Learning, chapter 14: Autoencoders</a:t>
            </a:r>
          </a:p>
          <a:p xmlns:a="http://schemas.openxmlformats.org/drawingml/2006/main">
            <a:r>
              <a:t>https://www.deeplearningbook.org/contents/autoencoders.html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50: Latent space and bottleneck</a:t>
            </a:r>
          </a:p>
          <a:p xmlns:a="http://schemas.openxmlformats.org/drawingml/2006/main">
            <a:r>
              <a:t/>
            </a:r>
          </a:p>
          <a:p xmlns:a="http://schemas.openxmlformats.org/drawingml/2006/main">
            <a:r>
              <a:t>Understanding check</a:t>
            </a:r>
          </a:p>
          <a:p xmlns:a="http://schemas.openxmlformats.org/drawingml/2006/main">
            <a:r>
              <a:t>Does compressing 512 values to 16 guarantee that useful geology is preserved?</a:t>
            </a:r>
          </a:p>
          <a:p xmlns:a="http://schemas.openxmlformats.org/drawingml/2006/main">
            <a:r>
              <a:t>A. No, preservation depends on the objective and evaluation</a:t>
            </a:r>
          </a:p>
          <a:p xmlns:a="http://schemas.openxmlformats.org/drawingml/2006/main">
            <a:r>
              <a:t>B. No information can ever be lost</a:t>
            </a:r>
          </a:p>
          <a:p xmlns:a="http://schemas.openxmlformats.org/drawingml/2006/main">
            <a:r>
              <a:t>C. Yes, 16 always suffices</a:t>
            </a:r>
          </a:p>
          <a:p xmlns:a="http://schemas.openxmlformats.org/drawingml/2006/main">
            <a:r>
              <a:t>D. Yes, all compression discovers meaning</a:t>
            </a:r>
          </a:p>
          <a:p xmlns:a="http://schemas.openxmlformats.org/drawingml/2006/main">
            <a:r>
              <a:t/>
            </a:r>
          </a:p>
          <a:p xmlns:a="http://schemas.openxmlformats.org/drawingml/2006/main">
            <a:r>
              <a:t>Answer: A. No, preservation depends on the objective and evaluation</a:t>
            </a:r>
          </a:p>
          <a:p xmlns:a="http://schemas.openxmlformats.org/drawingml/2006/main">
            <a:r>
              <a:t>Fewer coordinates can encourage useful structure but may erase rare or task-critical details. Coordinate count alone is not a bit-rate or scientific-quality guarantee.</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Deep Learning, chapter 14: Autoencoders</a:t>
            </a:r>
          </a:p>
          <a:p xmlns:a="http://schemas.openxmlformats.org/drawingml/2006/main">
            <a:r>
              <a:t>https://www.deeplearningbook.org/contents/autoencoders.html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51: Bit and byte</a:t>
            </a:r>
          </a:p>
          <a:p xmlns:a="http://schemas.openxmlformats.org/drawingml/2006/main">
            <a:r>
              <a:t/>
            </a:r>
          </a:p>
          <a:p xmlns:a="http://schemas.openxmlformats.org/drawingml/2006/main">
            <a:r>
              <a:t>Understanding check</a:t>
            </a:r>
          </a:p>
          <a:p xmlns:a="http://schemas.openxmlformats.org/drawingml/2006/main">
            <a:r>
              <a:t>How many distinct patterns can 4 bits encode?</a:t>
            </a:r>
          </a:p>
          <a:p xmlns:a="http://schemas.openxmlformats.org/drawingml/2006/main">
            <a:r>
              <a:t>A. 16</a:t>
            </a:r>
          </a:p>
          <a:p xmlns:a="http://schemas.openxmlformats.org/drawingml/2006/main">
            <a:r>
              <a:t>B. 4</a:t>
            </a:r>
          </a:p>
          <a:p xmlns:a="http://schemas.openxmlformats.org/drawingml/2006/main">
            <a:r>
              <a:t>C. 32</a:t>
            </a:r>
          </a:p>
          <a:p xmlns:a="http://schemas.openxmlformats.org/drawingml/2006/main">
            <a:r>
              <a:t>D. 8</a:t>
            </a:r>
          </a:p>
          <a:p xmlns:a="http://schemas.openxmlformats.org/drawingml/2006/main">
            <a:r>
              <a:t/>
            </a:r>
          </a:p>
          <a:p xmlns:a="http://schemas.openxmlformats.org/drawingml/2006/main">
            <a:r>
              <a:t>Answer: A. 16</a:t>
            </a:r>
          </a:p>
          <a:p xmlns:a="http://schemas.openxmlformats.org/drawingml/2006/main">
            <a:r>
              <a:t>Each added bit doubles the number of patterns. A bit pattern gets its meaning from an agreed encoding, such as an integer or character representation.</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52: Numerical precision</a:t>
            </a:r>
          </a:p>
          <a:p xmlns:a="http://schemas.openxmlformats.org/drawingml/2006/main">
            <a:r>
              <a:t/>
            </a:r>
          </a:p>
          <a:p xmlns:a="http://schemas.openxmlformats.org/drawingml/2006/main">
            <a:r>
              <a:t>Understanding check</a:t>
            </a:r>
          </a:p>
          <a:p xmlns:a="http://schemas.openxmlformats.org/drawingml/2006/main">
            <a:r>
              <a:t>What is the rounding error when 2.718 becomes 2.72?</a:t>
            </a:r>
          </a:p>
          <a:p xmlns:a="http://schemas.openxmlformats.org/drawingml/2006/main">
            <a:r>
              <a:t>A. 0.2</a:t>
            </a:r>
          </a:p>
          <a:p xmlns:a="http://schemas.openxmlformats.org/drawingml/2006/main">
            <a:r>
              <a:t>B. 0</a:t>
            </a:r>
          </a:p>
          <a:p xmlns:a="http://schemas.openxmlformats.org/drawingml/2006/main">
            <a:r>
              <a:t>C. 0.002</a:t>
            </a:r>
          </a:p>
          <a:p xmlns:a="http://schemas.openxmlformats.org/drawingml/2006/main">
            <a:r>
              <a:t>D. 0.02</a:t>
            </a:r>
          </a:p>
          <a:p xmlns:a="http://schemas.openxmlformats.org/drawingml/2006/main">
            <a:r>
              <a:t/>
            </a:r>
          </a:p>
          <a:p xmlns:a="http://schemas.openxmlformats.org/drawingml/2006/main">
            <a:r>
              <a:t>Answer: C. 0.002</a:t>
            </a:r>
          </a:p>
          <a:p xmlns:a="http://schemas.openxmlformats.org/drawingml/2006/main">
            <a:r>
              <a:t>Precision affects memory, speed, and numerical behavior. FP32, FP16, and BF16 are floating-point formats; FP16 and BF16 have different precision-range tradeoffs despite both using 16 bits.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53: Rate-distortion tradeoff</a:t>
            </a:r>
          </a:p>
          <a:p xmlns:a="http://schemas.openxmlformats.org/drawingml/2006/main">
            <a:r>
              <a:t/>
            </a:r>
          </a:p>
          <a:p xmlns:a="http://schemas.openxmlformats.org/drawingml/2006/main">
            <a:r>
              <a:t>Understanding check</a:t>
            </a:r>
          </a:p>
          <a:p xmlns:a="http://schemas.openxmlformats.org/drawingml/2006/main">
            <a:r>
              <a:t>Which code wins in that stated objective?</a:t>
            </a:r>
          </a:p>
          <a:p xmlns:a="http://schemas.openxmlformats.org/drawingml/2006/main">
            <a:r>
              <a:t>A. Always the larger code</a:t>
            </a:r>
          </a:p>
          <a:p xmlns:a="http://schemas.openxmlformats.org/drawingml/2006/main">
            <a:r>
              <a:t>B. They tie</a:t>
            </a:r>
          </a:p>
          <a:p xmlns:a="http://schemas.openxmlformats.org/drawingml/2006/main">
            <a:r>
              <a:t>C. The code with D = 1 and R = 20</a:t>
            </a:r>
          </a:p>
          <a:p xmlns:a="http://schemas.openxmlformats.org/drawingml/2006/main">
            <a:r>
              <a:t>D. The code with D = 2 and R = 5</a:t>
            </a:r>
          </a:p>
          <a:p xmlns:a="http://schemas.openxmlformats.org/drawingml/2006/main">
            <a:r>
              <a:t/>
            </a:r>
          </a:p>
          <a:p xmlns:a="http://schemas.openxmlformats.org/drawingml/2006/main">
            <a:r>
              <a:t>Answer: D. The code with D = 2 and R = 5</a:t>
            </a:r>
          </a:p>
          <a:p xmlns:a="http://schemas.openxmlformats.org/drawingml/2006/main">
            <a:r>
              <a:t>The objective prefers 2.5 over 3. Different λ values change the preference. Choose distortion measures that reflect the application, not only average reconstruction.</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54: Vector quantization</a:t>
            </a:r>
          </a:p>
          <a:p xmlns:a="http://schemas.openxmlformats.org/drawingml/2006/main">
            <a:r>
              <a:t/>
            </a:r>
          </a:p>
          <a:p xmlns:a="http://schemas.openxmlformats.org/drawingml/2006/main">
            <a:r>
              <a:t>Understanding check</a:t>
            </a:r>
          </a:p>
          <a:p xmlns:a="http://schemas.openxmlformats.org/drawingml/2006/main">
            <a:r>
              <a:t>For z = 2.2 and codebook {0, 2, 5}, which representative is nearest?</a:t>
            </a:r>
          </a:p>
          <a:p xmlns:a="http://schemas.openxmlformats.org/drawingml/2006/main">
            <a:r>
              <a:t>A. 2.2, which must already be a code</a:t>
            </a:r>
          </a:p>
          <a:p xmlns:a="http://schemas.openxmlformats.org/drawingml/2006/main">
            <a:r>
              <a:t>B. 0</a:t>
            </a:r>
          </a:p>
          <a:p xmlns:a="http://schemas.openxmlformats.org/drawingml/2006/main">
            <a:r>
              <a:t>C. 2</a:t>
            </a:r>
          </a:p>
          <a:p xmlns:a="http://schemas.openxmlformats.org/drawingml/2006/main">
            <a:r>
              <a:t>D. 5</a:t>
            </a:r>
          </a:p>
          <a:p xmlns:a="http://schemas.openxmlformats.org/drawingml/2006/main">
            <a:r>
              <a:t/>
            </a:r>
          </a:p>
          <a:p xmlns:a="http://schemas.openxmlformats.org/drawingml/2006/main">
            <a:r>
              <a:t>Answer: C. 2</a:t>
            </a:r>
          </a:p>
          <a:p xmlns:a="http://schemas.openxmlformats.org/drawingml/2006/main">
            <a:r>
              <a:t>Distances are 2.2, 0.2, and 2.8. The representative is 2. A deterministic rule can break ties between equally near codes.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Neural Discrete Representation Learning, van den Oord et al., 2017</a:t>
            </a:r>
          </a:p>
          <a:p xmlns:a="http://schemas.openxmlformats.org/drawingml/2006/main">
            <a:r>
              <a:t>https://arxiv.org/abs/1711.00937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55: Token and vocabulary</a:t>
            </a:r>
          </a:p>
          <a:p xmlns:a="http://schemas.openxmlformats.org/drawingml/2006/main">
            <a:r>
              <a:t/>
            </a:r>
          </a:p>
          <a:p xmlns:a="http://schemas.openxmlformats.org/drawingml/2006/main">
            <a:r>
              <a:t>Understanding check</a:t>
            </a:r>
          </a:p>
          <a:p xmlns:a="http://schemas.openxmlformats.org/drawingml/2006/main">
            <a:r>
              <a:t>What does assigning token 6 to a pattern establish by itself?</a:t>
            </a:r>
          </a:p>
          <a:p xmlns:a="http://schemas.openxmlformats.org/drawingml/2006/main">
            <a:r>
              <a:t>A. That token 6 means sandstone</a:t>
            </a:r>
          </a:p>
          <a:p xmlns:a="http://schemas.openxmlformats.org/drawingml/2006/main">
            <a:r>
              <a:t>B. A consistent symbolic ID</a:t>
            </a:r>
          </a:p>
          <a:p xmlns:a="http://schemas.openxmlformats.org/drawingml/2006/main">
            <a:r>
              <a:t>C. That reconstruction is perfect</a:t>
            </a:r>
          </a:p>
          <a:p xmlns:a="http://schemas.openxmlformats.org/drawingml/2006/main">
            <a:r>
              <a:t>D. That an LLM understands the pattern</a:t>
            </a:r>
          </a:p>
          <a:p xmlns:a="http://schemas.openxmlformats.org/drawingml/2006/main">
            <a:r>
              <a:t/>
            </a:r>
          </a:p>
          <a:p xmlns:a="http://schemas.openxmlformats.org/drawingml/2006/main">
            <a:r>
              <a:t>Answer: B. A consistent symbolic ID</a:t>
            </a:r>
          </a:p>
          <a:p xmlns:a="http://schemas.openxmlformats.org/drawingml/2006/main">
            <a:r>
              <a:t>The ID is arbitrary until a system learns or is given its relationship to data and language. A token and its vector embedding are different objects.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Neural Discrete Representation Learning, van den Oord et al., 2017</a:t>
            </a:r>
          </a:p>
          <a:p xmlns:a="http://schemas.openxmlformats.org/drawingml/2006/main">
            <a:r>
              <a:t>https://arxiv.org/abs/1711.00937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56: Vector-quantized autoencoder</a:t>
            </a:r>
          </a:p>
          <a:p xmlns:a="http://schemas.openxmlformats.org/drawingml/2006/main">
            <a:r>
              <a:t/>
            </a:r>
          </a:p>
          <a:p xmlns:a="http://schemas.openxmlformats.org/drawingml/2006/main">
            <a:r>
              <a:t>Understanding check</a:t>
            </a:r>
          </a:p>
          <a:p xmlns:a="http://schemas.openxmlformats.org/drawingml/2006/main">
            <a:r>
              <a:t>How does a VQ-VAE train across nearest-code selection?</a:t>
            </a:r>
          </a:p>
          <a:p xmlns:a="http://schemas.openxmlformats.org/drawingml/2006/main">
            <a:r>
              <a:t>A. Never train the encoder</a:t>
            </a:r>
          </a:p>
          <a:p xmlns:a="http://schemas.openxmlformats.org/drawingml/2006/main">
            <a:r>
              <a:t>B. Ordinary exact derivatives of arg min everywhere</a:t>
            </a:r>
          </a:p>
          <a:p xmlns:a="http://schemas.openxmlformats.org/drawingml/2006/main">
            <a:r>
              <a:t>C. Use a gradient estimator such as straight-through</a:t>
            </a:r>
          </a:p>
          <a:p xmlns:a="http://schemas.openxmlformats.org/drawingml/2006/main">
            <a:r>
              <a:t>D. Assign English meanings automatically</a:t>
            </a:r>
          </a:p>
          <a:p xmlns:a="http://schemas.openxmlformats.org/drawingml/2006/main">
            <a:r>
              <a:t/>
            </a:r>
          </a:p>
          <a:p xmlns:a="http://schemas.openxmlformats.org/drawingml/2006/main">
            <a:r>
              <a:t>Answer: C. Use a gradient estimator such as straight-through</a:t>
            </a:r>
          </a:p>
          <a:p xmlns:a="http://schemas.openxmlformats.org/drawingml/2006/main">
            <a:r>
              <a:t>Nearest-code selection is discrete. The original method uses a straight-through estimator plus reconstruction, codebook, and commitment losses. This is an approximation, not an exact derivative of selection.</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Neural Discrete Representation Learning, van den Oord et al., 2017</a:t>
            </a:r>
          </a:p>
          <a:p xmlns:a="http://schemas.openxmlformats.org/drawingml/2006/main">
            <a:r>
              <a:t>https://arxiv.org/abs/1711.00937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57: Sequence and autocorrelation</a:t>
            </a:r>
          </a:p>
          <a:p xmlns:a="http://schemas.openxmlformats.org/drawingml/2006/main">
            <a:r>
              <a:t/>
            </a:r>
          </a:p>
          <a:p xmlns:a="http://schemas.openxmlformats.org/drawingml/2006/main">
            <a:r>
              <a:t>Understanding check</a:t>
            </a:r>
          </a:p>
          <a:p xmlns:a="http://schemas.openxmlformats.org/drawingml/2006/main">
            <a:r>
              <a:t>Why preserve the order of depth-indexed well-log tokens?</a:t>
            </a:r>
          </a:p>
          <a:p xmlns:a="http://schemas.openxmlformats.org/drawingml/2006/main">
            <a:r>
              <a:t>A. A sequence is just an unordered set</a:t>
            </a:r>
          </a:p>
          <a:p xmlns:a="http://schemas.openxmlformats.org/drawingml/2006/main">
            <a:r>
              <a:t>B. Shuffling always improves scientific meaning</a:t>
            </a:r>
          </a:p>
          <a:p xmlns:a="http://schemas.openxmlformats.org/drawingml/2006/main">
            <a:r>
              <a:t>C. Nearby depths can carry meaningful dependencies</a:t>
            </a:r>
          </a:p>
          <a:p xmlns:a="http://schemas.openxmlformats.org/drawingml/2006/main">
            <a:r>
              <a:t>D. Token IDs must increase with depth</a:t>
            </a:r>
          </a:p>
          <a:p xmlns:a="http://schemas.openxmlformats.org/drawingml/2006/main">
            <a:r>
              <a:t/>
            </a:r>
          </a:p>
          <a:p xmlns:a="http://schemas.openxmlformats.org/drawingml/2006/main">
            <a:r>
              <a:t>Answer: C. Nearby depths can carry meaningful dependencies</a:t>
            </a:r>
          </a:p>
          <a:p xmlns:a="http://schemas.openxmlformats.org/drawingml/2006/main">
            <a:r>
              <a:t>Depth order can carry dependencies that disappear after shuffling. The displayed sample estimator uses regularly spaced observations and a nonzero denominator. It differs from the population autocorrelation and from estimators that adjust separately for the number of pairs at each lag. Nonstationary logs may need local analysis.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Autocorrelation, NIST Engineering Statistics Handbook</a:t>
            </a:r>
          </a:p>
          <a:p xmlns:a="http://schemas.openxmlformats.org/drawingml/2006/main">
            <a:r>
              <a:t>https://www.itl.nist.gov/div898/handbook/eda/section3/eda35c.htm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58: Autoregressive language model</a:t>
            </a:r>
          </a:p>
          <a:p xmlns:a="http://schemas.openxmlformats.org/drawingml/2006/main">
            <a:r>
              <a:t/>
            </a:r>
          </a:p>
          <a:p xmlns:a="http://schemas.openxmlformats.org/drawingml/2006/main">
            <a:r>
              <a:t>Understanding check</a:t>
            </a:r>
          </a:p>
          <a:p xmlns:a="http://schemas.openxmlformats.org/drawingml/2006/main">
            <a:r>
              <a:t>P(A) = 0.4 and P(B given A) = 0.5. What is P(A, B)?</a:t>
            </a:r>
          </a:p>
          <a:p xmlns:a="http://schemas.openxmlformats.org/drawingml/2006/main">
            <a:r>
              <a:t>A. 0.5</a:t>
            </a:r>
          </a:p>
          <a:p xmlns:a="http://schemas.openxmlformats.org/drawingml/2006/main">
            <a:r>
              <a:t>B. 0.9</a:t>
            </a:r>
          </a:p>
          <a:p xmlns:a="http://schemas.openxmlformats.org/drawingml/2006/main">
            <a:r>
              <a:t>C. 0.2</a:t>
            </a:r>
          </a:p>
          <a:p xmlns:a="http://schemas.openxmlformats.org/drawingml/2006/main">
            <a:r>
              <a:t>D. 0.4</a:t>
            </a:r>
          </a:p>
          <a:p xmlns:a="http://schemas.openxmlformats.org/drawingml/2006/main">
            <a:r>
              <a:t/>
            </a:r>
          </a:p>
          <a:p xmlns:a="http://schemas.openxmlformats.org/drawingml/2006/main">
            <a:r>
              <a:t>Answer: C. 0.2</a:t>
            </a:r>
          </a:p>
          <a:p xmlns:a="http://schemas.openxmlformats.org/drawingml/2006/main">
            <a:r>
              <a:t>Multiply the conditional factors. A likely continuation is not necessarily a true statement about the physical world, which motivates retrieval and model tools.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59: Positional encoding</a:t>
            </a:r>
          </a:p>
          <a:p xmlns:a="http://schemas.openxmlformats.org/drawingml/2006/main">
            <a:r>
              <a:t/>
            </a:r>
          </a:p>
          <a:p xmlns:a="http://schemas.openxmlformats.org/drawingml/2006/main">
            <a:r>
              <a:t>Understanding check</a:t>
            </a:r>
          </a:p>
          <a:p xmlns:a="http://schemas.openxmlformats.org/drawingml/2006/main">
            <a:r>
              <a:t>Why might depth metadata be needed beyond token index?</a:t>
            </a:r>
          </a:p>
          <a:p xmlns:a="http://schemas.openxmlformats.org/drawingml/2006/main">
            <a:r>
              <a:t>A. Sampling intervals can differ between wells</a:t>
            </a:r>
          </a:p>
          <a:p xmlns:a="http://schemas.openxmlformats.org/drawingml/2006/main">
            <a:r>
              <a:t>B. Index always equals metres</a:t>
            </a:r>
          </a:p>
          <a:p xmlns:a="http://schemas.openxmlformats.org/drawingml/2006/main">
            <a:r>
              <a:t>C. Position is irrelevant to geology</a:t>
            </a:r>
          </a:p>
          <a:p xmlns:a="http://schemas.openxmlformats.org/drawingml/2006/main">
            <a:r>
              <a:t>D. Every token contains its absolute depth inherently</a:t>
            </a:r>
          </a:p>
          <a:p xmlns:a="http://schemas.openxmlformats.org/drawingml/2006/main">
            <a:r>
              <a:t/>
            </a:r>
          </a:p>
          <a:p xmlns:a="http://schemas.openxmlformats.org/drawingml/2006/main">
            <a:r>
              <a:t>Answer: A. Sampling intervals can differ between wells</a:t>
            </a:r>
          </a:p>
          <a:p xmlns:a="http://schemas.openxmlformats.org/drawingml/2006/main">
            <a:r>
              <a:t>Position index says first, second, third. Physical depth adds units and spacing. The original Transformer uses sinusoidal encodings; modern models use several alternatives.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Attention Is All You Need, Vaswani et al., 2017</a:t>
            </a:r>
          </a:p>
          <a:p xmlns:a="http://schemas.openxmlformats.org/drawingml/2006/main">
            <a:r>
              <a:t>https://papers.nips.cc/paper/7181-attention-is-all-you-need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60: Scaled dot-product attention</a:t>
            </a:r>
          </a:p>
          <a:p xmlns:a="http://schemas.openxmlformats.org/drawingml/2006/main">
            <a:r>
              <a:t/>
            </a:r>
          </a:p>
          <a:p xmlns:a="http://schemas.openxmlformats.org/drawingml/2006/main">
            <a:r>
              <a:t>Understanding check</a:t>
            </a:r>
          </a:p>
          <a:p xmlns:a="http://schemas.openxmlformats.org/drawingml/2006/main">
            <a:r>
              <a:t>Attention weights are (0.25, 0.75) and values are (2, 6). Output?</a:t>
            </a:r>
          </a:p>
          <a:p xmlns:a="http://schemas.openxmlformats.org/drawingml/2006/main">
            <a:r>
              <a:t>A. 8</a:t>
            </a:r>
          </a:p>
          <a:p xmlns:a="http://schemas.openxmlformats.org/drawingml/2006/main">
            <a:r>
              <a:t>B. 4</a:t>
            </a:r>
          </a:p>
          <a:p xmlns:a="http://schemas.openxmlformats.org/drawingml/2006/main">
            <a:r>
              <a:t>C. 6</a:t>
            </a:r>
          </a:p>
          <a:p xmlns:a="http://schemas.openxmlformats.org/drawingml/2006/main">
            <a:r>
              <a:t>D. 5</a:t>
            </a:r>
          </a:p>
          <a:p xmlns:a="http://schemas.openxmlformats.org/drawingml/2006/main">
            <a:r>
              <a:t/>
            </a:r>
          </a:p>
          <a:p xmlns:a="http://schemas.openxmlformats.org/drawingml/2006/main">
            <a:r>
              <a:t>Answer: D. 5</a:t>
            </a:r>
          </a:p>
          <a:p xmlns:a="http://schemas.openxmlformats.org/drawingml/2006/main">
            <a:r>
              <a:t>Compute 0.25 × 2 + 0.75 × 6 = 5. dₖ is the key dimension. Attention weights are learned mixing weights, not proof of a causal explanation.</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Attention Is All You Need, Vaswani et al., 2017</a:t>
            </a:r>
          </a:p>
          <a:p xmlns:a="http://schemas.openxmlformats.org/drawingml/2006/main">
            <a:r>
              <a:t>https://papers.nips.cc/paper/7181-attention-is-all-you-need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61: Multi-head attention</a:t>
            </a:r>
          </a:p>
          <a:p xmlns:a="http://schemas.openxmlformats.org/drawingml/2006/main">
            <a:r>
              <a:t/>
            </a:r>
          </a:p>
          <a:p xmlns:a="http://schemas.openxmlformats.org/drawingml/2006/main">
            <a:r>
              <a:t>Understanding check</a:t>
            </a:r>
          </a:p>
          <a:p xmlns:a="http://schemas.openxmlformats.org/drawingml/2006/main">
            <a:r>
              <a:t>What makes attention heads different?</a:t>
            </a:r>
          </a:p>
          <a:p xmlns:a="http://schemas.openxmlformats.org/drawingml/2006/main">
            <a:r>
              <a:t>A. They must see different documents</a:t>
            </a:r>
          </a:p>
          <a:p xmlns:a="http://schemas.openxmlformats.org/drawingml/2006/main">
            <a:r>
              <a:t>B. Each is a separate human</a:t>
            </a:r>
          </a:p>
          <a:p xmlns:a="http://schemas.openxmlformats.org/drawingml/2006/main">
            <a:r>
              <a:t>C. Each has a guaranteed named meaning</a:t>
            </a:r>
          </a:p>
          <a:p xmlns:a="http://schemas.openxmlformats.org/drawingml/2006/main">
            <a:r>
              <a:t>D. They use different learned projections</a:t>
            </a:r>
          </a:p>
          <a:p xmlns:a="http://schemas.openxmlformats.org/drawingml/2006/main">
            <a:r>
              <a:t/>
            </a:r>
          </a:p>
          <a:p xmlns:a="http://schemas.openxmlformats.org/drawingml/2006/main">
            <a:r>
              <a:t>Answer: D. They use different learned projections</a:t>
            </a:r>
          </a:p>
          <a:p xmlns:a="http://schemas.openxmlformats.org/drawingml/2006/main">
            <a:r>
              <a:t>Heads can learn different relationships because their projections differ. Their roles emerge through training and need not correspond to clean human categories.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Attention Is All You Need, Vaswani et al., 2017</a:t>
            </a:r>
          </a:p>
          <a:p xmlns:a="http://schemas.openxmlformats.org/drawingml/2006/main">
            <a:r>
              <a:t>https://papers.nips.cc/paper/7181-attention-is-all-you-need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62: Causal mask</a:t>
            </a:r>
          </a:p>
          <a:p xmlns:a="http://schemas.openxmlformats.org/drawingml/2006/main">
            <a:r>
              <a:t/>
            </a:r>
          </a:p>
          <a:p xmlns:a="http://schemas.openxmlformats.org/drawingml/2006/main">
            <a:r>
              <a:t>Understanding check</a:t>
            </a:r>
          </a:p>
          <a:p xmlns:a="http://schemas.openxmlformats.org/drawingml/2006/main">
            <a:r>
              <a:t>At position 3 of a four-token causal sequence, which position is hidden?</a:t>
            </a:r>
          </a:p>
          <a:p xmlns:a="http://schemas.openxmlformats.org/drawingml/2006/main">
            <a:r>
              <a:t>A. 1</a:t>
            </a:r>
          </a:p>
          <a:p xmlns:a="http://schemas.openxmlformats.org/drawingml/2006/main">
            <a:r>
              <a:t>B. 4</a:t>
            </a:r>
          </a:p>
          <a:p xmlns:a="http://schemas.openxmlformats.org/drawingml/2006/main">
            <a:r>
              <a:t>C. 2</a:t>
            </a:r>
          </a:p>
          <a:p xmlns:a="http://schemas.openxmlformats.org/drawingml/2006/main">
            <a:r>
              <a:t>D. 3</a:t>
            </a:r>
          </a:p>
          <a:p xmlns:a="http://schemas.openxmlformats.org/drawingml/2006/main">
            <a:r>
              <a:t/>
            </a:r>
          </a:p>
          <a:p xmlns:a="http://schemas.openxmlformats.org/drawingml/2006/main">
            <a:r>
              <a:t>Answer: B. 4</a:t>
            </a:r>
          </a:p>
          <a:p xmlns:a="http://schemas.openxmlformats.org/drawingml/2006/main">
            <a:r>
              <a:t>Future attention scores are masked before softmax. During training, known sequences can be processed in parallel while each prediction is prevented from seeing its future.</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Attention Is All You Need, Vaswani et al., 2017</a:t>
            </a:r>
          </a:p>
          <a:p xmlns:a="http://schemas.openxmlformats.org/drawingml/2006/main">
            <a:r>
              <a:t>https://papers.nips.cc/paper/7181-attention-is-all-you-need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63: Transformer</a:t>
            </a:r>
          </a:p>
          <a:p xmlns:a="http://schemas.openxmlformats.org/drawingml/2006/main">
            <a:r>
              <a:t/>
            </a:r>
          </a:p>
          <a:p xmlns:a="http://schemas.openxmlformats.org/drawingml/2006/main">
            <a:r>
              <a:t>Understanding check</a:t>
            </a:r>
          </a:p>
          <a:p xmlns:a="http://schemas.openxmlformats.org/drawingml/2006/main">
            <a:r>
              <a:t>Which components belong in a Transformer block?</a:t>
            </a:r>
          </a:p>
          <a:p xmlns:a="http://schemas.openxmlformats.org/drawingml/2006/main">
            <a:r>
              <a:t>A. Attention and a feed-forward network</a:t>
            </a:r>
          </a:p>
          <a:p xmlns:a="http://schemas.openxmlformats.org/drawingml/2006/main">
            <a:r>
              <a:t>B. Only one sigmoid scalar</a:t>
            </a:r>
          </a:p>
          <a:p xmlns:a="http://schemas.openxmlformats.org/drawingml/2006/main">
            <a:r>
              <a:t>C. Only a nearest-neighbor lookup</a:t>
            </a:r>
          </a:p>
          <a:p xmlns:a="http://schemas.openxmlformats.org/drawingml/2006/main">
            <a:r>
              <a:t>D. A mandatory physical robot</a:t>
            </a:r>
          </a:p>
          <a:p xmlns:a="http://schemas.openxmlformats.org/drawingml/2006/main">
            <a:r>
              <a:t/>
            </a:r>
          </a:p>
          <a:p xmlns:a="http://schemas.openxmlformats.org/drawingml/2006/main">
            <a:r>
              <a:t>Answer: A. Attention and a feed-forward network</a:t>
            </a:r>
          </a:p>
          <a:p xmlns:a="http://schemas.openxmlformats.org/drawingml/2006/main">
            <a:r>
              <a:t>FFN means feed-forward network. The same FFN transforms each token separately. LN means layer normalization: center and rescale features within each token, with learned scale and shift. The example uses scale 1, shift 0 and neglects the small stabilizing constant. The formula shows a post-normalization block; other orderings exist. A causal decoder also applies its attention mask. The 2017 paper is Attention Is All You Need.</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Attention Is All You Need, Vaswani et al., 2017</a:t>
            </a:r>
          </a:p>
          <a:p xmlns:a="http://schemas.openxmlformats.org/drawingml/2006/main">
            <a:r>
              <a:t>https://papers.nips.cc/paper/7181-attention-is-all-you-need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64: Fine-tuning</a:t>
            </a:r>
          </a:p>
          <a:p xmlns:a="http://schemas.openxmlformats.org/drawingml/2006/main">
            <a:r>
              <a:t/>
            </a:r>
          </a:p>
          <a:p xmlns:a="http://schemas.openxmlformats.org/drawingml/2006/main">
            <a:r>
              <a:t>Understanding check</a:t>
            </a:r>
          </a:p>
          <a:p xmlns:a="http://schemas.openxmlformats.org/drawingml/2006/main">
            <a:r>
              <a:t>Which operation is fine-tuning?</a:t>
            </a:r>
          </a:p>
          <a:p xmlns:a="http://schemas.openxmlformats.org/drawingml/2006/main">
            <a:r>
              <a:t>A. Update model parameters on new examples</a:t>
            </a:r>
          </a:p>
          <a:p xmlns:a="http://schemas.openxmlformats.org/drawingml/2006/main">
            <a:r>
              <a:t>B. Rename a model file</a:t>
            </a:r>
          </a:p>
          <a:p xmlns:a="http://schemas.openxmlformats.org/drawingml/2006/main">
            <a:r>
              <a:t>C. Read a stored vector without learning</a:t>
            </a:r>
          </a:p>
          <a:p xmlns:a="http://schemas.openxmlformats.org/drawingml/2006/main">
            <a:r>
              <a:t>D. Put a document into a prompt only</a:t>
            </a:r>
          </a:p>
          <a:p xmlns:a="http://schemas.openxmlformats.org/drawingml/2006/main">
            <a:r>
              <a:t/>
            </a:r>
          </a:p>
          <a:p xmlns:a="http://schemas.openxmlformats.org/drawingml/2006/main">
            <a:r>
              <a:t>Answer: A. Update model parameters on new examples</a:t>
            </a:r>
          </a:p>
          <a:p xmlns:a="http://schemas.openxmlformats.org/drawingml/2006/main">
            <a:r>
              <a:t>Fine-tuning changes trainable parameters. Prompting and retrieval can change the model's input without changing its weights. Adapter methods update only a selected parameter subset.</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65: Retrieval-augmented generation</a:t>
            </a:r>
          </a:p>
          <a:p xmlns:a="http://schemas.openxmlformats.org/drawingml/2006/main">
            <a:r>
              <a:t/>
            </a:r>
          </a:p>
          <a:p xmlns:a="http://schemas.openxmlformats.org/drawingml/2006/main">
            <a:r>
              <a:t>Understanding check</a:t>
            </a:r>
          </a:p>
          <a:p xmlns:a="http://schemas.openxmlformats.org/drawingml/2006/main">
            <a:r>
              <a:t>Does ordinary retrieval change the language model's weights?</a:t>
            </a:r>
          </a:p>
          <a:p xmlns:a="http://schemas.openxmlformats.org/drawingml/2006/main">
            <a:r>
              <a:t>A. No, it supplies context at inference time</a:t>
            </a:r>
          </a:p>
          <a:p xmlns:a="http://schemas.openxmlformats.org/drawingml/2006/main">
            <a:r>
              <a:t>B. Yes, it always retrains every layer</a:t>
            </a:r>
          </a:p>
          <a:p xmlns:a="http://schemas.openxmlformats.org/drawingml/2006/main">
            <a:r>
              <a:t>C. It guarantees every answer is correct</a:t>
            </a:r>
          </a:p>
          <a:p xmlns:a="http://schemas.openxmlformats.org/drawingml/2006/main">
            <a:r>
              <a:t>D. Yes, it replaces the tokenizer</a:t>
            </a:r>
          </a:p>
          <a:p xmlns:a="http://schemas.openxmlformats.org/drawingml/2006/main">
            <a:r>
              <a:t/>
            </a:r>
          </a:p>
          <a:p xmlns:a="http://schemas.openxmlformats.org/drawingml/2006/main">
            <a:r>
              <a:t>Answer: A. No, it supplies context at inference time</a:t>
            </a:r>
          </a:p>
          <a:p xmlns:a="http://schemas.openxmlformats.org/drawingml/2006/main">
            <a:r>
              <a:t>Retrieval changes available evidence, not normally parameters. Irrelevant retrieval or unsupported generation can still produce an incorrect answer.</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66: API and SDK</a:t>
            </a:r>
          </a:p>
          <a:p xmlns:a="http://schemas.openxmlformats.org/drawingml/2006/main">
            <a:r>
              <a:t/>
            </a:r>
          </a:p>
          <a:p xmlns:a="http://schemas.openxmlformats.org/drawingml/2006/main">
            <a:r>
              <a:t>Understanding check</a:t>
            </a:r>
          </a:p>
          <a:p xmlns:a="http://schemas.openxmlformats.org/drawingml/2006/main">
            <a:r>
              <a:t>What is an SDK?</a:t>
            </a:r>
          </a:p>
          <a:p xmlns:a="http://schemas.openxmlformats.org/drawingml/2006/main">
            <a:r>
              <a:t>A. Necessarily a trained scientific model</a:t>
            </a:r>
          </a:p>
          <a:p xmlns:a="http://schemas.openxmlformats.org/drawingml/2006/main">
            <a:r>
              <a:t>B. A GPU memory chip</a:t>
            </a:r>
          </a:p>
          <a:p xmlns:a="http://schemas.openxmlformats.org/drawingml/2006/main">
            <a:r>
              <a:t>C. A replacement for a dataset license</a:t>
            </a:r>
          </a:p>
          <a:p xmlns:a="http://schemas.openxmlformats.org/drawingml/2006/main">
            <a:r>
              <a:t>D. A toolkit of libraries and development resources</a:t>
            </a:r>
          </a:p>
          <a:p xmlns:a="http://schemas.openxmlformats.org/drawingml/2006/main">
            <a:r>
              <a:t/>
            </a:r>
          </a:p>
          <a:p xmlns:a="http://schemas.openxmlformats.org/drawingml/2006/main">
            <a:r>
              <a:t>Answer: D. A toolkit of libraries and development resources</a:t>
            </a:r>
          </a:p>
          <a:p xmlns:a="http://schemas.openxmlformats.org/drawingml/2006/main">
            <a:r>
              <a:t>An API specifies how software interacts, including inputs, outputs and errors. An SDK provides libraries and development tools that help use interfaces. The mean function is a teaching example, not a documented Sememe.ai method.</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67: Tool calling</a:t>
            </a:r>
          </a:p>
          <a:p xmlns:a="http://schemas.openxmlformats.org/drawingml/2006/main">
            <a:r>
              <a:t/>
            </a:r>
          </a:p>
          <a:p xmlns:a="http://schemas.openxmlformats.org/drawingml/2006/main">
            <a:r>
              <a:t>Understanding check</a:t>
            </a:r>
          </a:p>
          <a:p xmlns:a="http://schemas.openxmlformats.org/drawingml/2006/main">
            <a:r>
              <a:t>Who should compute an exact average in a grounded answer?</a:t>
            </a:r>
          </a:p>
          <a:p xmlns:a="http://schemas.openxmlformats.org/drawingml/2006/main">
            <a:r>
              <a:t>A. The token ID's numeric value</a:t>
            </a:r>
          </a:p>
          <a:p xmlns:a="http://schemas.openxmlformats.org/drawingml/2006/main">
            <a:r>
              <a:t>B. A defined numerical tool on the cited data</a:t>
            </a:r>
          </a:p>
          <a:p xmlns:a="http://schemas.openxmlformats.org/drawingml/2006/main">
            <a:r>
              <a:t>C. An unrelated retrieved paragraph</a:t>
            </a:r>
          </a:p>
          <a:p xmlns:a="http://schemas.openxmlformats.org/drawingml/2006/main">
            <a:r>
              <a:t>D. A guess from fluent wording</a:t>
            </a:r>
          </a:p>
          <a:p xmlns:a="http://schemas.openxmlformats.org/drawingml/2006/main">
            <a:r>
              <a:t/>
            </a:r>
          </a:p>
          <a:p xmlns:a="http://schemas.openxmlformats.org/drawingml/2006/main">
            <a:r>
              <a:t>Answer: B. A defined numerical tool on the cited data</a:t>
            </a:r>
          </a:p>
          <a:p xmlns:a="http://schemas.openxmlformats.org/drawingml/2006/main">
            <a:r>
              <a:t>A tool can execute exact arithmetic or a computational model. Its inputs, units, implementation, and result still need to be checked and linked to the answer.</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68: State, observation and action</a:t>
            </a:r>
          </a:p>
          <a:p xmlns:a="http://schemas.openxmlformats.org/drawingml/2006/main">
            <a:r>
              <a:t/>
            </a:r>
          </a:p>
          <a:p xmlns:a="http://schemas.openxmlformats.org/drawingml/2006/main">
            <a:r>
              <a:t>Understanding check</a:t>
            </a:r>
          </a:p>
          <a:p xmlns:a="http://schemas.openxmlformats.org/drawingml/2006/main">
            <a:r>
              <a:t>A thermometer reads 29.8 °C. What is that reading?</a:t>
            </a:r>
          </a:p>
          <a:p xmlns:a="http://schemas.openxmlformats.org/drawingml/2006/main">
            <a:r>
              <a:t>A. An observation</a:t>
            </a:r>
          </a:p>
          <a:p xmlns:a="http://schemas.openxmlformats.org/drawingml/2006/main">
            <a:r>
              <a:t>B. Necessarily the complete system state</a:t>
            </a:r>
          </a:p>
          <a:p xmlns:a="http://schemas.openxmlformats.org/drawingml/2006/main">
            <a:r>
              <a:t>C. A control action</a:t>
            </a:r>
          </a:p>
          <a:p xmlns:a="http://schemas.openxmlformats.org/drawingml/2006/main">
            <a:r>
              <a:t>D. A reward definition</a:t>
            </a:r>
          </a:p>
          <a:p xmlns:a="http://schemas.openxmlformats.org/drawingml/2006/main">
            <a:r>
              <a:t/>
            </a:r>
          </a:p>
          <a:p xmlns:a="http://schemas.openxmlformats.org/drawingml/2006/main">
            <a:r>
              <a:t>Answer: A. An observation</a:t>
            </a:r>
          </a:p>
          <a:p xmlns:a="http://schemas.openxmlformats.org/drawingml/2006/main">
            <a:r>
              <a:t>Measurements can be noisy and incomplete. A hidden-state problem may require a history or belief over states, rather than treating one reading as a complete Markov state.</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Sensor Selection for Crowdsensing Dynamical Systems, Schnitzler, Yu and Mannor, 2015</a:t>
            </a:r>
          </a:p>
          <a:p xmlns:a="http://schemas.openxmlformats.org/drawingml/2006/main">
            <a:r>
              <a:t>https://proceedings.mlr.press/v38/schnitzler15.html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69: Dynamical system</a:t>
            </a:r>
          </a:p>
          <a:p xmlns:a="http://schemas.openxmlformats.org/drawingml/2006/main">
            <a:r>
              <a:t/>
            </a:r>
          </a:p>
          <a:p xmlns:a="http://schemas.openxmlformats.org/drawingml/2006/main">
            <a:r>
              <a:t>Understanding check</a:t>
            </a:r>
          </a:p>
          <a:p xmlns:a="http://schemas.openxmlformats.org/drawingml/2006/main">
            <a:r>
              <a:t>A tank has 8 litres, receives 4, and drains 3. Next volume?</a:t>
            </a:r>
          </a:p>
          <a:p xmlns:a="http://schemas.openxmlformats.org/drawingml/2006/main">
            <a:r>
              <a:t>A. 15 litres</a:t>
            </a:r>
          </a:p>
          <a:p xmlns:a="http://schemas.openxmlformats.org/drawingml/2006/main">
            <a:r>
              <a:t>B. 9 litres</a:t>
            </a:r>
          </a:p>
          <a:p xmlns:a="http://schemas.openxmlformats.org/drawingml/2006/main">
            <a:r>
              <a:t>C. 7 litres</a:t>
            </a:r>
          </a:p>
          <a:p xmlns:a="http://schemas.openxmlformats.org/drawingml/2006/main">
            <a:r>
              <a:t>D. 12 litres</a:t>
            </a:r>
          </a:p>
          <a:p xmlns:a="http://schemas.openxmlformats.org/drawingml/2006/main">
            <a:r>
              <a:t/>
            </a:r>
          </a:p>
          <a:p xmlns:a="http://schemas.openxmlformats.org/drawingml/2006/main">
            <a:r>
              <a:t>Answer: B. 9 litres</a:t>
            </a:r>
          </a:p>
          <a:p xmlns:a="http://schemas.openxmlformats.org/drawingml/2006/main">
            <a:r>
              <a:t>Use conservation: 8 + 4 − 3 = 9. A model may use physical equations, learned relationships, or both to describe its dynamics.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Sensor Selection for Crowdsensing Dynamical Systems, Schnitzler, Yu and Mannor, 2015</a:t>
            </a:r>
          </a:p>
          <a:p xmlns:a="http://schemas.openxmlformats.org/drawingml/2006/main">
            <a:r>
              <a:t>https://proceedings.mlr.press/v38/schnitzler15.html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70: Markov decision process</a:t>
            </a:r>
          </a:p>
          <a:p xmlns:a="http://schemas.openxmlformats.org/drawingml/2006/main">
            <a:r>
              <a:t/>
            </a:r>
          </a:p>
          <a:p xmlns:a="http://schemas.openxmlformats.org/drawingml/2006/main">
            <a:r>
              <a:t>Understanding check</a:t>
            </a:r>
          </a:p>
          <a:p xmlns:a="http://schemas.openxmlformats.org/drawingml/2006/main">
            <a:r>
              <a:t>What is the Markov assumption?</a:t>
            </a:r>
          </a:p>
          <a:p xmlns:a="http://schemas.openxmlformats.org/drawingml/2006/main">
            <a:r>
              <a:t>A. Rewards never change</a:t>
            </a:r>
          </a:p>
          <a:p xmlns:a="http://schemas.openxmlformats.org/drawingml/2006/main">
            <a:r>
              <a:t>B. Observations always reveal every state variable</a:t>
            </a:r>
          </a:p>
          <a:p xmlns:a="http://schemas.openxmlformats.org/drawingml/2006/main">
            <a:r>
              <a:t>C. The future is always deterministic</a:t>
            </a:r>
          </a:p>
          <a:p xmlns:a="http://schemas.openxmlformats.org/drawingml/2006/main">
            <a:r>
              <a:t>D. The current state and action suffice for the next-state distribution</a:t>
            </a:r>
          </a:p>
          <a:p xmlns:a="http://schemas.openxmlformats.org/drawingml/2006/main">
            <a:r>
              <a:t/>
            </a:r>
          </a:p>
          <a:p xmlns:a="http://schemas.openxmlformats.org/drawingml/2006/main">
            <a:r>
              <a:t>Answer: D. The current state and action suffice for the next-state distribution</a:t>
            </a:r>
          </a:p>
          <a:p xmlns:a="http://schemas.openxmlformats.org/drawingml/2006/main">
            <a:r>
              <a:t>An MDP can be stochastic. The key condition is conditional dependence on the current state, not the whole history. Observations may require a partially observable extension.</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Reinforcement Learning: Foundations, Mannor, Mansour and Tamar</a:t>
            </a:r>
          </a:p>
          <a:p xmlns:a="http://schemas.openxmlformats.org/drawingml/2006/main">
            <a:r>
              <a:t>https://sites.google.com/view/rlfoundations/home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71: Reward and return</a:t>
            </a:r>
          </a:p>
          <a:p xmlns:a="http://schemas.openxmlformats.org/drawingml/2006/main">
            <a:r>
              <a:t/>
            </a:r>
          </a:p>
          <a:p xmlns:a="http://schemas.openxmlformats.org/drawingml/2006/main">
            <a:r>
              <a:t>Understanding check</a:t>
            </a:r>
          </a:p>
          <a:p xmlns:a="http://schemas.openxmlformats.org/drawingml/2006/main">
            <a:r>
              <a:t>Rewards are (1, 4), γ = 0.5. What is the two-step return?</a:t>
            </a:r>
          </a:p>
          <a:p xmlns:a="http://schemas.openxmlformats.org/drawingml/2006/main">
            <a:r>
              <a:t>A. 3</a:t>
            </a:r>
          </a:p>
          <a:p xmlns:a="http://schemas.openxmlformats.org/drawingml/2006/main">
            <a:r>
              <a:t>B. 1</a:t>
            </a:r>
          </a:p>
          <a:p xmlns:a="http://schemas.openxmlformats.org/drawingml/2006/main">
            <a:r>
              <a:t>C. 5</a:t>
            </a:r>
          </a:p>
          <a:p xmlns:a="http://schemas.openxmlformats.org/drawingml/2006/main">
            <a:r>
              <a:t>D. 2.5</a:t>
            </a:r>
          </a:p>
          <a:p xmlns:a="http://schemas.openxmlformats.org/drawingml/2006/main">
            <a:r>
              <a:t/>
            </a:r>
          </a:p>
          <a:p xmlns:a="http://schemas.openxmlformats.org/drawingml/2006/main">
            <a:r>
              <a:t>Answer: A. 3</a:t>
            </a:r>
          </a:p>
          <a:p xmlns:a="http://schemas.openxmlformats.org/drawingml/2006/main">
            <a:r>
              <a:t>The return is 1 + 0.5 × 4 = 3. Finite horizons permit γ = 1; infinite-horizon convergence needs appropriate assumptions, often γ &lt; 1.</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Reinforcement Learning: Foundations, Mannor, Mansour and Tamar</a:t>
            </a:r>
          </a:p>
          <a:p xmlns:a="http://schemas.openxmlformats.org/drawingml/2006/main">
            <a:r>
              <a:t>https://sites.google.com/view/rlfoundations/home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72: Policy</a:t>
            </a:r>
          </a:p>
          <a:p xmlns:a="http://schemas.openxmlformats.org/drawingml/2006/main">
            <a:r>
              <a:t/>
            </a:r>
          </a:p>
          <a:p xmlns:a="http://schemas.openxmlformats.org/drawingml/2006/main">
            <a:r>
              <a:t>Understanding check</a:t>
            </a:r>
          </a:p>
          <a:p xmlns:a="http://schemas.openxmlformats.org/drawingml/2006/main">
            <a:r>
              <a:t>What does a policy map a state to?</a:t>
            </a:r>
          </a:p>
          <a:p xmlns:a="http://schemas.openxmlformats.org/drawingml/2006/main">
            <a:r>
              <a:t>A. Necessarily the next state</a:t>
            </a:r>
          </a:p>
          <a:p xmlns:a="http://schemas.openxmlformats.org/drawingml/2006/main">
            <a:r>
              <a:t>B. A training loss value only</a:t>
            </a:r>
          </a:p>
          <a:p xmlns:a="http://schemas.openxmlformats.org/drawingml/2006/main">
            <a:r>
              <a:t>C. A matrix size only</a:t>
            </a:r>
          </a:p>
          <a:p xmlns:a="http://schemas.openxmlformats.org/drawingml/2006/main">
            <a:r>
              <a:t>D. An action or distribution over actions</a:t>
            </a:r>
          </a:p>
          <a:p xmlns:a="http://schemas.openxmlformats.org/drawingml/2006/main">
            <a:r>
              <a:t/>
            </a:r>
          </a:p>
          <a:p xmlns:a="http://schemas.openxmlformats.org/drawingml/2006/main">
            <a:r>
              <a:t>Answer: D. An action or distribution over actions</a:t>
            </a:r>
          </a:p>
          <a:p xmlns:a="http://schemas.openxmlformats.org/drawingml/2006/main">
            <a:r>
              <a:t>The policy chooses behavior. The environment transition rule determines what happens next, and the reward rule assigns the resulting feedback.</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Reinforcement Learning: Foundations, Mannor, Mansour and Tamar</a:t>
            </a:r>
          </a:p>
          <a:p xmlns:a="http://schemas.openxmlformats.org/drawingml/2006/main">
            <a:r>
              <a:t>https://sites.google.com/view/rlfoundations/home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73: Value function</a:t>
            </a:r>
          </a:p>
          <a:p xmlns:a="http://schemas.openxmlformats.org/drawingml/2006/main">
            <a:r>
              <a:t/>
            </a:r>
          </a:p>
          <a:p xmlns:a="http://schemas.openxmlformats.org/drawingml/2006/main">
            <a:r>
              <a:t>Understanding check</a:t>
            </a:r>
          </a:p>
          <a:p xmlns:a="http://schemas.openxmlformats.org/drawingml/2006/main">
            <a:r>
              <a:t>A state's possible returns are 4 and 8, equally likely. Its value?</a:t>
            </a:r>
          </a:p>
          <a:p xmlns:a="http://schemas.openxmlformats.org/drawingml/2006/main">
            <a:r>
              <a:t>A. 8</a:t>
            </a:r>
          </a:p>
          <a:p xmlns:a="http://schemas.openxmlformats.org/drawingml/2006/main">
            <a:r>
              <a:t>B. 6</a:t>
            </a:r>
          </a:p>
          <a:p xmlns:a="http://schemas.openxmlformats.org/drawingml/2006/main">
            <a:r>
              <a:t>C. 4</a:t>
            </a:r>
          </a:p>
          <a:p xmlns:a="http://schemas.openxmlformats.org/drawingml/2006/main">
            <a:r>
              <a:t>D. 12</a:t>
            </a:r>
          </a:p>
          <a:p xmlns:a="http://schemas.openxmlformats.org/drawingml/2006/main">
            <a:r>
              <a:t/>
            </a:r>
          </a:p>
          <a:p xmlns:a="http://schemas.openxmlformats.org/drawingml/2006/main">
            <a:r>
              <a:t>Answer: B. 6</a:t>
            </a:r>
          </a:p>
          <a:p xmlns:a="http://schemas.openxmlformats.org/drawingml/2006/main">
            <a:r>
              <a:t>Value is the expected return: (4 + 8)/2 = 6. It depends on the policy, reward definition, discounting, and environment.</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Reinforcement Learning: Foundations, Mannor, Mansour and Tamar</a:t>
            </a:r>
          </a:p>
          <a:p xmlns:a="http://schemas.openxmlformats.org/drawingml/2006/main">
            <a:r>
              <a:t>https://sites.google.com/view/rlfoundations/home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74: Bellman equation</a:t>
            </a:r>
          </a:p>
          <a:p xmlns:a="http://schemas.openxmlformats.org/drawingml/2006/main">
            <a:r>
              <a:t/>
            </a:r>
          </a:p>
          <a:p xmlns:a="http://schemas.openxmlformats.org/drawingml/2006/main">
            <a:r>
              <a:t>Understanding check</a:t>
            </a:r>
          </a:p>
          <a:p xmlns:a="http://schemas.openxmlformats.org/drawingml/2006/main">
            <a:r>
              <a:t>Reward 3, deterministic next value 4, γ = 0.5. Current value?</a:t>
            </a:r>
          </a:p>
          <a:p xmlns:a="http://schemas.openxmlformats.org/drawingml/2006/main">
            <a:r>
              <a:t>A. 3.5</a:t>
            </a:r>
          </a:p>
          <a:p xmlns:a="http://schemas.openxmlformats.org/drawingml/2006/main">
            <a:r>
              <a:t>B. 5</a:t>
            </a:r>
          </a:p>
          <a:p xmlns:a="http://schemas.openxmlformats.org/drawingml/2006/main">
            <a:r>
              <a:t>C. 7</a:t>
            </a:r>
          </a:p>
          <a:p xmlns:a="http://schemas.openxmlformats.org/drawingml/2006/main">
            <a:r>
              <a:t>D. 2</a:t>
            </a:r>
          </a:p>
          <a:p xmlns:a="http://schemas.openxmlformats.org/drawingml/2006/main">
            <a:r>
              <a:t/>
            </a:r>
          </a:p>
          <a:p xmlns:a="http://schemas.openxmlformats.org/drawingml/2006/main">
            <a:r>
              <a:t>Answer: B. 5</a:t>
            </a:r>
          </a:p>
          <a:p xmlns:a="http://schemas.openxmlformats.org/drawingml/2006/main">
            <a:r>
              <a:t>Compute 3 + 0.5 × 4 = 5. In stochastic settings, average over next states and actions under the specified policy.</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Reinforcement Learning: Foundations, Mannor, Mansour and Tamar</a:t>
            </a:r>
          </a:p>
          <a:p xmlns:a="http://schemas.openxmlformats.org/drawingml/2006/main">
            <a:r>
              <a:t>https://sites.google.com/view/rlfoundations/home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75: Exploration and exploitation</a:t>
            </a:r>
          </a:p>
          <a:p xmlns:a="http://schemas.openxmlformats.org/drawingml/2006/main">
            <a:r>
              <a:t/>
            </a:r>
          </a:p>
          <a:p xmlns:a="http://schemas.openxmlformats.org/drawingml/2006/main">
            <a:r>
              <a:t>Understanding check</a:t>
            </a:r>
          </a:p>
          <a:p xmlns:a="http://schemas.openxmlformats.org/drawingml/2006/main">
            <a:r>
              <a:t>Why try an action with a lower current value estimate?</a:t>
            </a:r>
          </a:p>
          <a:p xmlns:a="http://schemas.openxmlformats.org/drawingml/2006/main">
            <a:r>
              <a:t>A. Its uncertain true value might be better</a:t>
            </a:r>
          </a:p>
          <a:p xmlns:a="http://schemas.openxmlformats.org/drawingml/2006/main">
            <a:r>
              <a:t>B. Exploration guarantees immediate profit</a:t>
            </a:r>
          </a:p>
          <a:p xmlns:a="http://schemas.openxmlformats.org/drawingml/2006/main">
            <a:r>
              <a:t>C. Estimates never change</a:t>
            </a:r>
          </a:p>
          <a:p xmlns:a="http://schemas.openxmlformats.org/drawingml/2006/main">
            <a:r>
              <a:t>D. Lower estimates always mean higher true rewards</a:t>
            </a:r>
          </a:p>
          <a:p xmlns:a="http://schemas.openxmlformats.org/drawingml/2006/main">
            <a:r>
              <a:t/>
            </a:r>
          </a:p>
          <a:p xmlns:a="http://schemas.openxmlformats.org/drawingml/2006/main">
            <a:r>
              <a:t>Answer: A. Its uncertain true value might be better</a:t>
            </a:r>
          </a:p>
          <a:p xmlns:a="http://schemas.openxmlformats.org/drawingml/2006/main">
            <a:r>
              <a:t>Learning needs information about alternatives. Exploration should respect constraints. In ε-greedy, the random branch can sometimes select the currently best action too.</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Reinforcement Learning: Foundations, Mannor, Mansour and Tamar</a:t>
            </a:r>
          </a:p>
          <a:p xmlns:a="http://schemas.openxmlformats.org/drawingml/2006/main">
            <a:r>
              <a:t>https://sites.google.com/view/rlfoundations/home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76: Q-learning</a:t>
            </a:r>
          </a:p>
          <a:p xmlns:a="http://schemas.openxmlformats.org/drawingml/2006/main">
            <a:r>
              <a:t/>
            </a:r>
          </a:p>
          <a:p xmlns:a="http://schemas.openxmlformats.org/drawingml/2006/main">
            <a:r>
              <a:t>Understanding check</a:t>
            </a:r>
          </a:p>
          <a:p xmlns:a="http://schemas.openxmlformats.org/drawingml/2006/main">
            <a:r>
              <a:t>In that example, what is the update target before averaging?</a:t>
            </a:r>
          </a:p>
          <a:p xmlns:a="http://schemas.openxmlformats.org/drawingml/2006/main">
            <a:r>
              <a:t>A. 2.5</a:t>
            </a:r>
          </a:p>
          <a:p xmlns:a="http://schemas.openxmlformats.org/drawingml/2006/main">
            <a:r>
              <a:t>B. 4</a:t>
            </a:r>
          </a:p>
          <a:p xmlns:a="http://schemas.openxmlformats.org/drawingml/2006/main">
            <a:r>
              <a:t>C. 6</a:t>
            </a:r>
          </a:p>
          <a:p xmlns:a="http://schemas.openxmlformats.org/drawingml/2006/main">
            <a:r>
              <a:t>D. 1</a:t>
            </a:r>
          </a:p>
          <a:p xmlns:a="http://schemas.openxmlformats.org/drawingml/2006/main">
            <a:r>
              <a:t/>
            </a:r>
          </a:p>
          <a:p xmlns:a="http://schemas.openxmlformats.org/drawingml/2006/main">
            <a:r>
              <a:t>Answer: B. 4</a:t>
            </a:r>
          </a:p>
          <a:p xmlns:a="http://schemas.openxmlformats.org/drawingml/2006/main">
            <a:r>
              <a:t>The target is 1 + 0.5 × 6 = 4. The updated estimate is 2.5. A deep Q-network represents Q with a neural network instead of a table.</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Reinforcement Learning: Foundations, Mannor, Mansour and Tamar</a:t>
            </a:r>
          </a:p>
          <a:p xmlns:a="http://schemas.openxmlformats.org/drawingml/2006/main">
            <a:r>
              <a:t>https://sites.google.com/view/rlfoundations/home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77: Policy gradient</a:t>
            </a:r>
          </a:p>
          <a:p xmlns:a="http://schemas.openxmlformats.org/drawingml/2006/main">
            <a:r>
              <a:t/>
            </a:r>
          </a:p>
          <a:p xmlns:a="http://schemas.openxmlformats.org/drawingml/2006/main">
            <a:r>
              <a:t>Understanding check</a:t>
            </a:r>
          </a:p>
          <a:p xmlns:a="http://schemas.openxmlformats.org/drawingml/2006/main">
            <a:r>
              <a:t>In this example, what is expected reward at p = 0.8?</a:t>
            </a:r>
          </a:p>
          <a:p xmlns:a="http://schemas.openxmlformats.org/drawingml/2006/main">
            <a:r>
              <a:t>A. 4</a:t>
            </a:r>
          </a:p>
          <a:p xmlns:a="http://schemas.openxmlformats.org/drawingml/2006/main">
            <a:r>
              <a:t>B. 3.4</a:t>
            </a:r>
          </a:p>
          <a:p xmlns:a="http://schemas.openxmlformats.org/drawingml/2006/main">
            <a:r>
              <a:t>C. 2.5</a:t>
            </a:r>
          </a:p>
          <a:p xmlns:a="http://schemas.openxmlformats.org/drawingml/2006/main">
            <a:r>
              <a:t>D. 0.8</a:t>
            </a:r>
          </a:p>
          <a:p xmlns:a="http://schemas.openxmlformats.org/drawingml/2006/main">
            <a:r>
              <a:t/>
            </a:r>
          </a:p>
          <a:p xmlns:a="http://schemas.openxmlformats.org/drawingml/2006/main">
            <a:r>
              <a:t>Answer: B. 3.4</a:t>
            </a:r>
          </a:p>
          <a:p xmlns:a="http://schemas.openxmlformats.org/drawingml/2006/main">
            <a:r>
              <a:t>Compute 0.8×4 + 0.2×1 = 3.4, up from 2.5 when p = 0.5. Here rewards are known, so the derivative is exactly 3. In real RL, gradients are often estimated from sampled experience. A one-step estimator is r times the gradient of log πθ(a). A valid policy must keep probabilities between 0 and 1 and summing to 1.</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Reinforcement Learning: Foundations, Mannor, Mansour and Tamar</a:t>
            </a:r>
          </a:p>
          <a:p xmlns:a="http://schemas.openxmlformats.org/drawingml/2006/main">
            <a:r>
              <a:t>https://sites.google.com/view/rlfoundations/home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78: Model-based RL</a:t>
            </a:r>
          </a:p>
          <a:p xmlns:a="http://schemas.openxmlformats.org/drawingml/2006/main">
            <a:r>
              <a:t/>
            </a:r>
          </a:p>
          <a:p xmlns:a="http://schemas.openxmlformats.org/drawingml/2006/main">
            <a:r>
              <a:t>Understanding check</a:t>
            </a:r>
          </a:p>
          <a:p xmlns:a="http://schemas.openxmlformats.org/drawingml/2006/main">
            <a:r>
              <a:t>What is a central risk of planning with a learned model?</a:t>
            </a:r>
          </a:p>
          <a:p xmlns:a="http://schemas.openxmlformats.org/drawingml/2006/main">
            <a:r>
              <a:t>A. Model errors can compound across predicted steps</a:t>
            </a:r>
          </a:p>
          <a:p xmlns:a="http://schemas.openxmlformats.org/drawingml/2006/main">
            <a:r>
              <a:t>B. More imagined steps always improve accuracy</a:t>
            </a:r>
          </a:p>
          <a:p xmlns:a="http://schemas.openxmlformats.org/drawingml/2006/main">
            <a:r>
              <a:t>C. Planning removes the need for rewards</a:t>
            </a:r>
          </a:p>
          <a:p xmlns:a="http://schemas.openxmlformats.org/drawingml/2006/main">
            <a:r>
              <a:t>D. Simulators always exactly match reality</a:t>
            </a:r>
          </a:p>
          <a:p xmlns:a="http://schemas.openxmlformats.org/drawingml/2006/main">
            <a:r>
              <a:t/>
            </a:r>
          </a:p>
          <a:p xmlns:a="http://schemas.openxmlformats.org/drawingml/2006/main">
            <a:r>
              <a:t>Answer: A. Model errors can compound across predicted steps</a:t>
            </a:r>
          </a:p>
          <a:p xmlns:a="http://schemas.openxmlformats.org/drawingml/2006/main">
            <a:r>
              <a:t>Plans can exploit model mistakes. Test the model in the relevant operating range and measure real outcomes. A mechanistic model and learned residual can complement each other.</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Reinforcement Learning: Foundations, Mannor, Mansour and Tamar</a:t>
            </a:r>
          </a:p>
          <a:p xmlns:a="http://schemas.openxmlformats.org/drawingml/2006/main">
            <a:r>
              <a:t>https://sites.google.com/view/rlfoundations/home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79: Safety constraint</a:t>
            </a:r>
          </a:p>
          <a:p xmlns:a="http://schemas.openxmlformats.org/drawingml/2006/main">
            <a:r>
              <a:t/>
            </a:r>
          </a:p>
          <a:p xmlns:a="http://schemas.openxmlformats.org/drawingml/2006/main">
            <a:r>
              <a:t>Understanding check</a:t>
            </a:r>
          </a:p>
          <a:p xmlns:a="http://schemas.openxmlformats.org/drawingml/2006/main">
            <a:r>
              <a:t>A proposal violates a hard constraint but has the highest predicted reward. What should happen?</a:t>
            </a:r>
          </a:p>
          <a:p xmlns:a="http://schemas.openxmlformats.org/drawingml/2006/main">
            <a:r>
              <a:t>A. Execute it because reward is higher</a:t>
            </a:r>
          </a:p>
          <a:p xmlns:a="http://schemas.openxmlformats.org/drawingml/2006/main">
            <a:r>
              <a:t>B. Increase the text confidence</a:t>
            </a:r>
          </a:p>
          <a:p xmlns:a="http://schemas.openxmlformats.org/drawingml/2006/main">
            <a:r>
              <a:t>C. Reject or replace it with a permitted action</a:t>
            </a:r>
          </a:p>
          <a:p xmlns:a="http://schemas.openxmlformats.org/drawingml/2006/main">
            <a:r>
              <a:t>D. Hide the violation in the explanation</a:t>
            </a:r>
          </a:p>
          <a:p xmlns:a="http://schemas.openxmlformats.org/drawingml/2006/main">
            <a:r>
              <a:t/>
            </a:r>
          </a:p>
          <a:p xmlns:a="http://schemas.openxmlformats.org/drawingml/2006/main">
            <a:r>
              <a:t>Answer: C. Reject or replace it with a permitted action</a:t>
            </a:r>
          </a:p>
          <a:p xmlns:a="http://schemas.openxmlformats.org/drawingml/2006/main">
            <a:r>
              <a:t>Hard constraints differ from reward penalties. A local controller and independent checks enforce limits; robustness depends on model error, measurement quality, and implementation.</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Dynamic Sensing, Richman and Mannor, 2015</a:t>
            </a:r>
          </a:p>
          <a:p xmlns:a="http://schemas.openxmlformats.org/drawingml/2006/main">
            <a:r>
              <a:t>https://proceedings.mlr.press/v37/richman15.html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80: Model predictive control</a:t>
            </a:r>
          </a:p>
          <a:p xmlns:a="http://schemas.openxmlformats.org/drawingml/2006/main">
            <a:r>
              <a:t/>
            </a:r>
          </a:p>
          <a:p xmlns:a="http://schemas.openxmlformats.org/drawingml/2006/main">
            <a:r>
              <a:t>Understanding check</a:t>
            </a:r>
          </a:p>
          <a:p xmlns:a="http://schemas.openxmlformats.org/drawingml/2006/main">
            <a:r>
              <a:t>How many actions from a newly solved MPC plan are typically applied before replanning?</a:t>
            </a:r>
          </a:p>
          <a:p xmlns:a="http://schemas.openxmlformats.org/drawingml/2006/main">
            <a:r>
              <a:t>A. Every planned action without feedback</a:t>
            </a:r>
          </a:p>
          <a:p xmlns:a="http://schemas.openxmlformats.org/drawingml/2006/main">
            <a:r>
              <a:t>B. None, always</a:t>
            </a:r>
          </a:p>
          <a:p xmlns:a="http://schemas.openxmlformats.org/drawingml/2006/main">
            <a:r>
              <a:t>C. Only the final action</a:t>
            </a:r>
          </a:p>
          <a:p xmlns:a="http://schemas.openxmlformats.org/drawingml/2006/main">
            <a:r>
              <a:t>D. The first action</a:t>
            </a:r>
          </a:p>
          <a:p xmlns:a="http://schemas.openxmlformats.org/drawingml/2006/main">
            <a:r>
              <a:t/>
            </a:r>
          </a:p>
          <a:p xmlns:a="http://schemas.openxmlformats.org/drawingml/2006/main">
            <a:r>
              <a:t>Answer: D. The first action</a:t>
            </a:r>
          </a:p>
          <a:p xmlns:a="http://schemas.openxmlformats.org/drawingml/2006/main">
            <a:r>
              <a:t>Receding-horizon control uses fresh feedback. MPC is a control method and does not inherently require reinforcement learning; the model can be physical or learned.</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81: RLHF</a:t>
            </a:r>
          </a:p>
          <a:p xmlns:a="http://schemas.openxmlformats.org/drawingml/2006/main">
            <a:r>
              <a:t/>
            </a:r>
          </a:p>
          <a:p xmlns:a="http://schemas.openxmlformats.org/drawingml/2006/main">
            <a:r>
              <a:t>Understanding check</a:t>
            </a:r>
          </a:p>
          <a:p xmlns:a="http://schemas.openxmlformats.org/drawingml/2006/main">
            <a:r>
              <a:t>Does optimizing a human-preference reward guarantee factual truth?</a:t>
            </a:r>
          </a:p>
          <a:p xmlns:a="http://schemas.openxmlformats.org/drawingml/2006/main">
            <a:r>
              <a:t>A. Only if the answer is longer</a:t>
            </a:r>
          </a:p>
          <a:p xmlns:a="http://schemas.openxmlformats.org/drawingml/2006/main">
            <a:r>
              <a:t>B. Yes, a reward model verifies physics</a:t>
            </a:r>
          </a:p>
          <a:p xmlns:a="http://schemas.openxmlformats.org/drawingml/2006/main">
            <a:r>
              <a:t>C. No, preference and truth can diverge</a:t>
            </a:r>
          </a:p>
          <a:p xmlns:a="http://schemas.openxmlformats.org/drawingml/2006/main">
            <a:r>
              <a:t>D. Yes, every preferred answer is true</a:t>
            </a:r>
          </a:p>
          <a:p xmlns:a="http://schemas.openxmlformats.org/drawingml/2006/main">
            <a:r>
              <a:t/>
            </a:r>
          </a:p>
          <a:p xmlns:a="http://schemas.openxmlformats.org/drawingml/2006/main">
            <a:r>
              <a:t>Answer: C. No, preference and truth can diverge</a:t>
            </a:r>
          </a:p>
          <a:p xmlns:a="http://schemas.openxmlformats.org/drawingml/2006/main">
            <a:r>
              <a:t>Human preference and factual truth can diverge. The displayed objective illustrates reward maximization only. Common RLHF systems also constrain departure from a reference policy and often begin with supervised fine-tuning. The reward model estimates human preferences; it does not establish scientific truth.</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Training language models to follow instructions with human feedback, Ouyang et al., 2022</a:t>
            </a:r>
          </a:p>
          <a:p xmlns:a="http://schemas.openxmlformats.org/drawingml/2006/main">
            <a:r>
              <a:t>https://arxiv.org/abs/2203.02155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82: CPU</a:t>
            </a:r>
          </a:p>
          <a:p xmlns:a="http://schemas.openxmlformats.org/drawingml/2006/main">
            <a:r>
              <a:t/>
            </a:r>
          </a:p>
          <a:p xmlns:a="http://schemas.openxmlformats.org/drawingml/2006/main">
            <a:r>
              <a:t>Understanding check</a:t>
            </a:r>
          </a:p>
          <a:p xmlns:a="http://schemas.openxmlformats.org/drawingml/2006/main">
            <a:r>
              <a:t>Which statement best describes a CPU?</a:t>
            </a:r>
          </a:p>
          <a:p xmlns:a="http://schemas.openxmlformats.org/drawingml/2006/main">
            <a:r>
              <a:t>A. A device that cannot do matrix multiplication</a:t>
            </a:r>
          </a:p>
          <a:p xmlns:a="http://schemas.openxmlformats.org/drawingml/2006/main">
            <a:r>
              <a:t>B. A synonym for a GPU</a:t>
            </a:r>
          </a:p>
          <a:p xmlns:a="http://schemas.openxmlformats.org/drawingml/2006/main">
            <a:r>
              <a:t>C. A general-purpose processor that also coordinates work</a:t>
            </a:r>
          </a:p>
          <a:p xmlns:a="http://schemas.openxmlformats.org/drawingml/2006/main">
            <a:r>
              <a:t>D. A disk for permanent storage only</a:t>
            </a:r>
          </a:p>
          <a:p xmlns:a="http://schemas.openxmlformats.org/drawingml/2006/main">
            <a:r>
              <a:t/>
            </a:r>
          </a:p>
          <a:p xmlns:a="http://schemas.openxmlformats.org/drawingml/2006/main">
            <a:r>
              <a:t>Answer: C. A general-purpose processor that also coordinates work</a:t>
            </a:r>
          </a:p>
          <a:p xmlns:a="http://schemas.openxmlformats.org/drawingml/2006/main">
            <a:r>
              <a:t>CPUs can perform matrix operations and parallel work. Their strengths include flexible control flow and low-latency general tasks. Actual speed also depends on memory and instructions.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83: GPU</a:t>
            </a:r>
          </a:p>
          <a:p xmlns:a="http://schemas.openxmlformats.org/drawingml/2006/main">
            <a:r>
              <a:t/>
            </a:r>
          </a:p>
          <a:p xmlns:a="http://schemas.openxmlformats.org/drawingml/2006/main">
            <a:r>
              <a:t>Understanding check</a:t>
            </a:r>
          </a:p>
          <a:p xmlns:a="http://schemas.openxmlformats.org/drawingml/2006/main">
            <a:r>
              <a:t>Which workload is especially suitable for a GPU?</a:t>
            </a:r>
          </a:p>
          <a:p xmlns:a="http://schemas.openxmlformats.org/drawingml/2006/main">
            <a:r>
              <a:t>A. One tiny operation with heavy transfer overhead</a:t>
            </a:r>
          </a:p>
          <a:p xmlns:a="http://schemas.openxmlformats.org/drawingml/2006/main">
            <a:r>
              <a:t>B. A task with no parallel work at all</a:t>
            </a:r>
          </a:p>
          <a:p xmlns:a="http://schemas.openxmlformats.org/drawingml/2006/main">
            <a:r>
              <a:t>C. Many similar, independent numerical operations</a:t>
            </a:r>
          </a:p>
          <a:p xmlns:a="http://schemas.openxmlformats.org/drawingml/2006/main">
            <a:r>
              <a:t>D. Permanent storage with no computation</a:t>
            </a:r>
          </a:p>
          <a:p xmlns:a="http://schemas.openxmlformats.org/drawingml/2006/main">
            <a:r>
              <a:t/>
            </a:r>
          </a:p>
          <a:p xmlns:a="http://schemas.openxmlformats.org/drawingml/2006/main">
            <a:r>
              <a:t>Answer: C. Many similar, independent numerical operations</a:t>
            </a:r>
          </a:p>
          <a:p xmlns:a="http://schemas.openxmlformats.org/drawingml/2006/main">
            <a:r>
              <a:t>GPUs excel when enough regular work amortizes coordination and transfer costs. More parallel workers do not automatically accelerate a small or sequential problem.</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84: Tensor core</a:t>
            </a:r>
          </a:p>
          <a:p xmlns:a="http://schemas.openxmlformats.org/drawingml/2006/main">
            <a:r>
              <a:t/>
            </a:r>
          </a:p>
          <a:p xmlns:a="http://schemas.openxmlformats.org/drawingml/2006/main">
            <a:r>
              <a:t>Understanding check</a:t>
            </a:r>
          </a:p>
          <a:p xmlns:a="http://schemas.openxmlformats.org/drawingml/2006/main">
            <a:r>
              <a:t>For scalar A = 2, B = 3, C = 4, what does AB + C produce?</a:t>
            </a:r>
          </a:p>
          <a:p xmlns:a="http://schemas.openxmlformats.org/drawingml/2006/main">
            <a:r>
              <a:t>A. 24</a:t>
            </a:r>
          </a:p>
          <a:p xmlns:a="http://schemas.openxmlformats.org/drawingml/2006/main">
            <a:r>
              <a:t>B. 10</a:t>
            </a:r>
          </a:p>
          <a:p xmlns:a="http://schemas.openxmlformats.org/drawingml/2006/main">
            <a:r>
              <a:t>C. 14</a:t>
            </a:r>
          </a:p>
          <a:p xmlns:a="http://schemas.openxmlformats.org/drawingml/2006/main">
            <a:r>
              <a:t>D. 9</a:t>
            </a:r>
          </a:p>
          <a:p xmlns:a="http://schemas.openxmlformats.org/drawingml/2006/main">
            <a:r>
              <a:t/>
            </a:r>
          </a:p>
          <a:p xmlns:a="http://schemas.openxmlformats.org/drawingml/2006/main">
            <a:r>
              <a:t>Answer: B. 10</a:t>
            </a:r>
          </a:p>
          <a:p xmlns:a="http://schemas.openxmlformats.org/drawingml/2006/main">
            <a:r>
              <a:t>Multiply then add: 2 × 3 + 4 = 10. The toy scalar example illustrates the operation; real Tensor Cores process supported matrix tiles and precisions.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H100 specifications, NVIDIA</a:t>
            </a:r>
          </a:p>
          <a:p xmlns:a="http://schemas.openxmlformats.org/drawingml/2006/main">
            <a:r>
              <a:t>https://www.nvidia.com/en-us/data-center/h100/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85: CUDA</a:t>
            </a:r>
          </a:p>
          <a:p xmlns:a="http://schemas.openxmlformats.org/drawingml/2006/main">
            <a:r>
              <a:t/>
            </a:r>
          </a:p>
          <a:p xmlns:a="http://schemas.openxmlformats.org/drawingml/2006/main">
            <a:r>
              <a:t>Understanding check</a:t>
            </a:r>
          </a:p>
          <a:p xmlns:a="http://schemas.openxmlformats.org/drawingml/2006/main">
            <a:r>
              <a:t>A CUDA launch has 8 blocks of 128 threads. How many threads launch?</a:t>
            </a:r>
          </a:p>
          <a:p xmlns:a="http://schemas.openxmlformats.org/drawingml/2006/main">
            <a:r>
              <a:t>A. 136</a:t>
            </a:r>
          </a:p>
          <a:p xmlns:a="http://schemas.openxmlformats.org/drawingml/2006/main">
            <a:r>
              <a:t>B. 1,024</a:t>
            </a:r>
          </a:p>
          <a:p xmlns:a="http://schemas.openxmlformats.org/drawingml/2006/main">
            <a:r>
              <a:t>C. 16,384</a:t>
            </a:r>
          </a:p>
          <a:p xmlns:a="http://schemas.openxmlformats.org/drawingml/2006/main">
            <a:r>
              <a:t>D. 8</a:t>
            </a:r>
          </a:p>
          <a:p xmlns:a="http://schemas.openxmlformats.org/drawingml/2006/main">
            <a:r>
              <a:t/>
            </a:r>
          </a:p>
          <a:p xmlns:a="http://schemas.openxmlformats.org/drawingml/2006/main">
            <a:r>
              <a:t>Answer: B. 1,024</a:t>
            </a:r>
          </a:p>
          <a:p xmlns:a="http://schemas.openxmlformats.org/drawingml/2006/main">
            <a:r>
              <a:t>Multiply blocks by threads per block. Threads are logical workers scheduled on hardware, not a promise that all execute simultaneously. CUDA is software, not a chip.</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CUDA C++ Programming Guide, NVIDIA</a:t>
            </a:r>
          </a:p>
          <a:p xmlns:a="http://schemas.openxmlformats.org/drawingml/2006/main">
            <a:r>
              <a:t>https://docs.nvidia.com/cuda/cuda-c-programming-guide/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86: Memory capacity</a:t>
            </a:r>
          </a:p>
          <a:p xmlns:a="http://schemas.openxmlformats.org/drawingml/2006/main">
            <a:r>
              <a:t/>
            </a:r>
          </a:p>
          <a:p xmlns:a="http://schemas.openxmlformats.org/drawingml/2006/main">
            <a:r>
              <a:t>Understanding check</a:t>
            </a:r>
          </a:p>
          <a:p xmlns:a="http://schemas.openxmlformats.org/drawingml/2006/main">
            <a:r>
              <a:t>Can a 2 GB device necessarily train a 1-billion-parameter model at 16 bits?</a:t>
            </a:r>
          </a:p>
          <a:p xmlns:a="http://schemas.openxmlformats.org/drawingml/2006/main">
            <a:r>
              <a:t>A. Yes, if the model has a short name</a:t>
            </a:r>
          </a:p>
          <a:p xmlns:a="http://schemas.openxmlformats.org/drawingml/2006/main">
            <a:r>
              <a:t>B. No, training also needs gradients, activations, and optimizer state</a:t>
            </a:r>
          </a:p>
          <a:p xmlns:a="http://schemas.openxmlformats.org/drawingml/2006/main">
            <a:r>
              <a:t>C. No, each bit always takes one byte</a:t>
            </a:r>
          </a:p>
          <a:p xmlns:a="http://schemas.openxmlformats.org/drawingml/2006/main">
            <a:r>
              <a:t>D. Yes, weights are the only memory cost</a:t>
            </a:r>
          </a:p>
          <a:p xmlns:a="http://schemas.openxmlformats.org/drawingml/2006/main">
            <a:r>
              <a:t/>
            </a:r>
          </a:p>
          <a:p xmlns:a="http://schemas.openxmlformats.org/drawingml/2006/main">
            <a:r>
              <a:t>Answer: B. No, training also needs gradients, activations, and optimizer state</a:t>
            </a:r>
          </a:p>
          <a:p xmlns:a="http://schemas.openxmlformats.org/drawingml/2006/main">
            <a:r>
              <a:t>Two GB is only the weight storage estimate in decimal units. Training and inference have additional memory costs; autoregressive inference also caches attention keys and values.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87: Memory bandwidth</a:t>
            </a:r>
          </a:p>
          <a:p xmlns:a="http://schemas.openxmlformats.org/drawingml/2006/main">
            <a:r>
              <a:t/>
            </a:r>
          </a:p>
          <a:p xmlns:a="http://schemas.openxmlformats.org/drawingml/2006/main">
            <a:r>
              <a:t>Understanding check</a:t>
            </a:r>
          </a:p>
          <a:p xmlns:a="http://schemas.openxmlformats.org/drawingml/2006/main">
            <a:r>
              <a:t>At an ideal 200 GB/second, how long does moving 20 GB take?</a:t>
            </a:r>
          </a:p>
          <a:p xmlns:a="http://schemas.openxmlformats.org/drawingml/2006/main">
            <a:r>
              <a:t>A. 0.01 seconds</a:t>
            </a:r>
          </a:p>
          <a:p xmlns:a="http://schemas.openxmlformats.org/drawingml/2006/main">
            <a:r>
              <a:t>B. 10 seconds</a:t>
            </a:r>
          </a:p>
          <a:p xmlns:a="http://schemas.openxmlformats.org/drawingml/2006/main">
            <a:r>
              <a:t>C. 0.1 seconds</a:t>
            </a:r>
          </a:p>
          <a:p xmlns:a="http://schemas.openxmlformats.org/drawingml/2006/main">
            <a:r>
              <a:t>D. 4,000 seconds</a:t>
            </a:r>
          </a:p>
          <a:p xmlns:a="http://schemas.openxmlformats.org/drawingml/2006/main">
            <a:r>
              <a:t/>
            </a:r>
          </a:p>
          <a:p xmlns:a="http://schemas.openxmlformats.org/drawingml/2006/main">
            <a:r>
              <a:t>Answer: C. 0.1 seconds</a:t>
            </a:r>
          </a:p>
          <a:p xmlns:a="http://schemas.openxmlformats.org/drawingml/2006/main">
            <a:r>
              <a:t>Divide data by rate: 20/200 = 0.1. Peak bandwidth gives a lower bound on transfer time; effective rates and repeated transfers determine real performance.</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88: H100</a:t>
            </a:r>
          </a:p>
          <a:p xmlns:a="http://schemas.openxmlformats.org/drawingml/2006/main">
            <a:r>
              <a:t/>
            </a:r>
          </a:p>
          <a:p xmlns:a="http://schemas.openxmlformats.org/drawingml/2006/main">
            <a:r>
              <a:t>Understanding check</a:t>
            </a:r>
          </a:p>
          <a:p xmlns:a="http://schemas.openxmlformats.org/drawingml/2006/main">
            <a:r>
              <a:t>Does 80 GB at 2 bytes/value prove a 40-billion-parameter model will run?</a:t>
            </a:r>
          </a:p>
          <a:p xmlns:a="http://schemas.openxmlformats.org/drawingml/2006/main">
            <a:r>
              <a:t>A. No, 80 divided by 2 is 20</a:t>
            </a:r>
          </a:p>
          <a:p xmlns:a="http://schemas.openxmlformats.org/drawingml/2006/main">
            <a:r>
              <a:t>B. Yes, including all training state</a:t>
            </a:r>
          </a:p>
          <a:p xmlns:a="http://schemas.openxmlformats.org/drawingml/2006/main">
            <a:r>
              <a:t>C. No, execution requires additional memory</a:t>
            </a:r>
          </a:p>
          <a:p xmlns:a="http://schemas.openxmlformats.org/drawingml/2006/main">
            <a:r>
              <a:t>D. Yes, with no exceptions</a:t>
            </a:r>
          </a:p>
          <a:p xmlns:a="http://schemas.openxmlformats.org/drawingml/2006/main">
            <a:r>
              <a:t/>
            </a:r>
          </a:p>
          <a:p xmlns:a="http://schemas.openxmlformats.org/drawingml/2006/main">
            <a:r>
              <a:t>Answer: C. No, execution requires additional memory</a:t>
            </a:r>
          </a:p>
          <a:p xmlns:a="http://schemas.openxmlformats.org/drawingml/2006/main">
            <a:r>
              <a:t>The estimate concerns weights alone. H100 is one specific GPU family, not a generic synonym for GPU or a claim about the newest hardware. Capacities vary by variant.</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H100 specifications, NVIDIA</a:t>
            </a:r>
          </a:p>
          <a:p xmlns:a="http://schemas.openxmlformats.org/drawingml/2006/main">
            <a:r>
              <a:t>https://www.nvidia.com/en-us/data-center/h100/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89: Compute cluster</a:t>
            </a:r>
          </a:p>
          <a:p xmlns:a="http://schemas.openxmlformats.org/drawingml/2006/main">
            <a:r>
              <a:t/>
            </a:r>
          </a:p>
          <a:p xmlns:a="http://schemas.openxmlformats.org/drawingml/2006/main">
            <a:r>
              <a:t>Understanding check</a:t>
            </a:r>
          </a:p>
          <a:p xmlns:a="http://schemas.openxmlformats.org/drawingml/2006/main">
            <a:r>
              <a:t>Why might eight GPUs deliver less than eightfold speedup?</a:t>
            </a:r>
          </a:p>
          <a:p xmlns:a="http://schemas.openxmlformats.org/drawingml/2006/main">
            <a:r>
              <a:t>A. Each GPU must permanently store all data</a:t>
            </a:r>
          </a:p>
          <a:p xmlns:a="http://schemas.openxmlformats.org/drawingml/2006/main">
            <a:r>
              <a:t>B. More GPUs always slow every task</a:t>
            </a:r>
          </a:p>
          <a:p xmlns:a="http://schemas.openxmlformats.org/drawingml/2006/main">
            <a:r>
              <a:t>C. GPUs cannot communicate</a:t>
            </a:r>
          </a:p>
          <a:p xmlns:a="http://schemas.openxmlformats.org/drawingml/2006/main">
            <a:r>
              <a:t>D. Communication, synchronization, and serial work consume time</a:t>
            </a:r>
          </a:p>
          <a:p xmlns:a="http://schemas.openxmlformats.org/drawingml/2006/main">
            <a:r>
              <a:t/>
            </a:r>
          </a:p>
          <a:p xmlns:a="http://schemas.openxmlformats.org/drawingml/2006/main">
            <a:r>
              <a:t>Answer: D. Communication, synchronization, and serial work consume time</a:t>
            </a:r>
          </a:p>
          <a:p xmlns:a="http://schemas.openxmlformats.org/drawingml/2006/main">
            <a:r>
              <a:t>Data parallelism replicates a model and combines gradients; model parallelism splits model computation. Network links and synchronization can become the bottleneck, and memory does not automatically become one shared pool.</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CUDA C++ Programming Guide, NVIDIA</a:t>
            </a:r>
          </a:p>
          <a:p xmlns:a="http://schemas.openxmlformats.org/drawingml/2006/main">
            <a:r>
              <a:t>https://docs.nvidia.com/cuda/cuda-c-programming-guide/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90: TSMC and chip fabrication</a:t>
            </a:r>
          </a:p>
          <a:p xmlns:a="http://schemas.openxmlformats.org/drawingml/2006/main">
            <a:r>
              <a:t/>
            </a:r>
          </a:p>
          <a:p xmlns:a="http://schemas.openxmlformats.org/drawingml/2006/main">
            <a:r>
              <a:t>Understanding check</a:t>
            </a:r>
          </a:p>
          <a:p xmlns:a="http://schemas.openxmlformats.org/drawingml/2006/main">
            <a:r>
              <a:t>Which role best describes TSMC's foundry business?</a:t>
            </a:r>
          </a:p>
          <a:p xmlns:a="http://schemas.openxmlformats.org/drawingml/2006/main">
            <a:r>
              <a:t>A. Creating every neural network's training labels</a:t>
            </a:r>
          </a:p>
          <a:p xmlns:a="http://schemas.openxmlformats.org/drawingml/2006/main">
            <a:r>
              <a:t>B. Owning every GPU program</a:t>
            </a:r>
          </a:p>
          <a:p xmlns:a="http://schemas.openxmlformats.org/drawingml/2006/main">
            <a:r>
              <a:t>C. Replacing CUDA with English instructions</a:t>
            </a:r>
          </a:p>
          <a:p xmlns:a="http://schemas.openxmlformats.org/drawingml/2006/main">
            <a:r>
              <a:t>D. Manufacturing customers' chip designs</a:t>
            </a:r>
          </a:p>
          <a:p xmlns:a="http://schemas.openxmlformats.org/drawingml/2006/main">
            <a:r>
              <a:t/>
            </a:r>
          </a:p>
          <a:p xmlns:a="http://schemas.openxmlformats.org/drawingml/2006/main">
            <a:r>
              <a:t>Answer: D. Manufacturing customers' chip designs</a:t>
            </a:r>
          </a:p>
          <a:p xmlns:a="http://schemas.openxmlformats.org/drawingml/2006/main">
            <a:r>
              <a:t>Chip design, fabrication, packaging, memory production, and software are distinct parts of the computing supply chain. Yield affects usable output and cost.</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About TSMC, Taiwan Semiconductor Manufacturing Company</a:t>
            </a:r>
          </a:p>
          <a:p xmlns:a="http://schemas.openxmlformats.org/drawingml/2006/main">
            <a:r>
              <a:t>https://www.tsmc.com/english/aboutTSMC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91: Well log and LAS</a:t>
            </a:r>
          </a:p>
          <a:p xmlns:a="http://schemas.openxmlformats.org/drawingml/2006/main">
            <a:r>
              <a:t/>
            </a:r>
          </a:p>
          <a:p xmlns:a="http://schemas.openxmlformats.org/drawingml/2006/main">
            <a:r>
              <a:t>Understanding check</a:t>
            </a:r>
          </a:p>
          <a:p xmlns:a="http://schemas.openxmlformats.org/drawingml/2006/main">
            <a:r>
              <a:t>In a typical depth-indexed well log, what orders the measurements?</a:t>
            </a:r>
          </a:p>
          <a:p xmlns:a="http://schemas.openxmlformats.org/drawingml/2006/main">
            <a:r>
              <a:t>A. The number of GPUs</a:t>
            </a:r>
          </a:p>
          <a:p xmlns:a="http://schemas.openxmlformats.org/drawingml/2006/main">
            <a:r>
              <a:t>B. An arbitrary shuffled row number</a:t>
            </a:r>
          </a:p>
          <a:p xmlns:a="http://schemas.openxmlformats.org/drawingml/2006/main">
            <a:r>
              <a:t>C. The alphabetic order of rock names</a:t>
            </a:r>
          </a:p>
          <a:p xmlns:a="http://schemas.openxmlformats.org/drawingml/2006/main">
            <a:r>
              <a:t>D. Depth</a:t>
            </a:r>
          </a:p>
          <a:p xmlns:a="http://schemas.openxmlformats.org/drawingml/2006/main">
            <a:r>
              <a:t/>
            </a:r>
          </a:p>
          <a:p xmlns:a="http://schemas.openxmlformats.org/drawingml/2006/main">
            <a:r>
              <a:t>Answer: D. Depth</a:t>
            </a:r>
          </a:p>
          <a:p xmlns:a="http://schemas.openxmlformats.org/drawingml/2006/main">
            <a:r>
              <a:t>Depth orders this log’s measurements. LAS here means Log ASCII Standard, not the unrelated point-cloud LAS format. Curves may measure temperature, density, gamma-ray response or other quantities, each with its own units. The Australian dataset remains a project choice.</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LAS format, U.S. Geological Survey</a:t>
            </a:r>
          </a:p>
          <a:p xmlns:a="http://schemas.openxmlformats.org/drawingml/2006/main">
            <a:r>
              <a:t>https://www.usgs.gov/programs/national-geological-and-geophysical-data-preservation-program/las-format</a:t>
            </a:r>
          </a:p>
          <a:p xmlns:a="http://schemas.openxmlformats.org/drawingml/2006/main">
            <a:r>
              <a:t/>
            </a:r>
          </a:p>
          <a:p xmlns:a="http://schemas.openxmlformats.org/drawingml/2006/main">
            <a:r>
              <a:t>Australian National Offshore Wells Data Collection, Geoscience Australia</a:t>
            </a:r>
          </a:p>
          <a:p xmlns:a="http://schemas.openxmlformats.org/drawingml/2006/main">
            <a:r>
              <a:t>https://ecat.ga.gov.au/geonetwork/srv/api/records/afcaf460-6994-40f8-bc24-4a87c30d82ec?language=eng</a:t>
            </a:r>
          </a:p>
          <a:p xmlns:a="http://schemas.openxmlformats.org/drawingml/2006/main">
            <a:r>
              <a:t/>
            </a:r>
          </a:p>
          <a:p xmlns:a="http://schemas.openxmlformats.org/drawingml/2006/main">
            <a:r>
              <a:t>NOPIMS, Geoscience Australia</a:t>
            </a:r>
          </a:p>
          <a:p xmlns:a="http://schemas.openxmlformats.org/drawingml/2006/main">
            <a:r>
              <a:t>https://www.ga.gov.au/nopims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92: Windowing and missing data</a:t>
            </a:r>
          </a:p>
          <a:p xmlns:a="http://schemas.openxmlformats.org/drawingml/2006/main">
            <a:r>
              <a:t/>
            </a:r>
          </a:p>
          <a:p xmlns:a="http://schemas.openxmlformats.org/drawingml/2006/main">
            <a:r>
              <a:t>Understanding check</a:t>
            </a:r>
          </a:p>
          <a:p xmlns:a="http://schemas.openxmlformats.org/drawingml/2006/main">
            <a:r>
              <a:t>Why keep a missing-value mask after filling blanks with zero?</a:t>
            </a:r>
          </a:p>
          <a:p xmlns:a="http://schemas.openxmlformats.org/drawingml/2006/main">
            <a:r>
              <a:t>A. To make depth unnecessary</a:t>
            </a:r>
          </a:p>
          <a:p xmlns:a="http://schemas.openxmlformats.org/drawingml/2006/main">
            <a:r>
              <a:t>B. To guarantee a perfect reconstruction</a:t>
            </a:r>
          </a:p>
          <a:p xmlns:a="http://schemas.openxmlformats.org/drawingml/2006/main">
            <a:r>
              <a:t>C. To turn every curve into a class label</a:t>
            </a:r>
          </a:p>
          <a:p xmlns:a="http://schemas.openxmlformats.org/drawingml/2006/main">
            <a:r>
              <a:t>D. To distinguish absence from a real zero</a:t>
            </a:r>
          </a:p>
          <a:p xmlns:a="http://schemas.openxmlformats.org/drawingml/2006/main">
            <a:r>
              <a:t/>
            </a:r>
          </a:p>
          <a:p xmlns:a="http://schemas.openxmlformats.org/drawingml/2006/main">
            <a:r>
              <a:t>Answer: D. To distinguish absence from a real zero</a:t>
            </a:r>
          </a:p>
          <a:p xmlns:a="http://schemas.openxmlformats.org/drawingml/2006/main">
            <a:r>
              <a:t>Masks carry observation status. Split wells before windowing; preserve curve units, sampling intervals, and preprocessing. Reconstruction losses should handle missing entries explicitly.</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93: Provenance and uncertainty</a:t>
            </a:r>
          </a:p>
          <a:p xmlns:a="http://schemas.openxmlformats.org/drawingml/2006/main">
            <a:r>
              <a:t/>
            </a:r>
          </a:p>
          <a:p xmlns:a="http://schemas.openxmlformats.org/drawingml/2006/main">
            <a:r>
              <a:t>Understanding check</a:t>
            </a:r>
          </a:p>
          <a:p xmlns:a="http://schemas.openxmlformats.org/drawingml/2006/main">
            <a:r>
              <a:t>What does a model score of 0.9 establish on its own?</a:t>
            </a:r>
          </a:p>
          <a:p xmlns:a="http://schemas.openxmlformats.org/drawingml/2006/main">
            <a:r>
              <a:t>A. A reported score whose reliability must be assessed</a:t>
            </a:r>
          </a:p>
          <a:p xmlns:a="http://schemas.openxmlformats.org/drawingml/2006/main">
            <a:r>
              <a:t>B. The original well and depth</a:t>
            </a:r>
          </a:p>
          <a:p xmlns:a="http://schemas.openxmlformats.org/drawingml/2006/main">
            <a:r>
              <a:t>C. Zero sensor error</a:t>
            </a:r>
          </a:p>
          <a:p xmlns:a="http://schemas.openxmlformats.org/drawingml/2006/main">
            <a:r>
              <a:t>D. A guaranteed 90% chance of scientific truth</a:t>
            </a:r>
          </a:p>
          <a:p xmlns:a="http://schemas.openxmlformats.org/drawingml/2006/main">
            <a:r>
              <a:t/>
            </a:r>
          </a:p>
          <a:p xmlns:a="http://schemas.openxmlformats.org/drawingml/2006/main">
            <a:r>
              <a:t>Answer: A. A reported score whose reliability must be assessed</a:t>
            </a:r>
          </a:p>
          <a:p xmlns:a="http://schemas.openxmlformats.org/drawingml/2006/main">
            <a:r>
              <a:t>Keep source well, depth, units, masks, transformation versions, and uncertainty meaning. A deterministic error bound is not the same object as a statistical confidence interval or an uncalibrated score.</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94: OSDU Data Platform</a:t>
            </a:r>
          </a:p>
          <a:p xmlns:a="http://schemas.openxmlformats.org/drawingml/2006/main">
            <a:r>
              <a:t/>
            </a:r>
          </a:p>
          <a:p xmlns:a="http://schemas.openxmlformats.org/drawingml/2006/main">
            <a:r>
              <a:t>Understanding check</a:t>
            </a:r>
          </a:p>
          <a:p xmlns:a="http://schemas.openxmlformats.org/drawingml/2006/main">
            <a:r>
              <a:t>What does OSDU interoperability provide?</a:t>
            </a:r>
          </a:p>
          <a:p xmlns:a="http://schemas.openxmlformats.org/drawingml/2006/main">
            <a:r>
              <a:t>A. A shared way to organize and access domain data</a:t>
            </a:r>
          </a:p>
          <a:p xmlns:a="http://schemas.openxmlformats.org/drawingml/2006/main">
            <a:r>
              <a:t>B. Universal permission to use every file</a:t>
            </a:r>
          </a:p>
          <a:p xmlns:a="http://schemas.openxmlformats.org/drawingml/2006/main">
            <a:r>
              <a:t>C. Automatic geological truth</a:t>
            </a:r>
          </a:p>
          <a:p xmlns:a="http://schemas.openxmlformats.org/drawingml/2006/main">
            <a:r>
              <a:t>D. A pretrained token language for every log</a:t>
            </a:r>
          </a:p>
          <a:p xmlns:a="http://schemas.openxmlformats.org/drawingml/2006/main">
            <a:r>
              <a:t/>
            </a:r>
          </a:p>
          <a:p xmlns:a="http://schemas.openxmlformats.org/drawingml/2006/main">
            <a:r>
              <a:t>Answer: A. A shared way to organize and access domain data</a:t>
            </a:r>
          </a:p>
          <a:p xmlns:a="http://schemas.openxmlformats.org/drawingml/2006/main">
            <a:r>
              <a:t>OSDU provides data infrastructure and conventions. It does not by itself supply the proposed autoencoder, token alignment, scientific validation, or permission to redistribute every dataset.</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The Open Group OSDU Forum</a:t>
            </a:r>
          </a:p>
          <a:p xmlns:a="http://schemas.openxmlformats.org/drawingml/2006/main">
            <a:r>
              <a:t>https://www.opengroup.org/osdu-forum/home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95: Open source and reproducibility</a:t>
            </a:r>
          </a:p>
          <a:p xmlns:a="http://schemas.openxmlformats.org/drawingml/2006/main">
            <a:r>
              <a:t/>
            </a:r>
          </a:p>
          <a:p xmlns:a="http://schemas.openxmlformats.org/drawingml/2006/main">
            <a:r>
              <a:t>Understanding check</a:t>
            </a:r>
          </a:p>
          <a:p xmlns:a="http://schemas.openxmlformats.org/drawingml/2006/main">
            <a:r>
              <a:t>Is publishing only trained weights sufficient for a reproducible open-source experiment?</a:t>
            </a:r>
          </a:p>
          <a:p xmlns:a="http://schemas.openxmlformats.org/drawingml/2006/main">
            <a:r>
              <a:t>A. Yes, all missing details are inside the weights</a:t>
            </a:r>
          </a:p>
          <a:p xmlns:a="http://schemas.openxmlformats.org/drawingml/2006/main">
            <a:r>
              <a:t>B. Only if the weights are large</a:t>
            </a:r>
          </a:p>
          <a:p xmlns:a="http://schemas.openxmlformats.org/drawingml/2006/main">
            <a:r>
              <a:t>C. No, licensing and the experimental materials also matter</a:t>
            </a:r>
          </a:p>
          <a:p xmlns:a="http://schemas.openxmlformats.org/drawingml/2006/main">
            <a:r>
              <a:t>D. Yes, filenames replace data versions</a:t>
            </a:r>
          </a:p>
          <a:p xmlns:a="http://schemas.openxmlformats.org/drawingml/2006/main">
            <a:r>
              <a:t/>
            </a:r>
          </a:p>
          <a:p xmlns:a="http://schemas.openxmlformats.org/drawingml/2006/main">
            <a:r>
              <a:t>Answer: C. No, licensing and the experimental materials also matter</a:t>
            </a:r>
          </a:p>
          <a:p xmlns:a="http://schemas.openxmlformats.org/drawingml/2006/main">
            <a:r>
              <a:t>Publish appropriate licenses, code, dependencies, configurations, splits, and permitted data or retrieval instructions. Numerical reproducibility may require tolerances because hardware and software can change rounding.</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The Open Source Definition, Open Source Initiative</a:t>
            </a:r>
          </a:p>
          <a:p xmlns:a="http://schemas.openxmlformats.org/drawingml/2006/main">
            <a:r>
              <a:t>https://opensource.org/osd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96: Representation alignment</a:t>
            </a:r>
          </a:p>
          <a:p xmlns:a="http://schemas.openxmlformats.org/drawingml/2006/main">
            <a:r>
              <a:t/>
            </a:r>
          </a:p>
          <a:p xmlns:a="http://schemas.openxmlformats.org/drawingml/2006/main">
            <a:r>
              <a:t>Understanding check</a:t>
            </a:r>
          </a:p>
          <a:p xmlns:a="http://schemas.openxmlformats.org/drawingml/2006/main">
            <a:r>
              <a:t>What must follow assigning new IDs to log patterns?</a:t>
            </a:r>
          </a:p>
          <a:p xmlns:a="http://schemas.openxmlformats.org/drawingml/2006/main">
            <a:r>
              <a:t>A. Assume the LLM understands them immediately</a:t>
            </a:r>
          </a:p>
          <a:p xmlns:a="http://schemas.openxmlformats.org/drawingml/2006/main">
            <a:r>
              <a:t>B. Interpret larger IDs as deeper rocks</a:t>
            </a:r>
          </a:p>
          <a:p xmlns:a="http://schemas.openxmlformats.org/drawingml/2006/main">
            <a:r>
              <a:t>C. Establish and evaluate their connection to language and tasks</a:t>
            </a:r>
          </a:p>
          <a:p xmlns:a="http://schemas.openxmlformats.org/drawingml/2006/main">
            <a:r>
              <a:t>D. Delete all original measurements</a:t>
            </a:r>
          </a:p>
          <a:p xmlns:a="http://schemas.openxmlformats.org/drawingml/2006/main">
            <a:r>
              <a:t/>
            </a:r>
          </a:p>
          <a:p xmlns:a="http://schemas.openxmlformats.org/drawingml/2006/main">
            <a:r>
              <a:t>Answer: C. Establish and evaluate their connection to language and tasks</a:t>
            </a:r>
          </a:p>
          <a:p xmlns:a="http://schemas.openxmlformats.org/drawingml/2006/main">
            <a:r>
              <a:t>Options include learned embeddings or adapters, paired language training, or a defined tool interface. New vocabulary tokens require model/tokenizer support; printed ID strings alone are not a learned scientific language.</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97: Sememe.ai framework</a:t>
            </a:r>
          </a:p>
          <a:p xmlns:a="http://schemas.openxmlformats.org/drawingml/2006/main">
            <a:r>
              <a:t/>
            </a:r>
          </a:p>
          <a:p xmlns:a="http://schemas.openxmlformats.org/drawingml/2006/main">
            <a:r>
              <a:t>Understanding check</a:t>
            </a:r>
          </a:p>
          <a:p xmlns:a="http://schemas.openxmlformats.org/drawingml/2006/main">
            <a:r>
              <a:t>Which claim is justified by this curriculum?</a:t>
            </a:r>
          </a:p>
          <a:p xmlns:a="http://schemas.openxmlformats.org/drawingml/2006/main">
            <a:r>
              <a:t>A. It proves tokens already have English meanings</a:t>
            </a:r>
          </a:p>
          <a:p xmlns:a="http://schemas.openxmlformats.org/drawingml/2006/main">
            <a:r>
              <a:t>B. It proves geological superiority over all baselines</a:t>
            </a:r>
          </a:p>
          <a:p xmlns:a="http://schemas.openxmlformats.org/drawingml/2006/main">
            <a:r>
              <a:t>C. It verifies the deployed SDK's exact methods</a:t>
            </a:r>
          </a:p>
          <a:p xmlns:a="http://schemas.openxmlformats.org/drawingml/2006/main">
            <a:r>
              <a:t>D. It specifies a proposed, testable well-log workflow</a:t>
            </a:r>
          </a:p>
          <a:p xmlns:a="http://schemas.openxmlformats.org/drawingml/2006/main">
            <a:r>
              <a:t/>
            </a:r>
          </a:p>
          <a:p xmlns:a="http://schemas.openxmlformats.org/drawingml/2006/main">
            <a:r>
              <a:t>Answer: D. It specifies a proposed, testable well-log workflow</a:t>
            </a:r>
          </a:p>
          <a:p xmlns:a="http://schemas.openxmlformats.org/drawingml/2006/main">
            <a:r>
              <a:t>The project intent comes from Danny's description and available prior context. Implementation details, chosen dataset, learned token meanings, and performance were not independently verified. Toy counts are design examples.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98: Benchmark and ablation</a:t>
            </a:r>
          </a:p>
          <a:p xmlns:a="http://schemas.openxmlformats.org/drawingml/2006/main">
            <a:r>
              <a:t/>
            </a:r>
          </a:p>
          <a:p xmlns:a="http://schemas.openxmlformats.org/drawingml/2006/main">
            <a:r>
              <a:t>Understanding check</a:t>
            </a:r>
          </a:p>
          <a:p xmlns:a="http://schemas.openxmlformats.org/drawingml/2006/main">
            <a:r>
              <a:t>What would best test whether learned tokens add value?</a:t>
            </a:r>
          </a:p>
          <a:p xmlns:a="http://schemas.openxmlformats.org/drawingml/2006/main">
            <a:r>
              <a:t>A. Compare different tasks with different answer rules</a:t>
            </a:r>
          </a:p>
          <a:p xmlns:a="http://schemas.openxmlformats.org/drawingml/2006/main">
            <a:r>
              <a:t>B. Show one attractive reconstruction only</a:t>
            </a:r>
          </a:p>
          <a:p xmlns:a="http://schemas.openxmlformats.org/drawingml/2006/main">
            <a:r>
              <a:t>C. Tune on the final test until the score rises</a:t>
            </a:r>
          </a:p>
          <a:p xmlns:a="http://schemas.openxmlformats.org/drawingml/2006/main">
            <a:r>
              <a:t>D. Compare matched systems with and without tokens on held-out wells</a:t>
            </a:r>
          </a:p>
          <a:p xmlns:a="http://schemas.openxmlformats.org/drawingml/2006/main">
            <a:r>
              <a:t/>
            </a:r>
          </a:p>
          <a:p xmlns:a="http://schemas.openxmlformats.org/drawingml/2006/main">
            <a:r>
              <a:t>Answer: D. Compare matched systems with and without tokens on held-out wells</a:t>
            </a:r>
          </a:p>
          <a:p xmlns:a="http://schemas.openxmlformats.org/drawingml/2006/main">
            <a:r>
              <a:t>Hold the task, dataset and evaluation rules fixed. The example is an inference-time ablation of token input, not proof that tokens caused the whole gain. Such removal can introduce distribution shift; matched retraining and repeated runs answer complementary questions. Compare against raw-data tools and conventional representations, and evaluate reconstruction, scientific accuracy and cost.</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99: Forward-deployed engineering</a:t>
            </a:r>
          </a:p>
          <a:p xmlns:a="http://schemas.openxmlformats.org/drawingml/2006/main">
            <a:r>
              <a:t/>
            </a:r>
          </a:p>
          <a:p xmlns:a="http://schemas.openxmlformats.org/drawingml/2006/main">
            <a:r>
              <a:t>Understanding check</a:t>
            </a:r>
          </a:p>
          <a:p xmlns:a="http://schemas.openxmlformats.org/drawingml/2006/main">
            <a:r>
              <a:t>What makes a model demonstration a delivered operational solution?</a:t>
            </a:r>
          </a:p>
          <a:p xmlns:a="http://schemas.openxmlformats.org/drawingml/2006/main">
            <a:r>
              <a:t>A. Integration, user acceptance, and measured performance in use</a:t>
            </a:r>
          </a:p>
          <a:p xmlns:a="http://schemas.openxmlformats.org/drawingml/2006/main">
            <a:r>
              <a:t>B. A slide claiming success</a:t>
            </a:r>
          </a:p>
          <a:p xmlns:a="http://schemas.openxmlformats.org/drawingml/2006/main">
            <a:r>
              <a:t>C. A larger model name alone</a:t>
            </a:r>
          </a:p>
          <a:p xmlns:a="http://schemas.openxmlformats.org/drawingml/2006/main">
            <a:r>
              <a:t>D. An impressive score on an unrelated dataset</a:t>
            </a:r>
          </a:p>
          <a:p xmlns:a="http://schemas.openxmlformats.org/drawingml/2006/main">
            <a:r>
              <a:t/>
            </a:r>
          </a:p>
          <a:p xmlns:a="http://schemas.openxmlformats.org/drawingml/2006/main">
            <a:r>
              <a:t>Answer: A. Integration, user acceptance, and measured performance in use</a:t>
            </a:r>
          </a:p>
          <a:p xmlns:a="http://schemas.openxmlformats.org/drawingml/2006/main">
            <a:r>
              <a:t>Danny describes bld.ai's role as spanning opportunity identification, product work, R&amp;D, implementation, and operation. The time example is hypothetical; project success requires evidence beyond a demonstration.</a:t>
            </a:r>
          </a:p>
          <a:p xmlns:a="http://schemas.openxmlformats.org/drawingml/2006/main">
            <a:r>
              <a:t/>
            </a:r>
          </a:p>
          <a:p xmlns:a="http://schemas.openxmlformats.org/drawingml/2006/main">
            <a:r>
              <a:t>Numerical examples are original teaching examples, not project measurements.</a:t>
            </a:r>
          </a:p>
          <a:p xmlns:a="http://schemas.openxmlformats.org/drawingml/2006/main">
            <a:r>
              <a:t>Danny describes bld.ai as providing opportunity identification, product management, R&amp;D, integration, and deployment for enterprises including BHP, BP, and Aramco; working with platforms such as DataRobot, Dataiku, and H2O; and collaborating on learning with Cohere. These are user-provided context, not independently audited case studies. The course uses that context to explain applied engineering, without claiming measured client outcomes.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Concept 100: Grounded model conversation</a:t>
            </a:r>
          </a:p>
          <a:p xmlns:a="http://schemas.openxmlformats.org/drawingml/2006/main">
            <a:r>
              <a:t/>
            </a:r>
          </a:p>
          <a:p xmlns:a="http://schemas.openxmlformats.org/drawingml/2006/main">
            <a:r>
              <a:t>Understanding check</a:t>
            </a:r>
          </a:p>
          <a:p xmlns:a="http://schemas.openxmlformats.org/drawingml/2006/main">
            <a:r>
              <a:t>What is the strongest scientific answer to a “what if” question?</a:t>
            </a:r>
          </a:p>
          <a:p xmlns:a="http://schemas.openxmlformats.org/drawingml/2006/main">
            <a:r>
              <a:t>A. The nearest token ID alone</a:t>
            </a:r>
          </a:p>
          <a:p xmlns:a="http://schemas.openxmlformats.org/drawingml/2006/main">
            <a:r>
              <a:t>B. A fluent number without evidence</a:t>
            </a:r>
          </a:p>
          <a:p xmlns:a="http://schemas.openxmlformats.org/drawingml/2006/main">
            <a:r>
              <a:t>C. A computed result with the model, inputs, units, and assumptions</a:t>
            </a:r>
          </a:p>
          <a:p xmlns:a="http://schemas.openxmlformats.org/drawingml/2006/main">
            <a:r>
              <a:t>D. A claim that a simulation guarantees reality</a:t>
            </a:r>
          </a:p>
          <a:p xmlns:a="http://schemas.openxmlformats.org/drawingml/2006/main">
            <a:r>
              <a:t/>
            </a:r>
          </a:p>
          <a:p xmlns:a="http://schemas.openxmlformats.org/drawingml/2006/main">
            <a:r>
              <a:t>Answer: C. A computed result with the model, inputs, units, and assumptions</a:t>
            </a:r>
          </a:p>
          <a:p xmlns:a="http://schemas.openxmlformats.org/drawingml/2006/main">
            <a:r>
              <a:t>The story closes with a division of work: representations organize patterns, language coordinates questions, and models calculate consequences. The well-log demo should test that connection before extending it to controlled physical systems.</a:t>
            </a:r>
          </a:p>
          <a:p xmlns:a="http://schemas.openxmlformats.org/drawingml/2006/main">
            <a:r>
              <a:t/>
            </a:r>
          </a:p>
          <a:p xmlns:a="http://schemas.openxmlformats.org/drawingml/2006/main">
            <a:r>
              <a:t>Numerical examples are original teaching examples, not project measurements.</a:t>
            </a:r>
          </a:p>
          <a:p xmlns:a="http://schemas.openxmlformats.org/drawingml/2006/main">
            <a:r>
              <a:t/>
            </a:r>
          </a:p>
          <a:p xmlns:a="http://schemas.openxmlformats.org/drawingml/2006/main">
            <a:r>
              <a:t>[Sources]</a:t>
            </a:r>
          </a:p>
          <a:p xmlns:a="http://schemas.openxmlformats.org/drawingml/2006/main">
            <a:r>
              <a:t>Standard mathematical definitions or original educational synthesis. Project-specific descriptions are based on Danny Castonguay’s request and available prior context.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592bb6dde7420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c6f3c9b8df4f9e" /><Relationship Type="http://schemas.openxmlformats.org/officeDocument/2006/relationships/slideLayout" Target="/ppt/slideLayouts/slideLayout1.xml" Id="R8f7fe7d6229942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7fe7d6229942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5307b881ce4f69" /><Relationship Type="http://schemas.openxmlformats.org/officeDocument/2006/relationships/notesSlide" Target="/ppt/notesSlides/notesSlide1.xml" Id="R3ae004188e914f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caf816f4624562" /><Relationship Type="http://schemas.openxmlformats.org/officeDocument/2006/relationships/notesSlide" Target="/ppt/notesSlides/notesSlide2.xml" Id="R1d6721d948684d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b807d7f5f04801" /><Relationship Type="http://schemas.openxmlformats.org/officeDocument/2006/relationships/notesSlide" Target="/ppt/notesSlides/notesSlide3.xml" Id="R1c4e345940f74c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283fc65c9643db" /><Relationship Type="http://schemas.openxmlformats.org/officeDocument/2006/relationships/notesSlide" Target="/ppt/notesSlides/notesSlide4.xml" Id="Rf26005cccc784e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f95e53ede964d77" /><Relationship Type="http://schemas.openxmlformats.org/officeDocument/2006/relationships/notesSlide" Target="/ppt/notesSlides/notesSlide5.xml" Id="R553b7441cbe043f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7b47d1b2ed439f" /><Relationship Type="http://schemas.openxmlformats.org/officeDocument/2006/relationships/notesSlide" Target="/ppt/notesSlides/notesSlide6.xml" Id="Rdc1191c0089446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474da95ecf457d" /><Relationship Type="http://schemas.openxmlformats.org/officeDocument/2006/relationships/notesSlide" Target="/ppt/notesSlides/notesSlide7.xml" Id="Rdc004410ac8a45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dac6bb2c734130" /><Relationship Type="http://schemas.openxmlformats.org/officeDocument/2006/relationships/notesSlide" Target="/ppt/notesSlides/notesSlide8.xml" Id="R245d6c03ccd745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aba3c7d56de44b8" /><Relationship Type="http://schemas.openxmlformats.org/officeDocument/2006/relationships/notesSlide" Target="/ppt/notesSlides/notesSlide9.xml" Id="Rb0a9d210730546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a4a261c02c5483f" /><Relationship Type="http://schemas.openxmlformats.org/officeDocument/2006/relationships/notesSlide" Target="/ppt/notesSlides/notesSlide10.xml" Id="Rd2fed15a1c0f49f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3f65d88940444a2" /><Relationship Type="http://schemas.openxmlformats.org/officeDocument/2006/relationships/notesSlide" Target="/ppt/notesSlides/notesSlide11.xml" Id="R78d098a38be84a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e8b7630f4874964" /><Relationship Type="http://schemas.openxmlformats.org/officeDocument/2006/relationships/notesSlide" Target="/ppt/notesSlides/notesSlide12.xml" Id="Rb38bc9263f924b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5eb788034a04090" /><Relationship Type="http://schemas.openxmlformats.org/officeDocument/2006/relationships/notesSlide" Target="/ppt/notesSlides/notesSlide13.xml" Id="Re2fa93631b1c43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24d51ad257d491b" /><Relationship Type="http://schemas.openxmlformats.org/officeDocument/2006/relationships/notesSlide" Target="/ppt/notesSlides/notesSlide14.xml" Id="Re760ff0dd43c451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889bf9293af49aa" /><Relationship Type="http://schemas.openxmlformats.org/officeDocument/2006/relationships/notesSlide" Target="/ppt/notesSlides/notesSlide15.xml" Id="R7f6a94578a774d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fbc4dfedbb94fb6" /><Relationship Type="http://schemas.openxmlformats.org/officeDocument/2006/relationships/notesSlide" Target="/ppt/notesSlides/notesSlide16.xml" Id="R590c4dc7c3764a3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477dadf44994937" /><Relationship Type="http://schemas.openxmlformats.org/officeDocument/2006/relationships/notesSlide" Target="/ppt/notesSlides/notesSlide17.xml" Id="R25eebb352f36410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1d5e98bbb254888" /><Relationship Type="http://schemas.openxmlformats.org/officeDocument/2006/relationships/notesSlide" Target="/ppt/notesSlides/notesSlide18.xml" Id="R0c0f3daab572494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3d24c93f72e45e4" /><Relationship Type="http://schemas.openxmlformats.org/officeDocument/2006/relationships/notesSlide" Target="/ppt/notesSlides/notesSlide19.xml" Id="R87402ff89b83460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c1aaeef26e84ebc" /><Relationship Type="http://schemas.openxmlformats.org/officeDocument/2006/relationships/notesSlide" Target="/ppt/notesSlides/notesSlide20.xml" Id="R94c11246cb1a457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3399d40225f4bbf" /><Relationship Type="http://schemas.openxmlformats.org/officeDocument/2006/relationships/notesSlide" Target="/ppt/notesSlides/notesSlide21.xml" Id="R8e0709a3f9b540a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d6f6c969ce743da" /><Relationship Type="http://schemas.openxmlformats.org/officeDocument/2006/relationships/notesSlide" Target="/ppt/notesSlides/notesSlide22.xml" Id="Reb674ef276c84fc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37f226548da4e9e" /><Relationship Type="http://schemas.openxmlformats.org/officeDocument/2006/relationships/notesSlide" Target="/ppt/notesSlides/notesSlide23.xml" Id="R51e9f57a6fc4472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1bb3bf765d94b51" /><Relationship Type="http://schemas.openxmlformats.org/officeDocument/2006/relationships/notesSlide" Target="/ppt/notesSlides/notesSlide24.xml" Id="Rf1dc39a6c48b4b2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4711d033af441ad" /><Relationship Type="http://schemas.openxmlformats.org/officeDocument/2006/relationships/notesSlide" Target="/ppt/notesSlides/notesSlide25.xml" Id="R0cc50fe62be74cc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73cc9b8db1c4295" /><Relationship Type="http://schemas.openxmlformats.org/officeDocument/2006/relationships/notesSlide" Target="/ppt/notesSlides/notesSlide26.xml" Id="R86e57567ce9742d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8cbce061c1f421e" /><Relationship Type="http://schemas.openxmlformats.org/officeDocument/2006/relationships/notesSlide" Target="/ppt/notesSlides/notesSlide27.xml" Id="R7b9c46aa4cc3446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62b4e91cbac4e0e" /><Relationship Type="http://schemas.openxmlformats.org/officeDocument/2006/relationships/notesSlide" Target="/ppt/notesSlides/notesSlide28.xml" Id="Ra301749b7a7b48c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33417d0c8e74f86" /><Relationship Type="http://schemas.openxmlformats.org/officeDocument/2006/relationships/notesSlide" Target="/ppt/notesSlides/notesSlide29.xml" Id="R3640c62a66c44e5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06a83113d5a64df9" /><Relationship Type="http://schemas.openxmlformats.org/officeDocument/2006/relationships/notesSlide" Target="/ppt/notesSlides/notesSlide30.xml" Id="R52ce01b9fa22457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563992f8fc94ffe" /><Relationship Type="http://schemas.openxmlformats.org/officeDocument/2006/relationships/notesSlide" Target="/ppt/notesSlides/notesSlide31.xml" Id="R6344a7c453f04eb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6ff8e5125ab4381" /><Relationship Type="http://schemas.openxmlformats.org/officeDocument/2006/relationships/notesSlide" Target="/ppt/notesSlides/notesSlide32.xml" Id="R75e8361c2446443e"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df22c6a7e824c82" /><Relationship Type="http://schemas.openxmlformats.org/officeDocument/2006/relationships/notesSlide" Target="/ppt/notesSlides/notesSlide33.xml" Id="R6b02bffc871b459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6f7e957653440f5" /><Relationship Type="http://schemas.openxmlformats.org/officeDocument/2006/relationships/notesSlide" Target="/ppt/notesSlides/notesSlide34.xml" Id="R87fd1305c05e4d5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7a8bd1c4365410a" /><Relationship Type="http://schemas.openxmlformats.org/officeDocument/2006/relationships/notesSlide" Target="/ppt/notesSlides/notesSlide35.xml" Id="R005516f7d80c48f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d8b1838425a4188" /><Relationship Type="http://schemas.openxmlformats.org/officeDocument/2006/relationships/notesSlide" Target="/ppt/notesSlides/notesSlide36.xml" Id="R4f0560934200474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a9b48cca8224190" /><Relationship Type="http://schemas.openxmlformats.org/officeDocument/2006/relationships/notesSlide" Target="/ppt/notesSlides/notesSlide37.xml" Id="Re178eb43c302441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f6ddb09d97b41d4" /><Relationship Type="http://schemas.openxmlformats.org/officeDocument/2006/relationships/notesSlide" Target="/ppt/notesSlides/notesSlide38.xml" Id="Rb84f087cc5b249b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3ccc5e03af34bef" /><Relationship Type="http://schemas.openxmlformats.org/officeDocument/2006/relationships/notesSlide" Target="/ppt/notesSlides/notesSlide39.xml" Id="Rbf015af9121f45f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c3f5f35c2244867" /><Relationship Type="http://schemas.openxmlformats.org/officeDocument/2006/relationships/notesSlide" Target="/ppt/notesSlides/notesSlide40.xml" Id="Rc456b8435b3c47e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6a5bf44310944ce" /><Relationship Type="http://schemas.openxmlformats.org/officeDocument/2006/relationships/notesSlide" Target="/ppt/notesSlides/notesSlide41.xml" Id="R1e1d261ffe26423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04faf15b31014f17" /><Relationship Type="http://schemas.openxmlformats.org/officeDocument/2006/relationships/notesSlide" Target="/ppt/notesSlides/notesSlide42.xml" Id="R496b1b91a365409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e16a074d8eb49b4" /><Relationship Type="http://schemas.openxmlformats.org/officeDocument/2006/relationships/notesSlide" Target="/ppt/notesSlides/notesSlide43.xml" Id="R66ca35ed230c480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392787112cf14aff" /><Relationship Type="http://schemas.openxmlformats.org/officeDocument/2006/relationships/notesSlide" Target="/ppt/notesSlides/notesSlide44.xml" Id="R462b064259bf4a3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b9d125152f74261" /><Relationship Type="http://schemas.openxmlformats.org/officeDocument/2006/relationships/notesSlide" Target="/ppt/notesSlides/notesSlide45.xml" Id="R4c9849e62ba8489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f17beb62d40b42ee" /><Relationship Type="http://schemas.openxmlformats.org/officeDocument/2006/relationships/notesSlide" Target="/ppt/notesSlides/notesSlide46.xml" Id="R9d1b7b5b35a2401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70de2c504866408d" /><Relationship Type="http://schemas.openxmlformats.org/officeDocument/2006/relationships/notesSlide" Target="/ppt/notesSlides/notesSlide47.xml" Id="Re42763d66f86410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3694312a7374afc" /><Relationship Type="http://schemas.openxmlformats.org/officeDocument/2006/relationships/notesSlide" Target="/ppt/notesSlides/notesSlide48.xml" Id="Rd82fa55d8eea4a9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230838816534458" /><Relationship Type="http://schemas.openxmlformats.org/officeDocument/2006/relationships/notesSlide" Target="/ppt/notesSlides/notesSlide49.xml" Id="R797337d755e74ed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648033c42624063" /><Relationship Type="http://schemas.openxmlformats.org/officeDocument/2006/relationships/notesSlide" Target="/ppt/notesSlides/notesSlide50.xml" Id="Rbf90c8d07b9640d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5525d071a9844e3d" /><Relationship Type="http://schemas.openxmlformats.org/officeDocument/2006/relationships/notesSlide" Target="/ppt/notesSlides/notesSlide51.xml" Id="Reb47501a9522417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780b0383972a496a" /><Relationship Type="http://schemas.openxmlformats.org/officeDocument/2006/relationships/notesSlide" Target="/ppt/notesSlides/notesSlide52.xml" Id="R9ac755f833e5491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d3b04f29fc334032" /><Relationship Type="http://schemas.openxmlformats.org/officeDocument/2006/relationships/notesSlide" Target="/ppt/notesSlides/notesSlide53.xml" Id="R3e3ac462b3144c2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583e759d36cd4f6b" /><Relationship Type="http://schemas.openxmlformats.org/officeDocument/2006/relationships/notesSlide" Target="/ppt/notesSlides/notesSlide54.xml" Id="Rb0c3a3524fe34e2b"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688a7bfe42c44a60" /><Relationship Type="http://schemas.openxmlformats.org/officeDocument/2006/relationships/notesSlide" Target="/ppt/notesSlides/notesSlide55.xml" Id="R1d437fba271141e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988bc3c65bd54aa3" /><Relationship Type="http://schemas.openxmlformats.org/officeDocument/2006/relationships/notesSlide" Target="/ppt/notesSlides/notesSlide56.xml" Id="Re6e40e54be53446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959950f6c849484f" /><Relationship Type="http://schemas.openxmlformats.org/officeDocument/2006/relationships/notesSlide" Target="/ppt/notesSlides/notesSlide57.xml" Id="R12f41045f8e2494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fee96129a5274314" /><Relationship Type="http://schemas.openxmlformats.org/officeDocument/2006/relationships/notesSlide" Target="/ppt/notesSlides/notesSlide58.xml" Id="R995f49c95dea4fa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eab28e1e8bf24251" /><Relationship Type="http://schemas.openxmlformats.org/officeDocument/2006/relationships/notesSlide" Target="/ppt/notesSlides/notesSlide59.xml" Id="R68be800fa934461c"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b2d9705e0c0c4388" /><Relationship Type="http://schemas.openxmlformats.org/officeDocument/2006/relationships/notesSlide" Target="/ppt/notesSlides/notesSlide60.xml" Id="R82873e926a74486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db6ec40d657146b0" /><Relationship Type="http://schemas.openxmlformats.org/officeDocument/2006/relationships/notesSlide" Target="/ppt/notesSlides/notesSlide61.xml" Id="Rdc853e64eece4a0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537d875e2e3545c7" /><Relationship Type="http://schemas.openxmlformats.org/officeDocument/2006/relationships/notesSlide" Target="/ppt/notesSlides/notesSlide62.xml" Id="R7073b7b87f974571"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abbfdf2905ac47fd" /><Relationship Type="http://schemas.openxmlformats.org/officeDocument/2006/relationships/notesSlide" Target="/ppt/notesSlides/notesSlide63.xml" Id="R2f7ff16600d04e44"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87aba18a7b1b473b" /><Relationship Type="http://schemas.openxmlformats.org/officeDocument/2006/relationships/notesSlide" Target="/ppt/notesSlides/notesSlide64.xml" Id="R0065c5ab05934745"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b669399d0c9c4a38" /><Relationship Type="http://schemas.openxmlformats.org/officeDocument/2006/relationships/notesSlide" Target="/ppt/notesSlides/notesSlide65.xml" Id="R2a38a3a6b5a246d1"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5947352e069b4185" /><Relationship Type="http://schemas.openxmlformats.org/officeDocument/2006/relationships/notesSlide" Target="/ppt/notesSlides/notesSlide66.xml" Id="R14211696346c4f47"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cb2934a7846b4c94" /><Relationship Type="http://schemas.openxmlformats.org/officeDocument/2006/relationships/notesSlide" Target="/ppt/notesSlides/notesSlide67.xml" Id="Rfd994034be55449d"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ad1de887452d4c35" /><Relationship Type="http://schemas.openxmlformats.org/officeDocument/2006/relationships/notesSlide" Target="/ppt/notesSlides/notesSlide68.xml" Id="R6349df6ceeda4c95"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20d17d5dc7264ed3" /><Relationship Type="http://schemas.openxmlformats.org/officeDocument/2006/relationships/notesSlide" Target="/ppt/notesSlides/notesSlide69.xml" Id="Red4d50c9e6cb413f"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494d07f0218c46e2" /><Relationship Type="http://schemas.openxmlformats.org/officeDocument/2006/relationships/notesSlide" Target="/ppt/notesSlides/notesSlide70.xml" Id="R2c16227cb62e403b"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e4c9a6f873f0419f" /><Relationship Type="http://schemas.openxmlformats.org/officeDocument/2006/relationships/notesSlide" Target="/ppt/notesSlides/notesSlide71.xml" Id="Rc50c07fe3eaa426c"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f199fa40f84b4c99" /><Relationship Type="http://schemas.openxmlformats.org/officeDocument/2006/relationships/notesSlide" Target="/ppt/notesSlides/notesSlide72.xml" Id="R13c3af2612ca4f8f"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fd26fdef0ed24734" /><Relationship Type="http://schemas.openxmlformats.org/officeDocument/2006/relationships/notesSlide" Target="/ppt/notesSlides/notesSlide73.xml" Id="R7d5422200b844dd9"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0722910bf5684bfd" /><Relationship Type="http://schemas.openxmlformats.org/officeDocument/2006/relationships/notesSlide" Target="/ppt/notesSlides/notesSlide74.xml" Id="R48a189052b0c4e05"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134eb812224b48ca" /><Relationship Type="http://schemas.openxmlformats.org/officeDocument/2006/relationships/notesSlide" Target="/ppt/notesSlides/notesSlide75.xml" Id="R2fa1422838344334"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397a007424fd4c01" /><Relationship Type="http://schemas.openxmlformats.org/officeDocument/2006/relationships/notesSlide" Target="/ppt/notesSlides/notesSlide76.xml" Id="Rfbfff5d611a74fc9"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807f0c39bde045da" /><Relationship Type="http://schemas.openxmlformats.org/officeDocument/2006/relationships/notesSlide" Target="/ppt/notesSlides/notesSlide77.xml" Id="Rb73ee78f660648bf"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e32500147f944202" /><Relationship Type="http://schemas.openxmlformats.org/officeDocument/2006/relationships/notesSlide" Target="/ppt/notesSlides/notesSlide78.xml" Id="R73d8c9f038404225"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2093e1acad754985" /><Relationship Type="http://schemas.openxmlformats.org/officeDocument/2006/relationships/notesSlide" Target="/ppt/notesSlides/notesSlide79.xml" Id="Rc1e741936e314eca"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49f0c163b6e44c2e" /><Relationship Type="http://schemas.openxmlformats.org/officeDocument/2006/relationships/notesSlide" Target="/ppt/notesSlides/notesSlide80.xml" Id="R22b4d4abc52240a4"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f5c22d031d494b4b" /><Relationship Type="http://schemas.openxmlformats.org/officeDocument/2006/relationships/notesSlide" Target="/ppt/notesSlides/notesSlide81.xml" Id="R0e8e123c71c64efa"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0df03f118ce544de" /><Relationship Type="http://schemas.openxmlformats.org/officeDocument/2006/relationships/notesSlide" Target="/ppt/notesSlides/notesSlide82.xml" Id="Rca3a9e9fdab04fd2"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1b795324424142ef" /><Relationship Type="http://schemas.openxmlformats.org/officeDocument/2006/relationships/notesSlide" Target="/ppt/notesSlides/notesSlide83.xml" Id="R9ac77846dbe5433b"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d9757bbeee084d0e" /><Relationship Type="http://schemas.openxmlformats.org/officeDocument/2006/relationships/notesSlide" Target="/ppt/notesSlides/notesSlide84.xml" Id="Rc0e1f2280e16406c"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1f32ebc3cb31433a" /><Relationship Type="http://schemas.openxmlformats.org/officeDocument/2006/relationships/notesSlide" Target="/ppt/notesSlides/notesSlide85.xml" Id="R3da2de4c0dd84a20"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004df89dc9704bdf" /><Relationship Type="http://schemas.openxmlformats.org/officeDocument/2006/relationships/notesSlide" Target="/ppt/notesSlides/notesSlide86.xml" Id="Rf5e5da2c6b96480b"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36766bb722934ba5" /><Relationship Type="http://schemas.openxmlformats.org/officeDocument/2006/relationships/notesSlide" Target="/ppt/notesSlides/notesSlide87.xml" Id="R4a9bc8c56a3545f6"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80a61ea52cef4c2e" /><Relationship Type="http://schemas.openxmlformats.org/officeDocument/2006/relationships/notesSlide" Target="/ppt/notesSlides/notesSlide88.xml" Id="R3323923e60264a02"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49c4331f58844577" /><Relationship Type="http://schemas.openxmlformats.org/officeDocument/2006/relationships/notesSlide" Target="/ppt/notesSlides/notesSlide89.xml" Id="R1a85623705cf407c"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7a6a39dbd32a4b3f" /><Relationship Type="http://schemas.openxmlformats.org/officeDocument/2006/relationships/notesSlide" Target="/ppt/notesSlides/notesSlide90.xml" Id="R512f6b2985b644f4"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e5a47e185a6143dd" /><Relationship Type="http://schemas.openxmlformats.org/officeDocument/2006/relationships/notesSlide" Target="/ppt/notesSlides/notesSlide91.xml" Id="Rd3c906c40db1498c"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ba6a1e73d6f24ce0" /><Relationship Type="http://schemas.openxmlformats.org/officeDocument/2006/relationships/notesSlide" Target="/ppt/notesSlides/notesSlide92.xml" Id="R53a144d2aa68431d"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92102fa9b1294221" /><Relationship Type="http://schemas.openxmlformats.org/officeDocument/2006/relationships/notesSlide" Target="/ppt/notesSlides/notesSlide93.xml" Id="R47b59510a9d4494f"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a6cbbdbfcfa14f7d" /><Relationship Type="http://schemas.openxmlformats.org/officeDocument/2006/relationships/notesSlide" Target="/ppt/notesSlides/notesSlide94.xml" Id="R6b0bd6af97af4b3c"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cf36cc2828c44444" /><Relationship Type="http://schemas.openxmlformats.org/officeDocument/2006/relationships/notesSlide" Target="/ppt/notesSlides/notesSlide95.xml" Id="R161a0a97a7d549c3"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d811cf95f918441a" /><Relationship Type="http://schemas.openxmlformats.org/officeDocument/2006/relationships/notesSlide" Target="/ppt/notesSlides/notesSlide96.xml" Id="R133df3ff5e2a4c3a"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c0c9405dbb324cb1" /><Relationship Type="http://schemas.openxmlformats.org/officeDocument/2006/relationships/notesSlide" Target="/ppt/notesSlides/notesSlide97.xml" Id="Rd4bedf4037eb4989"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653a143d21e346c1" /><Relationship Type="http://schemas.openxmlformats.org/officeDocument/2006/relationships/notesSlide" Target="/ppt/notesSlides/notesSlide98.xml" Id="R1bf654b103b14af4"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78279262860e4fbf" /><Relationship Type="http://schemas.openxmlformats.org/officeDocument/2006/relationships/notesSlide" Target="/ppt/notesSlides/notesSlide99.xml" Id="Rf3f573ae6a774e45"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d89739e210d748d1" /><Relationship Type="http://schemas.openxmlformats.org/officeDocument/2006/relationships/notesSlide" Target="/ppt/notesSlides/notesSlide100.xml" Id="Rd81d5e297b4644b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1-chapter-0">
            <a:extLst xmlns:a="http://schemas.openxmlformats.org/drawingml/2006/main">
              <a:ext uri="{FF2B5EF4-FFF2-40B4-BE49-F238E27FC236}">
                <a16:creationId xmlns:a16="http://schemas.microsoft.com/office/drawing/2014/main" id="{1A17F821-761D-4CF9-A395-82D3C0DD8938}"/>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001 / 100 · MATHEMATICS</a:t>
            </a:r>
          </a:p>
        </p:txBody>
      </p:sp>
      <p:sp>
        <p:nvSpPr>
          <p:cNvPr id="2" name="concept-1-title-0">
            <a:extLst xmlns:a="http://schemas.openxmlformats.org/drawingml/2006/main">
              <a:ext uri="{FF2B5EF4-FFF2-40B4-BE49-F238E27FC236}">
                <a16:creationId xmlns:a16="http://schemas.microsoft.com/office/drawing/2014/main" id="{01C91A4C-33EE-46D9-93D4-CE9398416D23}"/>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Scalar</a:t>
            </a:r>
          </a:p>
        </p:txBody>
      </p:sp>
      <p:sp>
        <p:nvSpPr>
          <p:cNvPr id="3" name="concept-1-definition-label-0">
            <a:extLst xmlns:a="http://schemas.openxmlformats.org/drawingml/2006/main">
              <a:ext uri="{FF2B5EF4-FFF2-40B4-BE49-F238E27FC236}">
                <a16:creationId xmlns:a16="http://schemas.microsoft.com/office/drawing/2014/main" id="{DEE587E5-D1DB-4085-87C6-BE1E6459D5E6}"/>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1-definition-0">
            <a:extLst xmlns:a="http://schemas.openxmlformats.org/drawingml/2006/main">
              <a:ext uri="{FF2B5EF4-FFF2-40B4-BE49-F238E27FC236}">
                <a16:creationId xmlns:a16="http://schemas.microsoft.com/office/drawing/2014/main" id="{6CF9EE84-C786-4231-865E-B3125DFF78A3}"/>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scalar is one number. In this course, scalars are real numbers,</a:t>
            </a:r>
          </a:p>
        </p:txBody>
      </p:sp>
      <p:sp>
        <p:nvSpPr>
          <p:cNvPr id="5" name="concept-1-definition-1">
            <a:extLst xmlns:a="http://schemas.openxmlformats.org/drawingml/2006/main">
              <a:ext uri="{FF2B5EF4-FFF2-40B4-BE49-F238E27FC236}">
                <a16:creationId xmlns:a16="http://schemas.microsoft.com/office/drawing/2014/main" id="{40CEE46C-9A95-4938-8998-AECD3946A26E}"/>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which can lie anywhere on the number line.</a:t>
            </a:r>
          </a:p>
        </p:txBody>
      </p:sp>
      <p:sp>
        <p:nvSpPr>
          <p:cNvPr id="6" name="concept-1-formula-0">
            <a:extLst xmlns:a="http://schemas.openxmlformats.org/drawingml/2006/main">
              <a:ext uri="{FF2B5EF4-FFF2-40B4-BE49-F238E27FC236}">
                <a16:creationId xmlns:a16="http://schemas.microsoft.com/office/drawing/2014/main" id="{197B85B8-51CB-45B3-B8D1-B350D78613F5}"/>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x ∈ ℝ means “x is a real number.”</a:t>
            </a:r>
          </a:p>
        </p:txBody>
      </p:sp>
      <p:sp>
        <p:nvSpPr>
          <p:cNvPr id="7" name="concept-1-example-label-0">
            <a:extLst xmlns:a="http://schemas.openxmlformats.org/drawingml/2006/main">
              <a:ext uri="{FF2B5EF4-FFF2-40B4-BE49-F238E27FC236}">
                <a16:creationId xmlns:a16="http://schemas.microsoft.com/office/drawing/2014/main" id="{BC202391-BB00-4053-9EFD-AAF6CAA764A4}"/>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1-example-0">
            <a:extLst xmlns:a="http://schemas.openxmlformats.org/drawingml/2006/main">
              <a:ext uri="{FF2B5EF4-FFF2-40B4-BE49-F238E27FC236}">
                <a16:creationId xmlns:a16="http://schemas.microsoft.com/office/drawing/2014/main" id="{A121DCD5-A756-45E3-9C38-B9F67B400C60}"/>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temperature reading is 24.5 °C. Its numerical value, 24.5, is a</a:t>
            </a:r>
          </a:p>
        </p:txBody>
      </p:sp>
      <p:sp>
        <p:nvSpPr>
          <p:cNvPr id="9" name="concept-1-example-1">
            <a:extLst xmlns:a="http://schemas.openxmlformats.org/drawingml/2006/main">
              <a:ext uri="{FF2B5EF4-FFF2-40B4-BE49-F238E27FC236}">
                <a16:creationId xmlns:a16="http://schemas.microsoft.com/office/drawing/2014/main" id="{21A6F444-F32E-447A-BE79-35AF77B4B1F1}"/>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scalar.</a:t>
            </a:r>
          </a:p>
        </p:txBody>
      </p:sp>
      <p:sp>
        <p:nvSpPr>
          <p:cNvPr id="10" name="concept-1-metaphor-label-0">
            <a:extLst xmlns:a="http://schemas.openxmlformats.org/drawingml/2006/main">
              <a:ext uri="{FF2B5EF4-FFF2-40B4-BE49-F238E27FC236}">
                <a16:creationId xmlns:a16="http://schemas.microsoft.com/office/drawing/2014/main" id="{98D634CD-0FC8-457D-BA96-65173359230C}"/>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1-metaphor-0">
            <a:extLst xmlns:a="http://schemas.openxmlformats.org/drawingml/2006/main">
              <a:ext uri="{FF2B5EF4-FFF2-40B4-BE49-F238E27FC236}">
                <a16:creationId xmlns:a16="http://schemas.microsoft.com/office/drawing/2014/main" id="{F2441B30-D998-4BEB-9E0D-B069CC18E425}"/>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One dial shows one number. Later, many dials will become a</a:t>
            </a:r>
          </a:p>
        </p:txBody>
      </p:sp>
      <p:sp>
        <p:nvSpPr>
          <p:cNvPr id="12" name="concept-1-metaphor-1">
            <a:extLst xmlns:a="http://schemas.openxmlformats.org/drawingml/2006/main">
              <a:ext uri="{FF2B5EF4-FFF2-40B4-BE49-F238E27FC236}">
                <a16:creationId xmlns:a16="http://schemas.microsoft.com/office/drawing/2014/main" id="{57EB5781-2B23-4F7D-B2F6-9BE156F64352}"/>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vector.</a:t>
            </a:r>
          </a:p>
        </p:txBody>
      </p:sp>
      <p:sp>
        <p:nvSpPr>
          <p:cNvPr id="13" name="concept-1-footer-0">
            <a:extLst xmlns:a="http://schemas.openxmlformats.org/drawingml/2006/main">
              <a:ext uri="{FF2B5EF4-FFF2-40B4-BE49-F238E27FC236}">
                <a16:creationId xmlns:a16="http://schemas.microsoft.com/office/drawing/2014/main" id="{1CA862A8-7C21-42AE-8284-5B4F06B4BA0C}"/>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Variable</a:t>
            </a:r>
          </a:p>
        </p:txBody>
      </p:sp>
    </p:spTree>
    <p:extLst>
      <p:ext uri="{BB962C8B-B14F-4D97-AF65-F5344CB8AC3E}">
        <p14:creationId xmlns:p14="http://schemas.microsoft.com/office/powerpoint/2010/main" val="7767628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ncept-2-chapter-0">
            <a:extLst xmlns:a="http://schemas.openxmlformats.org/drawingml/2006/main">
              <a:ext uri="{FF2B5EF4-FFF2-40B4-BE49-F238E27FC236}">
                <a16:creationId xmlns:a16="http://schemas.microsoft.com/office/drawing/2014/main" id="{E833F095-ECB3-4888-9228-36F41C646AA2}"/>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002 / 100 · MATHEMATICS</a:t>
            </a:r>
          </a:p>
        </p:txBody>
      </p:sp>
      <p:sp>
        <p:nvSpPr>
          <p:cNvPr id="2" name="concept-2-title-0">
            <a:extLst xmlns:a="http://schemas.openxmlformats.org/drawingml/2006/main">
              <a:ext uri="{FF2B5EF4-FFF2-40B4-BE49-F238E27FC236}">
                <a16:creationId xmlns:a16="http://schemas.microsoft.com/office/drawing/2014/main" id="{0518DBDD-9F62-43F6-B039-C046C8198B63}"/>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Variable</a:t>
            </a:r>
          </a:p>
        </p:txBody>
      </p:sp>
      <p:sp>
        <p:nvSpPr>
          <p:cNvPr id="3" name="concept-2-definition-label-0">
            <a:extLst xmlns:a="http://schemas.openxmlformats.org/drawingml/2006/main">
              <a:ext uri="{FF2B5EF4-FFF2-40B4-BE49-F238E27FC236}">
                <a16:creationId xmlns:a16="http://schemas.microsoft.com/office/drawing/2014/main" id="{FDFAE13A-C6BF-4361-A658-BC3C55273959}"/>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2-definition-0">
            <a:extLst xmlns:a="http://schemas.openxmlformats.org/drawingml/2006/main">
              <a:ext uri="{FF2B5EF4-FFF2-40B4-BE49-F238E27FC236}">
                <a16:creationId xmlns:a16="http://schemas.microsoft.com/office/drawing/2014/main" id="{9E924F76-BF06-4B11-A8B4-727DFF20B236}"/>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variable is a symbol whose value can vary within a specified</a:t>
            </a:r>
          </a:p>
        </p:txBody>
      </p:sp>
      <p:sp>
        <p:nvSpPr>
          <p:cNvPr id="5" name="concept-2-definition-1">
            <a:extLst xmlns:a="http://schemas.openxmlformats.org/drawingml/2006/main">
              <a:ext uri="{FF2B5EF4-FFF2-40B4-BE49-F238E27FC236}">
                <a16:creationId xmlns:a16="http://schemas.microsoft.com/office/drawing/2014/main" id="{06513379-D625-4CAE-9E40-67375CD0F899}"/>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set. An equation states a relationship between values.</a:t>
            </a:r>
          </a:p>
        </p:txBody>
      </p:sp>
      <p:sp>
        <p:nvSpPr>
          <p:cNvPr id="6" name="concept-2-formula-0">
            <a:extLst xmlns:a="http://schemas.openxmlformats.org/drawingml/2006/main">
              <a:ext uri="{FF2B5EF4-FFF2-40B4-BE49-F238E27FC236}">
                <a16:creationId xmlns:a16="http://schemas.microsoft.com/office/drawing/2014/main" id="{92996B74-F8A1-4AE9-9FBC-56F4CF0986B7}"/>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y = 2x + 1</a:t>
            </a:r>
          </a:p>
        </p:txBody>
      </p:sp>
      <p:sp>
        <p:nvSpPr>
          <p:cNvPr id="7" name="concept-2-example-label-0">
            <a:extLst xmlns:a="http://schemas.openxmlformats.org/drawingml/2006/main">
              <a:ext uri="{FF2B5EF4-FFF2-40B4-BE49-F238E27FC236}">
                <a16:creationId xmlns:a16="http://schemas.microsoft.com/office/drawing/2014/main" id="{2AE07407-E642-4B69-BA88-BA5431CE8D88}"/>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2-example-0">
            <a:extLst xmlns:a="http://schemas.openxmlformats.org/drawingml/2006/main">
              <a:ext uri="{FF2B5EF4-FFF2-40B4-BE49-F238E27FC236}">
                <a16:creationId xmlns:a16="http://schemas.microsoft.com/office/drawing/2014/main" id="{3482239C-473C-4751-963C-822B1196B082}"/>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If x = 3, then y = 2 × 3 + 1 = 7.</a:t>
            </a:r>
          </a:p>
        </p:txBody>
      </p:sp>
      <p:sp>
        <p:nvSpPr>
          <p:cNvPr id="9" name="concept-2-metaphor-label-0">
            <a:extLst xmlns:a="http://schemas.openxmlformats.org/drawingml/2006/main">
              <a:ext uri="{FF2B5EF4-FFF2-40B4-BE49-F238E27FC236}">
                <a16:creationId xmlns:a16="http://schemas.microsoft.com/office/drawing/2014/main" id="{C383CCA7-72C2-4F6C-8EF5-DC803D309D11}"/>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0" name="concept-2-metaphor-0">
            <a:extLst xmlns:a="http://schemas.openxmlformats.org/drawingml/2006/main">
              <a:ext uri="{FF2B5EF4-FFF2-40B4-BE49-F238E27FC236}">
                <a16:creationId xmlns:a16="http://schemas.microsoft.com/office/drawing/2014/main" id="{0A27797A-2946-4A44-8FBB-5803EADA3687}"/>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labeled empty box can hold different numbers while the rule</a:t>
            </a:r>
          </a:p>
        </p:txBody>
      </p:sp>
      <p:sp>
        <p:nvSpPr>
          <p:cNvPr id="11" name="concept-2-metaphor-1">
            <a:extLst xmlns:a="http://schemas.openxmlformats.org/drawingml/2006/main">
              <a:ext uri="{FF2B5EF4-FFF2-40B4-BE49-F238E27FC236}">
                <a16:creationId xmlns:a16="http://schemas.microsoft.com/office/drawing/2014/main" id="{DB2EC176-12DD-4F97-A8F1-02812C34DC11}"/>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stays the same.</a:t>
            </a:r>
          </a:p>
        </p:txBody>
      </p:sp>
      <p:sp>
        <p:nvSpPr>
          <p:cNvPr id="12" name="concept-2-footer-0">
            <a:extLst xmlns:a="http://schemas.openxmlformats.org/drawingml/2006/main">
              <a:ext uri="{FF2B5EF4-FFF2-40B4-BE49-F238E27FC236}">
                <a16:creationId xmlns:a16="http://schemas.microsoft.com/office/drawing/2014/main" id="{701B8DB0-AC66-48EC-B976-1A2185209DB2}"/>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Function</a:t>
            </a:r>
          </a:p>
        </p:txBody>
      </p:sp>
    </p:spTree>
    <p:extLst>
      <p:ext uri="{BB962C8B-B14F-4D97-AF65-F5344CB8AC3E}">
        <p14:creationId xmlns:p14="http://schemas.microsoft.com/office/powerpoint/2010/main" val="7982475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ncept-3-chapter-0">
            <a:extLst xmlns:a="http://schemas.openxmlformats.org/drawingml/2006/main">
              <a:ext uri="{FF2B5EF4-FFF2-40B4-BE49-F238E27FC236}">
                <a16:creationId xmlns:a16="http://schemas.microsoft.com/office/drawing/2014/main" id="{1669A190-9CF2-40A2-9BFA-B2D069E55933}"/>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003 / 100 · MATHEMATICS</a:t>
            </a:r>
          </a:p>
        </p:txBody>
      </p:sp>
      <p:sp>
        <p:nvSpPr>
          <p:cNvPr id="2" name="concept-3-title-0">
            <a:extLst xmlns:a="http://schemas.openxmlformats.org/drawingml/2006/main">
              <a:ext uri="{FF2B5EF4-FFF2-40B4-BE49-F238E27FC236}">
                <a16:creationId xmlns:a16="http://schemas.microsoft.com/office/drawing/2014/main" id="{1A2513DE-30A8-4682-B80E-FBD7F30AC2FA}"/>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Function</a:t>
            </a:r>
          </a:p>
        </p:txBody>
      </p:sp>
      <p:sp>
        <p:nvSpPr>
          <p:cNvPr id="3" name="concept-3-definition-label-0">
            <a:extLst xmlns:a="http://schemas.openxmlformats.org/drawingml/2006/main">
              <a:ext uri="{FF2B5EF4-FFF2-40B4-BE49-F238E27FC236}">
                <a16:creationId xmlns:a16="http://schemas.microsoft.com/office/drawing/2014/main" id="{C799F4C3-09E0-4B0A-A43C-0D15AC407328}"/>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3-definition-0">
            <a:extLst xmlns:a="http://schemas.openxmlformats.org/drawingml/2006/main">
              <a:ext uri="{FF2B5EF4-FFF2-40B4-BE49-F238E27FC236}">
                <a16:creationId xmlns:a16="http://schemas.microsoft.com/office/drawing/2014/main" id="{F8B881A5-8E67-4EE1-B2E7-1E1D77EBFD1D}"/>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function assigns exactly one output to each allowed input. Its</a:t>
            </a:r>
          </a:p>
        </p:txBody>
      </p:sp>
      <p:sp>
        <p:nvSpPr>
          <p:cNvPr id="5" name="concept-3-definition-1">
            <a:extLst xmlns:a="http://schemas.openxmlformats.org/drawingml/2006/main">
              <a:ext uri="{FF2B5EF4-FFF2-40B4-BE49-F238E27FC236}">
                <a16:creationId xmlns:a16="http://schemas.microsoft.com/office/drawing/2014/main" id="{DDD5A4BC-3B0D-4959-A1FB-4837E16D7C4F}"/>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domain is the set of allowed inputs.</a:t>
            </a:r>
          </a:p>
        </p:txBody>
      </p:sp>
      <p:sp>
        <p:nvSpPr>
          <p:cNvPr id="6" name="concept-3-formula-0">
            <a:extLst xmlns:a="http://schemas.openxmlformats.org/drawingml/2006/main">
              <a:ext uri="{FF2B5EF4-FFF2-40B4-BE49-F238E27FC236}">
                <a16:creationId xmlns:a16="http://schemas.microsoft.com/office/drawing/2014/main" id="{EE35EB1E-B9CF-4F45-8DB6-29A003D65CC0}"/>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f: ℝ → ℝ, f(x) = x²</a:t>
            </a:r>
          </a:p>
        </p:txBody>
      </p:sp>
      <p:sp>
        <p:nvSpPr>
          <p:cNvPr id="7" name="concept-3-example-label-0">
            <a:extLst xmlns:a="http://schemas.openxmlformats.org/drawingml/2006/main">
              <a:ext uri="{FF2B5EF4-FFF2-40B4-BE49-F238E27FC236}">
                <a16:creationId xmlns:a16="http://schemas.microsoft.com/office/drawing/2014/main" id="{ED203140-0C17-450F-A46D-CBB872C90EB0}"/>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3-example-0">
            <a:extLst xmlns:a="http://schemas.openxmlformats.org/drawingml/2006/main">
              <a:ext uri="{FF2B5EF4-FFF2-40B4-BE49-F238E27FC236}">
                <a16:creationId xmlns:a16="http://schemas.microsoft.com/office/drawing/2014/main" id="{81104620-5E60-42AD-9223-71CBC4A2525B}"/>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f(3) = 9 and f(−3) = 9. Different inputs may share an output.</a:t>
            </a:r>
          </a:p>
        </p:txBody>
      </p:sp>
      <p:sp>
        <p:nvSpPr>
          <p:cNvPr id="9" name="concept-3-metaphor-label-0">
            <a:extLst xmlns:a="http://schemas.openxmlformats.org/drawingml/2006/main">
              <a:ext uri="{FF2B5EF4-FFF2-40B4-BE49-F238E27FC236}">
                <a16:creationId xmlns:a16="http://schemas.microsoft.com/office/drawing/2014/main" id="{F6090F8D-6A92-4D9F-B3F4-6D7E39B4ACFD}"/>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0" name="concept-3-metaphor-0">
            <a:extLst xmlns:a="http://schemas.openxmlformats.org/drawingml/2006/main">
              <a:ext uri="{FF2B5EF4-FFF2-40B4-BE49-F238E27FC236}">
                <a16:creationId xmlns:a16="http://schemas.microsoft.com/office/drawing/2014/main" id="{B3479B3B-CFBC-4190-98E2-9B6858B998DA}"/>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machine follows one recipe for each input, even if two</a:t>
            </a:r>
          </a:p>
        </p:txBody>
      </p:sp>
      <p:sp>
        <p:nvSpPr>
          <p:cNvPr id="11" name="concept-3-metaphor-1">
            <a:extLst xmlns:a="http://schemas.openxmlformats.org/drawingml/2006/main">
              <a:ext uri="{FF2B5EF4-FFF2-40B4-BE49-F238E27FC236}">
                <a16:creationId xmlns:a16="http://schemas.microsoft.com/office/drawing/2014/main" id="{10E1D755-1A6E-4799-83CE-BFA5B96594EA}"/>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ingredients produce the same result.</a:t>
            </a:r>
          </a:p>
        </p:txBody>
      </p:sp>
      <p:sp>
        <p:nvSpPr>
          <p:cNvPr id="12" name="concept-3-footer-0">
            <a:extLst xmlns:a="http://schemas.openxmlformats.org/drawingml/2006/main">
              <a:ext uri="{FF2B5EF4-FFF2-40B4-BE49-F238E27FC236}">
                <a16:creationId xmlns:a16="http://schemas.microsoft.com/office/drawing/2014/main" id="{13ED0D0A-B3E4-4103-924C-A163CA4A0A2B}"/>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Units</a:t>
            </a:r>
          </a:p>
        </p:txBody>
      </p:sp>
    </p:spTree>
    <p:extLst>
      <p:ext uri="{BB962C8B-B14F-4D97-AF65-F5344CB8AC3E}">
        <p14:creationId xmlns:p14="http://schemas.microsoft.com/office/powerpoint/2010/main" val="1281925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ncept-4-chapter-0">
            <a:extLst xmlns:a="http://schemas.openxmlformats.org/drawingml/2006/main">
              <a:ext uri="{FF2B5EF4-FFF2-40B4-BE49-F238E27FC236}">
                <a16:creationId xmlns:a16="http://schemas.microsoft.com/office/drawing/2014/main" id="{E8F14C6C-DE6A-45F2-9907-74AA340DC43C}"/>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004 / 100 · MATHEMATICS</a:t>
            </a:r>
          </a:p>
        </p:txBody>
      </p:sp>
      <p:sp>
        <p:nvSpPr>
          <p:cNvPr id="2" name="concept-4-title-0">
            <a:extLst xmlns:a="http://schemas.openxmlformats.org/drawingml/2006/main">
              <a:ext uri="{FF2B5EF4-FFF2-40B4-BE49-F238E27FC236}">
                <a16:creationId xmlns:a16="http://schemas.microsoft.com/office/drawing/2014/main" id="{6A45FF21-677F-46CC-B266-70D5727A3CEE}"/>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Units</a:t>
            </a:r>
          </a:p>
        </p:txBody>
      </p:sp>
      <p:sp>
        <p:nvSpPr>
          <p:cNvPr id="3" name="concept-4-definition-label-0">
            <a:extLst xmlns:a="http://schemas.openxmlformats.org/drawingml/2006/main">
              <a:ext uri="{FF2B5EF4-FFF2-40B4-BE49-F238E27FC236}">
                <a16:creationId xmlns:a16="http://schemas.microsoft.com/office/drawing/2014/main" id="{1392BB8E-D1A7-4AFE-BE64-ED0D9AE2B06A}"/>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4-definition-0">
            <a:extLst xmlns:a="http://schemas.openxmlformats.org/drawingml/2006/main">
              <a:ext uri="{FF2B5EF4-FFF2-40B4-BE49-F238E27FC236}">
                <a16:creationId xmlns:a16="http://schemas.microsoft.com/office/drawing/2014/main" id="{7E7BBDD6-9C99-4350-BDC4-57BAFDEF86B1}"/>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physical quantity is a numerical value multiplied by a unit.</a:t>
            </a:r>
          </a:p>
        </p:txBody>
      </p:sp>
      <p:sp>
        <p:nvSpPr>
          <p:cNvPr id="5" name="concept-4-definition-1">
            <a:extLst xmlns:a="http://schemas.openxmlformats.org/drawingml/2006/main">
              <a:ext uri="{FF2B5EF4-FFF2-40B4-BE49-F238E27FC236}">
                <a16:creationId xmlns:a16="http://schemas.microsoft.com/office/drawing/2014/main" id="{E1B9EFED-EFAD-4A38-8732-D2A062B9CF4E}"/>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Only quantities with compatible dimensions can be added.</a:t>
            </a:r>
          </a:p>
        </p:txBody>
      </p:sp>
      <p:sp>
        <p:nvSpPr>
          <p:cNvPr id="6" name="concept-4-formula-0">
            <a:extLst xmlns:a="http://schemas.openxmlformats.org/drawingml/2006/main">
              <a:ext uri="{FF2B5EF4-FFF2-40B4-BE49-F238E27FC236}">
                <a16:creationId xmlns:a16="http://schemas.microsoft.com/office/drawing/2014/main" id="{0DF4847B-9E24-4E6E-B68D-BBD91542D420}"/>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distance = speed × time</a:t>
            </a:r>
          </a:p>
        </p:txBody>
      </p:sp>
      <p:sp>
        <p:nvSpPr>
          <p:cNvPr id="7" name="concept-4-example-label-0">
            <a:extLst xmlns:a="http://schemas.openxmlformats.org/drawingml/2006/main">
              <a:ext uri="{FF2B5EF4-FFF2-40B4-BE49-F238E27FC236}">
                <a16:creationId xmlns:a16="http://schemas.microsoft.com/office/drawing/2014/main" id="{9C9C71E1-667A-4B78-AB2A-8AA87BA4327D}"/>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4-example-0">
            <a:extLst xmlns:a="http://schemas.openxmlformats.org/drawingml/2006/main">
              <a:ext uri="{FF2B5EF4-FFF2-40B4-BE49-F238E27FC236}">
                <a16:creationId xmlns:a16="http://schemas.microsoft.com/office/drawing/2014/main" id="{6D13F41C-CC50-4F37-977C-C7FB627CFE15}"/>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3 metres/second × 4 seconds = 12 metres. Seconds cancel.</a:t>
            </a:r>
          </a:p>
        </p:txBody>
      </p:sp>
      <p:sp>
        <p:nvSpPr>
          <p:cNvPr id="9" name="concept-4-metaphor-label-0">
            <a:extLst xmlns:a="http://schemas.openxmlformats.org/drawingml/2006/main">
              <a:ext uri="{FF2B5EF4-FFF2-40B4-BE49-F238E27FC236}">
                <a16:creationId xmlns:a16="http://schemas.microsoft.com/office/drawing/2014/main" id="{A7A96126-259A-4054-AFD7-9FBA5F650805}"/>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0" name="concept-4-metaphor-0">
            <a:extLst xmlns:a="http://schemas.openxmlformats.org/drawingml/2006/main">
              <a:ext uri="{FF2B5EF4-FFF2-40B4-BE49-F238E27FC236}">
                <a16:creationId xmlns:a16="http://schemas.microsoft.com/office/drawing/2014/main" id="{2DC4508D-8903-44E6-A4A7-A5CB116BE894}"/>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Units are labels on measuring cups. Mixing litres with metres</a:t>
            </a:r>
          </a:p>
        </p:txBody>
      </p:sp>
      <p:sp>
        <p:nvSpPr>
          <p:cNvPr id="11" name="concept-4-metaphor-1">
            <a:extLst xmlns:a="http://schemas.openxmlformats.org/drawingml/2006/main">
              <a:ext uri="{FF2B5EF4-FFF2-40B4-BE49-F238E27FC236}">
                <a16:creationId xmlns:a16="http://schemas.microsoft.com/office/drawing/2014/main" id="{3B24B330-ABB0-48B4-A816-94976A65B8AD}"/>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makes no meaningful total.</a:t>
            </a:r>
          </a:p>
        </p:txBody>
      </p:sp>
      <p:sp>
        <p:nvSpPr>
          <p:cNvPr id="12" name="concept-4-footer-0">
            <a:extLst xmlns:a="http://schemas.openxmlformats.org/drawingml/2006/main">
              <a:ext uri="{FF2B5EF4-FFF2-40B4-BE49-F238E27FC236}">
                <a16:creationId xmlns:a16="http://schemas.microsoft.com/office/drawing/2014/main" id="{1EA71A45-8247-4983-9072-CDCDDE6C561E}"/>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Vector</a:t>
            </a:r>
          </a:p>
        </p:txBody>
      </p:sp>
    </p:spTree>
    <p:extLst>
      <p:ext uri="{BB962C8B-B14F-4D97-AF65-F5344CB8AC3E}">
        <p14:creationId xmlns:p14="http://schemas.microsoft.com/office/powerpoint/2010/main" val="61568949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oncept-5-chapter-0">
            <a:extLst xmlns:a="http://schemas.openxmlformats.org/drawingml/2006/main">
              <a:ext uri="{FF2B5EF4-FFF2-40B4-BE49-F238E27FC236}">
                <a16:creationId xmlns:a16="http://schemas.microsoft.com/office/drawing/2014/main" id="{E9A57581-04C1-4648-A8AF-8E432D6EB0E7}"/>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005 / 100 · MATHEMATICS</a:t>
            </a:r>
          </a:p>
        </p:txBody>
      </p:sp>
      <p:sp>
        <p:nvSpPr>
          <p:cNvPr id="2" name="concept-5-title-0">
            <a:extLst xmlns:a="http://schemas.openxmlformats.org/drawingml/2006/main">
              <a:ext uri="{FF2B5EF4-FFF2-40B4-BE49-F238E27FC236}">
                <a16:creationId xmlns:a16="http://schemas.microsoft.com/office/drawing/2014/main" id="{132BDDCA-619A-44A2-8C76-D416398C5339}"/>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Vector</a:t>
            </a:r>
          </a:p>
        </p:txBody>
      </p:sp>
      <p:sp>
        <p:nvSpPr>
          <p:cNvPr id="3" name="concept-5-definition-label-0">
            <a:extLst xmlns:a="http://schemas.openxmlformats.org/drawingml/2006/main">
              <a:ext uri="{FF2B5EF4-FFF2-40B4-BE49-F238E27FC236}">
                <a16:creationId xmlns:a16="http://schemas.microsoft.com/office/drawing/2014/main" id="{DD5531FF-6520-4B31-A55C-A0DD4A9B4E40}"/>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5-definition-0">
            <a:extLst xmlns:a="http://schemas.openxmlformats.org/drawingml/2006/main">
              <a:ext uri="{FF2B5EF4-FFF2-40B4-BE49-F238E27FC236}">
                <a16:creationId xmlns:a16="http://schemas.microsoft.com/office/drawing/2014/main" id="{1DFD8A71-8EE6-4FCC-83D9-54C5CBCABDFA}"/>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vector in ℝⁿ is an ordered list of n real numbers. Each position</a:t>
            </a:r>
          </a:p>
        </p:txBody>
      </p:sp>
      <p:sp>
        <p:nvSpPr>
          <p:cNvPr id="5" name="concept-5-definition-1">
            <a:extLst xmlns:a="http://schemas.openxmlformats.org/drawingml/2006/main">
              <a:ext uri="{FF2B5EF4-FFF2-40B4-BE49-F238E27FC236}">
                <a16:creationId xmlns:a16="http://schemas.microsoft.com/office/drawing/2014/main" id="{F23A9114-1110-4E70-9059-B414B71C99FA}"/>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is a coordinate or feature.</a:t>
            </a:r>
          </a:p>
        </p:txBody>
      </p:sp>
      <p:sp>
        <p:nvSpPr>
          <p:cNvPr id="6" name="concept-5-formula-0">
            <a:extLst xmlns:a="http://schemas.openxmlformats.org/drawingml/2006/main">
              <a:ext uri="{FF2B5EF4-FFF2-40B4-BE49-F238E27FC236}">
                <a16:creationId xmlns:a16="http://schemas.microsoft.com/office/drawing/2014/main" id="{15D5DDD0-C3C7-4DE7-81F4-C1948E04C183}"/>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x = (x₁, …, xₙ); 2x = (2x₁, …, 2xₙ)</a:t>
            </a:r>
          </a:p>
        </p:txBody>
      </p:sp>
      <p:sp>
        <p:nvSpPr>
          <p:cNvPr id="7" name="concept-5-example-label-0">
            <a:extLst xmlns:a="http://schemas.openxmlformats.org/drawingml/2006/main">
              <a:ext uri="{FF2B5EF4-FFF2-40B4-BE49-F238E27FC236}">
                <a16:creationId xmlns:a16="http://schemas.microsoft.com/office/drawing/2014/main" id="{E29210E8-2012-4E89-B0CB-434350C0EC4D}"/>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5-example-0">
            <a:extLst xmlns:a="http://schemas.openxmlformats.org/drawingml/2006/main">
              <a:ext uri="{FF2B5EF4-FFF2-40B4-BE49-F238E27FC236}">
                <a16:creationId xmlns:a16="http://schemas.microsoft.com/office/drawing/2014/main" id="{BCAA3836-99F8-47B5-BDAF-E4A024B2AD3F}"/>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If x = (2, 3), then 2x = (4, 6). Order matters: (2, 3) ≠ (3, 2).</a:t>
            </a:r>
          </a:p>
        </p:txBody>
      </p:sp>
      <p:sp>
        <p:nvSpPr>
          <p:cNvPr id="9" name="concept-5-metaphor-label-0">
            <a:extLst xmlns:a="http://schemas.openxmlformats.org/drawingml/2006/main">
              <a:ext uri="{FF2B5EF4-FFF2-40B4-BE49-F238E27FC236}">
                <a16:creationId xmlns:a16="http://schemas.microsoft.com/office/drawing/2014/main" id="{915F4355-3ADC-4F19-84F9-2E8E56322B48}"/>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0" name="concept-5-metaphor-0">
            <a:extLst xmlns:a="http://schemas.openxmlformats.org/drawingml/2006/main">
              <a:ext uri="{FF2B5EF4-FFF2-40B4-BE49-F238E27FC236}">
                <a16:creationId xmlns:a16="http://schemas.microsoft.com/office/drawing/2014/main" id="{9BFF39B9-BFA5-4663-8437-4A8F5E707384}"/>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vector is a dashboard: each dial has its own fixed position.</a:t>
            </a:r>
          </a:p>
        </p:txBody>
      </p:sp>
      <p:sp>
        <p:nvSpPr>
          <p:cNvPr id="11" name="concept-5-footer-0">
            <a:extLst xmlns:a="http://schemas.openxmlformats.org/drawingml/2006/main">
              <a:ext uri="{FF2B5EF4-FFF2-40B4-BE49-F238E27FC236}">
                <a16:creationId xmlns:a16="http://schemas.microsoft.com/office/drawing/2014/main" id="{2561781D-6CE2-41E1-9826-26AA994DE0E2}"/>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Matrix</a:t>
            </a:r>
          </a:p>
        </p:txBody>
      </p:sp>
    </p:spTree>
    <p:extLst>
      <p:ext uri="{BB962C8B-B14F-4D97-AF65-F5344CB8AC3E}">
        <p14:creationId xmlns:p14="http://schemas.microsoft.com/office/powerpoint/2010/main" val="85651126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6-chapter-0">
            <a:extLst xmlns:a="http://schemas.openxmlformats.org/drawingml/2006/main">
              <a:ext uri="{FF2B5EF4-FFF2-40B4-BE49-F238E27FC236}">
                <a16:creationId xmlns:a16="http://schemas.microsoft.com/office/drawing/2014/main" id="{40BF2C3F-F015-48AB-8040-958A23644775}"/>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006 / 100 · MATHEMATICS</a:t>
            </a:r>
          </a:p>
        </p:txBody>
      </p:sp>
      <p:sp>
        <p:nvSpPr>
          <p:cNvPr id="2" name="concept-6-title-0">
            <a:extLst xmlns:a="http://schemas.openxmlformats.org/drawingml/2006/main">
              <a:ext uri="{FF2B5EF4-FFF2-40B4-BE49-F238E27FC236}">
                <a16:creationId xmlns:a16="http://schemas.microsoft.com/office/drawing/2014/main" id="{E4F82944-2F5E-48F1-AC2E-342E101FA643}"/>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Matrix</a:t>
            </a:r>
          </a:p>
        </p:txBody>
      </p:sp>
      <p:sp>
        <p:nvSpPr>
          <p:cNvPr id="3" name="concept-6-definition-label-0">
            <a:extLst xmlns:a="http://schemas.openxmlformats.org/drawingml/2006/main">
              <a:ext uri="{FF2B5EF4-FFF2-40B4-BE49-F238E27FC236}">
                <a16:creationId xmlns:a16="http://schemas.microsoft.com/office/drawing/2014/main" id="{8E9019A3-21D0-41A7-AD18-061821A9B1CD}"/>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6-definition-0">
            <a:extLst xmlns:a="http://schemas.openxmlformats.org/drawingml/2006/main">
              <a:ext uri="{FF2B5EF4-FFF2-40B4-BE49-F238E27FC236}">
                <a16:creationId xmlns:a16="http://schemas.microsoft.com/office/drawing/2014/main" id="{ECB4B6B3-C6C2-4FB4-9C23-27DB17B38F3F}"/>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matrix is a rectangular array of numbers with m rows and n</a:t>
            </a:r>
          </a:p>
        </p:txBody>
      </p:sp>
      <p:sp>
        <p:nvSpPr>
          <p:cNvPr id="5" name="concept-6-definition-1">
            <a:extLst xmlns:a="http://schemas.openxmlformats.org/drawingml/2006/main">
              <a:ext uri="{FF2B5EF4-FFF2-40B4-BE49-F238E27FC236}">
                <a16:creationId xmlns:a16="http://schemas.microsoft.com/office/drawing/2014/main" id="{93D683DF-C382-468F-83C8-17D89728626A}"/>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columns. Entry Aᵢⱼ lies in row i, column j.</a:t>
            </a:r>
          </a:p>
        </p:txBody>
      </p:sp>
      <p:sp>
        <p:nvSpPr>
          <p:cNvPr id="6" name="concept-6-formula-0">
            <a:extLst xmlns:a="http://schemas.openxmlformats.org/drawingml/2006/main">
              <a:ext uri="{FF2B5EF4-FFF2-40B4-BE49-F238E27FC236}">
                <a16:creationId xmlns:a16="http://schemas.microsoft.com/office/drawing/2014/main" id="{5D95396E-FAE1-4B8A-9ED6-477C786D5729}"/>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A ∈ ℝᵐˣⁿ; A = [[1, 2, 3], [4, 5, 6]]</a:t>
            </a:r>
          </a:p>
        </p:txBody>
      </p:sp>
      <p:sp>
        <p:nvSpPr>
          <p:cNvPr id="7" name="concept-6-example-label-0">
            <a:extLst xmlns:a="http://schemas.openxmlformats.org/drawingml/2006/main">
              <a:ext uri="{FF2B5EF4-FFF2-40B4-BE49-F238E27FC236}">
                <a16:creationId xmlns:a16="http://schemas.microsoft.com/office/drawing/2014/main" id="{FBD4F9A2-E65C-410E-84AD-2250D008AA41}"/>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6-example-0">
            <a:extLst xmlns:a="http://schemas.openxmlformats.org/drawingml/2006/main">
              <a:ext uri="{FF2B5EF4-FFF2-40B4-BE49-F238E27FC236}">
                <a16:creationId xmlns:a16="http://schemas.microsoft.com/office/drawing/2014/main" id="{08E19723-2103-431D-B664-4E32E3B1BDF7}"/>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This 2 × 3 matrix has six entries. A₂₃ = 6. Each inner bracket is</a:t>
            </a:r>
          </a:p>
        </p:txBody>
      </p:sp>
      <p:sp>
        <p:nvSpPr>
          <p:cNvPr id="9" name="concept-6-example-1">
            <a:extLst xmlns:a="http://schemas.openxmlformats.org/drawingml/2006/main">
              <a:ext uri="{FF2B5EF4-FFF2-40B4-BE49-F238E27FC236}">
                <a16:creationId xmlns:a16="http://schemas.microsoft.com/office/drawing/2014/main" id="{7295A098-5F0D-4EC1-BB94-ED00646208FB}"/>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one row.</a:t>
            </a:r>
          </a:p>
        </p:txBody>
      </p:sp>
      <p:sp>
        <p:nvSpPr>
          <p:cNvPr id="10" name="concept-6-metaphor-label-0">
            <a:extLst xmlns:a="http://schemas.openxmlformats.org/drawingml/2006/main">
              <a:ext uri="{FF2B5EF4-FFF2-40B4-BE49-F238E27FC236}">
                <a16:creationId xmlns:a16="http://schemas.microsoft.com/office/drawing/2014/main" id="{215478AA-93D9-4896-85ED-9A42BADE097E}"/>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6-metaphor-0">
            <a:extLst xmlns:a="http://schemas.openxmlformats.org/drawingml/2006/main">
              <a:ext uri="{FF2B5EF4-FFF2-40B4-BE49-F238E27FC236}">
                <a16:creationId xmlns:a16="http://schemas.microsoft.com/office/drawing/2014/main" id="{A3749AEB-658A-47FD-B69F-5AD6D4B1F9EA}"/>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spreadsheet with numbered rows and columns is a matrix</a:t>
            </a:r>
          </a:p>
        </p:txBody>
      </p:sp>
      <p:sp>
        <p:nvSpPr>
          <p:cNvPr id="12" name="concept-6-metaphor-1">
            <a:extLst xmlns:a="http://schemas.openxmlformats.org/drawingml/2006/main">
              <a:ext uri="{FF2B5EF4-FFF2-40B4-BE49-F238E27FC236}">
                <a16:creationId xmlns:a16="http://schemas.microsoft.com/office/drawing/2014/main" id="{370F132B-D422-46C0-A565-8B8F36D7AFF9}"/>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when its cells are numbers.</a:t>
            </a:r>
          </a:p>
        </p:txBody>
      </p:sp>
      <p:sp>
        <p:nvSpPr>
          <p:cNvPr id="13" name="concept-6-footer-0">
            <a:extLst xmlns:a="http://schemas.openxmlformats.org/drawingml/2006/main">
              <a:ext uri="{FF2B5EF4-FFF2-40B4-BE49-F238E27FC236}">
                <a16:creationId xmlns:a16="http://schemas.microsoft.com/office/drawing/2014/main" id="{A3850388-9F3A-4F57-9925-D0C63785D9C0}"/>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Tensor</a:t>
            </a:r>
          </a:p>
        </p:txBody>
      </p:sp>
    </p:spTree>
    <p:extLst>
      <p:ext uri="{BB962C8B-B14F-4D97-AF65-F5344CB8AC3E}">
        <p14:creationId xmlns:p14="http://schemas.microsoft.com/office/powerpoint/2010/main" val="195950842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7-chapter-0">
            <a:extLst xmlns:a="http://schemas.openxmlformats.org/drawingml/2006/main">
              <a:ext uri="{FF2B5EF4-FFF2-40B4-BE49-F238E27FC236}">
                <a16:creationId xmlns:a16="http://schemas.microsoft.com/office/drawing/2014/main" id="{E4BADF82-3FE8-427A-86FE-F1741803609B}"/>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007 / 100 · MATHEMATICS</a:t>
            </a:r>
          </a:p>
        </p:txBody>
      </p:sp>
      <p:sp>
        <p:nvSpPr>
          <p:cNvPr id="2" name="concept-7-title-0">
            <a:extLst xmlns:a="http://schemas.openxmlformats.org/drawingml/2006/main">
              <a:ext uri="{FF2B5EF4-FFF2-40B4-BE49-F238E27FC236}">
                <a16:creationId xmlns:a16="http://schemas.microsoft.com/office/drawing/2014/main" id="{46B23A0A-B6FE-46F4-A7D0-F9A2DF9DB221}"/>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Tensor</a:t>
            </a:r>
          </a:p>
        </p:txBody>
      </p:sp>
      <p:sp>
        <p:nvSpPr>
          <p:cNvPr id="3" name="concept-7-definition-label-0">
            <a:extLst xmlns:a="http://schemas.openxmlformats.org/drawingml/2006/main">
              <a:ext uri="{FF2B5EF4-FFF2-40B4-BE49-F238E27FC236}">
                <a16:creationId xmlns:a16="http://schemas.microsoft.com/office/drawing/2014/main" id="{9F3FF3E8-8355-43C1-8003-DAD808693A9F}"/>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7-definition-0">
            <a:extLst xmlns:a="http://schemas.openxmlformats.org/drawingml/2006/main">
              <a:ext uri="{FF2B5EF4-FFF2-40B4-BE49-F238E27FC236}">
                <a16:creationId xmlns:a16="http://schemas.microsoft.com/office/drawing/2014/main" id="{575D4FD4-BD56-453A-A3F9-B35D62E306F3}"/>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 machine learning, a tensor organizes numbers along axes.</a:t>
            </a:r>
          </a:p>
        </p:txBody>
      </p:sp>
      <p:sp>
        <p:nvSpPr>
          <p:cNvPr id="5" name="concept-7-definition-1">
            <a:extLst xmlns:a="http://schemas.openxmlformats.org/drawingml/2006/main">
              <a:ext uri="{FF2B5EF4-FFF2-40B4-BE49-F238E27FC236}">
                <a16:creationId xmlns:a16="http://schemas.microsoft.com/office/drawing/2014/main" id="{08445799-A438-491C-B839-30CC756856C1}"/>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Each entry has one index per axis. A vector has one axis, a</a:t>
            </a:r>
          </a:p>
        </p:txBody>
      </p:sp>
      <p:sp>
        <p:nvSpPr>
          <p:cNvPr id="14" name="concept-7-definition-2">
            <a:extLst xmlns:a="http://schemas.openxmlformats.org/drawingml/2006/main">
              <a:ext uri="{FF2B5EF4-FFF2-40B4-BE49-F238E27FC236}">
                <a16:creationId xmlns:a16="http://schemas.microsoft.com/office/drawing/2014/main" id="{2A442FF3-7AF4-4B11-898B-F3C1FC2B3FF7}"/>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matrix two, and a stack of matrices three.</a:t>
            </a:r>
          </a:p>
        </p:txBody>
      </p:sp>
      <p:sp>
        <p:nvSpPr>
          <p:cNvPr id="6" name="concept-7-formula-0">
            <a:extLst xmlns:a="http://schemas.openxmlformats.org/drawingml/2006/main">
              <a:ext uri="{FF2B5EF4-FFF2-40B4-BE49-F238E27FC236}">
                <a16:creationId xmlns:a16="http://schemas.microsoft.com/office/drawing/2014/main" id="{22C2910D-DD11-4531-867F-F98B8A044EE2}"/>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T ∈ ℝ²ˣ²ˣ²; Tᵢⱼₖ selects layer i, row j, column k</a:t>
            </a:r>
          </a:p>
        </p:txBody>
      </p:sp>
      <p:sp>
        <p:nvSpPr>
          <p:cNvPr id="7" name="concept-7-example-label-0">
            <a:extLst xmlns:a="http://schemas.openxmlformats.org/drawingml/2006/main">
              <a:ext uri="{FF2B5EF4-FFF2-40B4-BE49-F238E27FC236}">
                <a16:creationId xmlns:a16="http://schemas.microsoft.com/office/drawing/2014/main" id="{8E27E853-AC38-4530-BF6D-AD3AD79ACD2F}"/>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7-example-0">
            <a:extLst xmlns:a="http://schemas.openxmlformats.org/drawingml/2006/main">
              <a:ext uri="{FF2B5EF4-FFF2-40B4-BE49-F238E27FC236}">
                <a16:creationId xmlns:a16="http://schemas.microsoft.com/office/drawing/2014/main" id="{83CA660F-8A52-4081-B88C-F78BEF0DB708}"/>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Layers: [[1, 2], [3, 4]] and [[5, 6], [7, 8]]. T₂₁₂ = 6: layer 2, row</a:t>
            </a:r>
          </a:p>
        </p:txBody>
      </p:sp>
      <p:sp>
        <p:nvSpPr>
          <p:cNvPr id="9" name="concept-7-example-1">
            <a:extLst xmlns:a="http://schemas.openxmlformats.org/drawingml/2006/main">
              <a:ext uri="{FF2B5EF4-FFF2-40B4-BE49-F238E27FC236}">
                <a16:creationId xmlns:a16="http://schemas.microsoft.com/office/drawing/2014/main" id="{4E2F17AC-D4A8-43CF-B802-5859A65C9D58}"/>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1, column 2. Its shape is (2, 2, 2).</a:t>
            </a:r>
          </a:p>
        </p:txBody>
      </p:sp>
      <p:sp>
        <p:nvSpPr>
          <p:cNvPr id="10" name="concept-7-metaphor-label-0">
            <a:extLst xmlns:a="http://schemas.openxmlformats.org/drawingml/2006/main">
              <a:ext uri="{FF2B5EF4-FFF2-40B4-BE49-F238E27FC236}">
                <a16:creationId xmlns:a16="http://schemas.microsoft.com/office/drawing/2014/main" id="{0FD789CA-381B-4117-9C90-1229537EDB04}"/>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7-metaphor-0">
            <a:extLst xmlns:a="http://schemas.openxmlformats.org/drawingml/2006/main">
              <a:ext uri="{FF2B5EF4-FFF2-40B4-BE49-F238E27FC236}">
                <a16:creationId xmlns:a16="http://schemas.microsoft.com/office/drawing/2014/main" id="{F03BE01B-9C85-43C9-A707-30551ECFA9FE}"/>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book of number tables needs a page, row, and column to</a:t>
            </a:r>
          </a:p>
        </p:txBody>
      </p:sp>
      <p:sp>
        <p:nvSpPr>
          <p:cNvPr id="12" name="concept-7-metaphor-1">
            <a:extLst xmlns:a="http://schemas.openxmlformats.org/drawingml/2006/main">
              <a:ext uri="{FF2B5EF4-FFF2-40B4-BE49-F238E27FC236}">
                <a16:creationId xmlns:a16="http://schemas.microsoft.com/office/drawing/2014/main" id="{0FEB02FC-15AA-4559-B7CE-EF9CBCE54860}"/>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locate one number.</a:t>
            </a:r>
          </a:p>
        </p:txBody>
      </p:sp>
      <p:sp>
        <p:nvSpPr>
          <p:cNvPr id="13" name="concept-7-footer-0">
            <a:extLst xmlns:a="http://schemas.openxmlformats.org/drawingml/2006/main">
              <a:ext uri="{FF2B5EF4-FFF2-40B4-BE49-F238E27FC236}">
                <a16:creationId xmlns:a16="http://schemas.microsoft.com/office/drawing/2014/main" id="{06B70B53-81D7-4210-B4C8-FC5DE78132DA}"/>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Summation</a:t>
            </a:r>
          </a:p>
        </p:txBody>
      </p:sp>
    </p:spTree>
    <p:extLst>
      <p:ext uri="{BB962C8B-B14F-4D97-AF65-F5344CB8AC3E}">
        <p14:creationId xmlns:p14="http://schemas.microsoft.com/office/powerpoint/2010/main" val="1912124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ncept-8-chapter-0">
            <a:extLst xmlns:a="http://schemas.openxmlformats.org/drawingml/2006/main">
              <a:ext uri="{FF2B5EF4-FFF2-40B4-BE49-F238E27FC236}">
                <a16:creationId xmlns:a16="http://schemas.microsoft.com/office/drawing/2014/main" id="{42BD1E5E-A6E6-493F-B628-C9E0642CE71F}"/>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008 / 100 · MATHEMATICS</a:t>
            </a:r>
          </a:p>
        </p:txBody>
      </p:sp>
      <p:sp>
        <p:nvSpPr>
          <p:cNvPr id="2" name="concept-8-title-0">
            <a:extLst xmlns:a="http://schemas.openxmlformats.org/drawingml/2006/main">
              <a:ext uri="{FF2B5EF4-FFF2-40B4-BE49-F238E27FC236}">
                <a16:creationId xmlns:a16="http://schemas.microsoft.com/office/drawing/2014/main" id="{934F522D-B0FA-4248-AA7A-D6BDE24F2813}"/>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Summation</a:t>
            </a:r>
          </a:p>
        </p:txBody>
      </p:sp>
      <p:sp>
        <p:nvSpPr>
          <p:cNvPr id="3" name="concept-8-definition-label-0">
            <a:extLst xmlns:a="http://schemas.openxmlformats.org/drawingml/2006/main">
              <a:ext uri="{FF2B5EF4-FFF2-40B4-BE49-F238E27FC236}">
                <a16:creationId xmlns:a16="http://schemas.microsoft.com/office/drawing/2014/main" id="{0D5EEF1C-4E5B-4DE6-BB3C-1E925260BC49}"/>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8-definition-0">
            <a:extLst xmlns:a="http://schemas.openxmlformats.org/drawingml/2006/main">
              <a:ext uri="{FF2B5EF4-FFF2-40B4-BE49-F238E27FC236}">
                <a16:creationId xmlns:a16="http://schemas.microsoft.com/office/drawing/2014/main" id="{9E965B89-4353-478A-AA10-24A518AD003E}"/>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Summation adds a specified sequence of terms. The symbol Σ</a:t>
            </a:r>
          </a:p>
        </p:txBody>
      </p:sp>
      <p:sp>
        <p:nvSpPr>
          <p:cNvPr id="5" name="concept-8-definition-1">
            <a:extLst xmlns:a="http://schemas.openxmlformats.org/drawingml/2006/main">
              <a:ext uri="{FF2B5EF4-FFF2-40B4-BE49-F238E27FC236}">
                <a16:creationId xmlns:a16="http://schemas.microsoft.com/office/drawing/2014/main" id="{7F5D4836-2139-4D74-9272-153474B4CB75}"/>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says which index varies and where it starts and ends.</a:t>
            </a:r>
          </a:p>
        </p:txBody>
      </p:sp>
      <p:sp>
        <p:nvSpPr>
          <p:cNvPr id="6" name="concept-8-formula-0">
            <a:extLst xmlns:a="http://schemas.openxmlformats.org/drawingml/2006/main">
              <a:ext uri="{FF2B5EF4-FFF2-40B4-BE49-F238E27FC236}">
                <a16:creationId xmlns:a16="http://schemas.microsoft.com/office/drawing/2014/main" id="{FADA4BE4-42BD-4E56-B27C-581192D7DC46}"/>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Σᵢ₌₁ⁿ xᵢ = x₁ + x₂ + ⋯ + xₙ</a:t>
            </a:r>
          </a:p>
        </p:txBody>
      </p:sp>
      <p:sp>
        <p:nvSpPr>
          <p:cNvPr id="7" name="concept-8-example-label-0">
            <a:extLst xmlns:a="http://schemas.openxmlformats.org/drawingml/2006/main">
              <a:ext uri="{FF2B5EF4-FFF2-40B4-BE49-F238E27FC236}">
                <a16:creationId xmlns:a16="http://schemas.microsoft.com/office/drawing/2014/main" id="{670DA97D-F106-4529-9FBD-9C3678AD24B8}"/>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8-example-0">
            <a:extLst xmlns:a="http://schemas.openxmlformats.org/drawingml/2006/main">
              <a:ext uri="{FF2B5EF4-FFF2-40B4-BE49-F238E27FC236}">
                <a16:creationId xmlns:a16="http://schemas.microsoft.com/office/drawing/2014/main" id="{C40F7469-88A0-409F-A90D-14149BBC48F7}"/>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x = (2, 4, 6), Σᵢ₌₁³ xᵢ = 12. Their mean is 12/3 = 4.</a:t>
            </a:r>
          </a:p>
        </p:txBody>
      </p:sp>
      <p:sp>
        <p:nvSpPr>
          <p:cNvPr id="9" name="concept-8-metaphor-label-0">
            <a:extLst xmlns:a="http://schemas.openxmlformats.org/drawingml/2006/main">
              <a:ext uri="{FF2B5EF4-FFF2-40B4-BE49-F238E27FC236}">
                <a16:creationId xmlns:a16="http://schemas.microsoft.com/office/drawing/2014/main" id="{90410232-A4E3-43CF-8277-E5A1FF92281E}"/>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0" name="concept-8-metaphor-0">
            <a:extLst xmlns:a="http://schemas.openxmlformats.org/drawingml/2006/main">
              <a:ext uri="{FF2B5EF4-FFF2-40B4-BE49-F238E27FC236}">
                <a16:creationId xmlns:a16="http://schemas.microsoft.com/office/drawing/2014/main" id="{43202425-F16B-4BEB-A8E5-E49B2CD0EDB8}"/>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Σ is an instruction to sweep the named numbers into one</a:t>
            </a:r>
          </a:p>
        </p:txBody>
      </p:sp>
      <p:sp>
        <p:nvSpPr>
          <p:cNvPr id="11" name="concept-8-metaphor-1">
            <a:extLst xmlns:a="http://schemas.openxmlformats.org/drawingml/2006/main">
              <a:ext uri="{FF2B5EF4-FFF2-40B4-BE49-F238E27FC236}">
                <a16:creationId xmlns:a16="http://schemas.microsoft.com/office/drawing/2014/main" id="{8BAE68C9-B013-408E-B338-929A5A193437}"/>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adding bucket.</a:t>
            </a:r>
          </a:p>
        </p:txBody>
      </p:sp>
      <p:sp>
        <p:nvSpPr>
          <p:cNvPr id="12" name="concept-8-footer-0">
            <a:extLst xmlns:a="http://schemas.openxmlformats.org/drawingml/2006/main">
              <a:ext uri="{FF2B5EF4-FFF2-40B4-BE49-F238E27FC236}">
                <a16:creationId xmlns:a16="http://schemas.microsoft.com/office/drawing/2014/main" id="{3EE0F94B-B1FB-42CF-AD5E-A43140E27BE4}"/>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Dot product</a:t>
            </a:r>
          </a:p>
        </p:txBody>
      </p:sp>
    </p:spTree>
    <p:extLst>
      <p:ext uri="{BB962C8B-B14F-4D97-AF65-F5344CB8AC3E}">
        <p14:creationId xmlns:p14="http://schemas.microsoft.com/office/powerpoint/2010/main" val="4300853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ncept-9-chapter-0">
            <a:extLst xmlns:a="http://schemas.openxmlformats.org/drawingml/2006/main">
              <a:ext uri="{FF2B5EF4-FFF2-40B4-BE49-F238E27FC236}">
                <a16:creationId xmlns:a16="http://schemas.microsoft.com/office/drawing/2014/main" id="{81014876-5EE6-4FF5-9309-4C4B842187CF}"/>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009 / 100 · MATHEMATICS</a:t>
            </a:r>
          </a:p>
        </p:txBody>
      </p:sp>
      <p:sp>
        <p:nvSpPr>
          <p:cNvPr id="2" name="concept-9-title-0">
            <a:extLst xmlns:a="http://schemas.openxmlformats.org/drawingml/2006/main">
              <a:ext uri="{FF2B5EF4-FFF2-40B4-BE49-F238E27FC236}">
                <a16:creationId xmlns:a16="http://schemas.microsoft.com/office/drawing/2014/main" id="{CA3BBD2F-9B54-4828-B535-6F6EAA13D1DB}"/>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Dot product</a:t>
            </a:r>
          </a:p>
        </p:txBody>
      </p:sp>
      <p:sp>
        <p:nvSpPr>
          <p:cNvPr id="3" name="concept-9-definition-label-0">
            <a:extLst xmlns:a="http://schemas.openxmlformats.org/drawingml/2006/main">
              <a:ext uri="{FF2B5EF4-FFF2-40B4-BE49-F238E27FC236}">
                <a16:creationId xmlns:a16="http://schemas.microsoft.com/office/drawing/2014/main" id="{BD647B4E-11B5-4F58-8DA8-AF4845699D54}"/>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9-definition-0">
            <a:extLst xmlns:a="http://schemas.openxmlformats.org/drawingml/2006/main">
              <a:ext uri="{FF2B5EF4-FFF2-40B4-BE49-F238E27FC236}">
                <a16:creationId xmlns:a16="http://schemas.microsoft.com/office/drawing/2014/main" id="{9D67B421-B5B2-4458-813F-48BC41354CA3}"/>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dot product of two equal-length vectors multiplies</a:t>
            </a:r>
          </a:p>
        </p:txBody>
      </p:sp>
      <p:sp>
        <p:nvSpPr>
          <p:cNvPr id="5" name="concept-9-definition-1">
            <a:extLst xmlns:a="http://schemas.openxmlformats.org/drawingml/2006/main">
              <a:ext uri="{FF2B5EF4-FFF2-40B4-BE49-F238E27FC236}">
                <a16:creationId xmlns:a16="http://schemas.microsoft.com/office/drawing/2014/main" id="{B821A00B-7391-42B2-B8D2-94C852AD61D7}"/>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matching coordinates and adds the products.</a:t>
            </a:r>
          </a:p>
        </p:txBody>
      </p:sp>
      <p:sp>
        <p:nvSpPr>
          <p:cNvPr id="6" name="concept-9-formula-0">
            <a:extLst xmlns:a="http://schemas.openxmlformats.org/drawingml/2006/main">
              <a:ext uri="{FF2B5EF4-FFF2-40B4-BE49-F238E27FC236}">
                <a16:creationId xmlns:a16="http://schemas.microsoft.com/office/drawing/2014/main" id="{9C43D0C8-654E-4A85-AFDB-ADF219B95D4D}"/>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x · w = Σᵢ xᵢwᵢ</a:t>
            </a:r>
          </a:p>
        </p:txBody>
      </p:sp>
      <p:sp>
        <p:nvSpPr>
          <p:cNvPr id="7" name="concept-9-example-label-0">
            <a:extLst xmlns:a="http://schemas.openxmlformats.org/drawingml/2006/main">
              <a:ext uri="{FF2B5EF4-FFF2-40B4-BE49-F238E27FC236}">
                <a16:creationId xmlns:a16="http://schemas.microsoft.com/office/drawing/2014/main" id="{9639ADE1-096D-4EE0-A407-53EF2C2EF727}"/>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9-example-0">
            <a:extLst xmlns:a="http://schemas.openxmlformats.org/drawingml/2006/main">
              <a:ext uri="{FF2B5EF4-FFF2-40B4-BE49-F238E27FC236}">
                <a16:creationId xmlns:a16="http://schemas.microsoft.com/office/drawing/2014/main" id="{865CFE55-5E4E-4D7B-A06C-0E2B3BE9CD82}"/>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With x = (2, 3) and w = (4, 5), x · w = 8 + 15 = 23.</a:t>
            </a:r>
          </a:p>
        </p:txBody>
      </p:sp>
      <p:sp>
        <p:nvSpPr>
          <p:cNvPr id="9" name="concept-9-metaphor-label-0">
            <a:extLst xmlns:a="http://schemas.openxmlformats.org/drawingml/2006/main">
              <a:ext uri="{FF2B5EF4-FFF2-40B4-BE49-F238E27FC236}">
                <a16:creationId xmlns:a16="http://schemas.microsoft.com/office/drawing/2014/main" id="{8885FEE9-5DDA-40B2-A383-948F7F7C2ED8}"/>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0" name="concept-9-metaphor-0">
            <a:extLst xmlns:a="http://schemas.openxmlformats.org/drawingml/2006/main">
              <a:ext uri="{FF2B5EF4-FFF2-40B4-BE49-F238E27FC236}">
                <a16:creationId xmlns:a16="http://schemas.microsoft.com/office/drawing/2014/main" id="{4111267A-414D-4BAF-8721-27EA4629398A}"/>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shopping bill multiplies each quantity by its price, then adds</a:t>
            </a:r>
          </a:p>
        </p:txBody>
      </p:sp>
      <p:sp>
        <p:nvSpPr>
          <p:cNvPr id="11" name="concept-9-metaphor-1">
            <a:extLst xmlns:a="http://schemas.openxmlformats.org/drawingml/2006/main">
              <a:ext uri="{FF2B5EF4-FFF2-40B4-BE49-F238E27FC236}">
                <a16:creationId xmlns:a16="http://schemas.microsoft.com/office/drawing/2014/main" id="{0C1EEEF4-AC27-4F75-BAD5-67B2AB0F3EA5}"/>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costs.</a:t>
            </a:r>
          </a:p>
        </p:txBody>
      </p:sp>
      <p:sp>
        <p:nvSpPr>
          <p:cNvPr id="12" name="concept-9-footer-0">
            <a:extLst xmlns:a="http://schemas.openxmlformats.org/drawingml/2006/main">
              <a:ext uri="{FF2B5EF4-FFF2-40B4-BE49-F238E27FC236}">
                <a16:creationId xmlns:a16="http://schemas.microsoft.com/office/drawing/2014/main" id="{C98C1D22-9689-494F-BB4B-443CC077EDEF}"/>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Matrix multiplication</a:t>
            </a:r>
          </a:p>
        </p:txBody>
      </p:sp>
    </p:spTree>
    <p:extLst>
      <p:ext uri="{BB962C8B-B14F-4D97-AF65-F5344CB8AC3E}">
        <p14:creationId xmlns:p14="http://schemas.microsoft.com/office/powerpoint/2010/main" val="80598304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ncept-10-chapter-0">
            <a:extLst xmlns:a="http://schemas.openxmlformats.org/drawingml/2006/main">
              <a:ext uri="{FF2B5EF4-FFF2-40B4-BE49-F238E27FC236}">
                <a16:creationId xmlns:a16="http://schemas.microsoft.com/office/drawing/2014/main" id="{C3814A36-D8D6-43D4-8FEA-22B14317DB46}"/>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010 / 100 · MATHEMATICS</a:t>
            </a:r>
          </a:p>
        </p:txBody>
      </p:sp>
      <p:sp>
        <p:nvSpPr>
          <p:cNvPr id="2" name="concept-10-title-0">
            <a:extLst xmlns:a="http://schemas.openxmlformats.org/drawingml/2006/main">
              <a:ext uri="{FF2B5EF4-FFF2-40B4-BE49-F238E27FC236}">
                <a16:creationId xmlns:a16="http://schemas.microsoft.com/office/drawing/2014/main" id="{442C1EB8-375D-4079-8289-99590747E527}"/>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Matrix multiplication</a:t>
            </a:r>
          </a:p>
        </p:txBody>
      </p:sp>
      <p:sp>
        <p:nvSpPr>
          <p:cNvPr id="3" name="concept-10-definition-label-0">
            <a:extLst xmlns:a="http://schemas.openxmlformats.org/drawingml/2006/main">
              <a:ext uri="{FF2B5EF4-FFF2-40B4-BE49-F238E27FC236}">
                <a16:creationId xmlns:a16="http://schemas.microsoft.com/office/drawing/2014/main" id="{1A8EDE5B-AFC2-4405-A19A-D691083E3CA7}"/>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10-definition-0">
            <a:extLst xmlns:a="http://schemas.openxmlformats.org/drawingml/2006/main">
              <a:ext uri="{FF2B5EF4-FFF2-40B4-BE49-F238E27FC236}">
                <a16:creationId xmlns:a16="http://schemas.microsoft.com/office/drawing/2014/main" id="{7137B35E-C1C0-40FA-AEE8-1F074B2786DB}"/>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A of shape m × n and B of shape n × p, AB has shape m ×</a:t>
            </a:r>
          </a:p>
        </p:txBody>
      </p:sp>
      <p:sp>
        <p:nvSpPr>
          <p:cNvPr id="5" name="concept-10-definition-1">
            <a:extLst xmlns:a="http://schemas.openxmlformats.org/drawingml/2006/main">
              <a:ext uri="{FF2B5EF4-FFF2-40B4-BE49-F238E27FC236}">
                <a16:creationId xmlns:a16="http://schemas.microsoft.com/office/drawing/2014/main" id="{5BFDE22D-9407-4861-A382-FDB6A8B4532B}"/>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 Each entry is a row-column dot product.</a:t>
            </a:r>
          </a:p>
        </p:txBody>
      </p:sp>
      <p:sp>
        <p:nvSpPr>
          <p:cNvPr id="6" name="concept-10-formula-0">
            <a:extLst xmlns:a="http://schemas.openxmlformats.org/drawingml/2006/main">
              <a:ext uri="{FF2B5EF4-FFF2-40B4-BE49-F238E27FC236}">
                <a16:creationId xmlns:a16="http://schemas.microsoft.com/office/drawing/2014/main" id="{3374A4A5-423F-4A69-98C6-AF2730699159}"/>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(AB)ᵢⱼ = Σₖ₌₁ⁿ AᵢₖBₖⱼ</a:t>
            </a:r>
          </a:p>
        </p:txBody>
      </p:sp>
      <p:sp>
        <p:nvSpPr>
          <p:cNvPr id="7" name="concept-10-example-label-0">
            <a:extLst xmlns:a="http://schemas.openxmlformats.org/drawingml/2006/main">
              <a:ext uri="{FF2B5EF4-FFF2-40B4-BE49-F238E27FC236}">
                <a16:creationId xmlns:a16="http://schemas.microsoft.com/office/drawing/2014/main" id="{F9C7CDF9-2F18-4DC1-B350-385B8D9F2D52}"/>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10-example-0">
            <a:extLst xmlns:a="http://schemas.openxmlformats.org/drawingml/2006/main">
              <a:ext uri="{FF2B5EF4-FFF2-40B4-BE49-F238E27FC236}">
                <a16:creationId xmlns:a16="http://schemas.microsoft.com/office/drawing/2014/main" id="{70862D2D-5774-45BA-8E3C-1A5C8D225B20}"/>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[[1, 2], [3, 4]] × [[5], [6]] = [[17], [39]]. First entry: 1×5 + 2×6</a:t>
            </a:r>
          </a:p>
        </p:txBody>
      </p:sp>
      <p:sp>
        <p:nvSpPr>
          <p:cNvPr id="12" name="concept-10-example-1">
            <a:extLst xmlns:a="http://schemas.openxmlformats.org/drawingml/2006/main">
              <a:ext uri="{FF2B5EF4-FFF2-40B4-BE49-F238E27FC236}">
                <a16:creationId xmlns:a16="http://schemas.microsoft.com/office/drawing/2014/main" id="{0C0E955D-B3F8-4C04-BAE6-A2E9F342BC0F}"/>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 17. Second: 3×5 + 4×6 = 39.</a:t>
            </a:r>
          </a:p>
        </p:txBody>
      </p:sp>
      <p:sp>
        <p:nvSpPr>
          <p:cNvPr id="9" name="concept-10-metaphor-label-0">
            <a:extLst xmlns:a="http://schemas.openxmlformats.org/drawingml/2006/main">
              <a:ext uri="{FF2B5EF4-FFF2-40B4-BE49-F238E27FC236}">
                <a16:creationId xmlns:a16="http://schemas.microsoft.com/office/drawing/2014/main" id="{272830BE-A572-44C4-8A77-987903B7AED0}"/>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0" name="concept-10-metaphor-0">
            <a:extLst xmlns:a="http://schemas.openxmlformats.org/drawingml/2006/main">
              <a:ext uri="{FF2B5EF4-FFF2-40B4-BE49-F238E27FC236}">
                <a16:creationId xmlns:a16="http://schemas.microsoft.com/office/drawing/2014/main" id="{73969044-E0B1-444B-83A6-73D00E4EFBE1}"/>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Each row submits a shopping list to each column of prices.</a:t>
            </a:r>
          </a:p>
        </p:txBody>
      </p:sp>
      <p:sp>
        <p:nvSpPr>
          <p:cNvPr id="11" name="concept-10-footer-0">
            <a:extLst xmlns:a="http://schemas.openxmlformats.org/drawingml/2006/main">
              <a:ext uri="{FF2B5EF4-FFF2-40B4-BE49-F238E27FC236}">
                <a16:creationId xmlns:a16="http://schemas.microsoft.com/office/drawing/2014/main" id="{7CE4759C-3BA6-4FE6-9BFE-6DF0807A886A}"/>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Transpose</a:t>
            </a:r>
          </a:p>
        </p:txBody>
      </p:sp>
    </p:spTree>
    <p:extLst>
      <p:ext uri="{BB962C8B-B14F-4D97-AF65-F5344CB8AC3E}">
        <p14:creationId xmlns:p14="http://schemas.microsoft.com/office/powerpoint/2010/main" val="2969153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ncept-11-chapter-0">
            <a:extLst xmlns:a="http://schemas.openxmlformats.org/drawingml/2006/main">
              <a:ext uri="{FF2B5EF4-FFF2-40B4-BE49-F238E27FC236}">
                <a16:creationId xmlns:a16="http://schemas.microsoft.com/office/drawing/2014/main" id="{9C03B626-7B02-4CF2-80C1-6127DEA04688}"/>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011 / 100 · MATHEMATICS</a:t>
            </a:r>
          </a:p>
        </p:txBody>
      </p:sp>
      <p:sp>
        <p:nvSpPr>
          <p:cNvPr id="2" name="concept-11-title-0">
            <a:extLst xmlns:a="http://schemas.openxmlformats.org/drawingml/2006/main">
              <a:ext uri="{FF2B5EF4-FFF2-40B4-BE49-F238E27FC236}">
                <a16:creationId xmlns:a16="http://schemas.microsoft.com/office/drawing/2014/main" id="{185A830E-4326-4A67-AD94-43545E100E90}"/>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Transpose</a:t>
            </a:r>
          </a:p>
        </p:txBody>
      </p:sp>
      <p:sp>
        <p:nvSpPr>
          <p:cNvPr id="3" name="concept-11-definition-label-0">
            <a:extLst xmlns:a="http://schemas.openxmlformats.org/drawingml/2006/main">
              <a:ext uri="{FF2B5EF4-FFF2-40B4-BE49-F238E27FC236}">
                <a16:creationId xmlns:a16="http://schemas.microsoft.com/office/drawing/2014/main" id="{AE718C1B-A503-436F-B628-6649C76AF142}"/>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11-definition-0">
            <a:extLst xmlns:a="http://schemas.openxmlformats.org/drawingml/2006/main">
              <a:ext uri="{FF2B5EF4-FFF2-40B4-BE49-F238E27FC236}">
                <a16:creationId xmlns:a16="http://schemas.microsoft.com/office/drawing/2014/main" id="{333926D5-8B21-4080-AA49-1E312DEDD4F5}"/>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transpose of a matrix exchanges rows and columns. It</a:t>
            </a:r>
          </a:p>
        </p:txBody>
      </p:sp>
      <p:sp>
        <p:nvSpPr>
          <p:cNvPr id="5" name="concept-11-definition-1">
            <a:extLst xmlns:a="http://schemas.openxmlformats.org/drawingml/2006/main">
              <a:ext uri="{FF2B5EF4-FFF2-40B4-BE49-F238E27FC236}">
                <a16:creationId xmlns:a16="http://schemas.microsoft.com/office/drawing/2014/main" id="{75520B92-BD7E-4CF9-A6F0-66CB2C2198EA}"/>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changes an m × n matrix into an n × m matrix.</a:t>
            </a:r>
          </a:p>
        </p:txBody>
      </p:sp>
      <p:sp>
        <p:nvSpPr>
          <p:cNvPr id="6" name="concept-11-formula-0">
            <a:extLst xmlns:a="http://schemas.openxmlformats.org/drawingml/2006/main">
              <a:ext uri="{FF2B5EF4-FFF2-40B4-BE49-F238E27FC236}">
                <a16:creationId xmlns:a16="http://schemas.microsoft.com/office/drawing/2014/main" id="{09C073AF-EEAD-4EB9-9AB9-3CB40D684D0D}"/>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(Aᵀ)ᵢⱼ = Aⱼᵢ</a:t>
            </a:r>
          </a:p>
        </p:txBody>
      </p:sp>
      <p:sp>
        <p:nvSpPr>
          <p:cNvPr id="7" name="concept-11-example-label-0">
            <a:extLst xmlns:a="http://schemas.openxmlformats.org/drawingml/2006/main">
              <a:ext uri="{FF2B5EF4-FFF2-40B4-BE49-F238E27FC236}">
                <a16:creationId xmlns:a16="http://schemas.microsoft.com/office/drawing/2014/main" id="{04CFDEB0-BEE0-49F9-9EF6-DECD9C1DA15A}"/>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11-example-0">
            <a:extLst xmlns:a="http://schemas.openxmlformats.org/drawingml/2006/main">
              <a:ext uri="{FF2B5EF4-FFF2-40B4-BE49-F238E27FC236}">
                <a16:creationId xmlns:a16="http://schemas.microsoft.com/office/drawing/2014/main" id="{2AC67F8E-7775-4F0C-BF49-F27CF77C5644}"/>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If A = [[1, 2, 3]], then Aᵀ = [[1], [2], [3]].</a:t>
            </a:r>
          </a:p>
        </p:txBody>
      </p:sp>
      <p:sp>
        <p:nvSpPr>
          <p:cNvPr id="9" name="concept-11-metaphor-label-0">
            <a:extLst xmlns:a="http://schemas.openxmlformats.org/drawingml/2006/main">
              <a:ext uri="{FF2B5EF4-FFF2-40B4-BE49-F238E27FC236}">
                <a16:creationId xmlns:a16="http://schemas.microsoft.com/office/drawing/2014/main" id="{D42B2992-8477-4D6B-B546-29CAD4498748}"/>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0" name="concept-11-metaphor-0">
            <a:extLst xmlns:a="http://schemas.openxmlformats.org/drawingml/2006/main">
              <a:ext uri="{FF2B5EF4-FFF2-40B4-BE49-F238E27FC236}">
                <a16:creationId xmlns:a16="http://schemas.microsoft.com/office/drawing/2014/main" id="{0D739ED4-6565-4A1C-B039-175CF4386E70}"/>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Turn a row of books into a vertical stack without changing their</a:t>
            </a:r>
          </a:p>
        </p:txBody>
      </p:sp>
      <p:sp>
        <p:nvSpPr>
          <p:cNvPr id="11" name="concept-11-metaphor-1">
            <a:extLst xmlns:a="http://schemas.openxmlformats.org/drawingml/2006/main">
              <a:ext uri="{FF2B5EF4-FFF2-40B4-BE49-F238E27FC236}">
                <a16:creationId xmlns:a16="http://schemas.microsoft.com/office/drawing/2014/main" id="{56AF986F-37B3-43E3-B544-6B615BAB5BEC}"/>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order.</a:t>
            </a:r>
          </a:p>
        </p:txBody>
      </p:sp>
      <p:sp>
        <p:nvSpPr>
          <p:cNvPr id="12" name="concept-11-footer-0">
            <a:extLst xmlns:a="http://schemas.openxmlformats.org/drawingml/2006/main">
              <a:ext uri="{FF2B5EF4-FFF2-40B4-BE49-F238E27FC236}">
                <a16:creationId xmlns:a16="http://schemas.microsoft.com/office/drawing/2014/main" id="{ED9FB57A-E264-4214-95D9-D98B6E44CC4F}"/>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Linear transformation</a:t>
            </a:r>
          </a:p>
        </p:txBody>
      </p:sp>
    </p:spTree>
    <p:extLst>
      <p:ext uri="{BB962C8B-B14F-4D97-AF65-F5344CB8AC3E}">
        <p14:creationId xmlns:p14="http://schemas.microsoft.com/office/powerpoint/2010/main" val="16006996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12-chapter-0">
            <a:extLst xmlns:a="http://schemas.openxmlformats.org/drawingml/2006/main">
              <a:ext uri="{FF2B5EF4-FFF2-40B4-BE49-F238E27FC236}">
                <a16:creationId xmlns:a16="http://schemas.microsoft.com/office/drawing/2014/main" id="{839234DB-F252-43A1-AD02-8D855D902FAF}"/>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012 / 100 · MATHEMATICS</a:t>
            </a:r>
          </a:p>
        </p:txBody>
      </p:sp>
      <p:sp>
        <p:nvSpPr>
          <p:cNvPr id="2" name="concept-12-title-0">
            <a:extLst xmlns:a="http://schemas.openxmlformats.org/drawingml/2006/main">
              <a:ext uri="{FF2B5EF4-FFF2-40B4-BE49-F238E27FC236}">
                <a16:creationId xmlns:a16="http://schemas.microsoft.com/office/drawing/2014/main" id="{C03EFB03-CD2A-4B06-A475-089E3DD47C49}"/>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Linear transformation</a:t>
            </a:r>
          </a:p>
        </p:txBody>
      </p:sp>
      <p:sp>
        <p:nvSpPr>
          <p:cNvPr id="3" name="concept-12-definition-label-0">
            <a:extLst xmlns:a="http://schemas.openxmlformats.org/drawingml/2006/main">
              <a:ext uri="{FF2B5EF4-FFF2-40B4-BE49-F238E27FC236}">
                <a16:creationId xmlns:a16="http://schemas.microsoft.com/office/drawing/2014/main" id="{0DE6158B-A979-48B4-8827-64E7CAABFE33}"/>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12-definition-0">
            <a:extLst xmlns:a="http://schemas.openxmlformats.org/drawingml/2006/main">
              <a:ext uri="{FF2B5EF4-FFF2-40B4-BE49-F238E27FC236}">
                <a16:creationId xmlns:a16="http://schemas.microsoft.com/office/drawing/2014/main" id="{E43A2A0B-A7FA-452A-A598-C1479F0D58EB}"/>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linear transformation preserves vector addition and scalar</a:t>
            </a:r>
          </a:p>
        </p:txBody>
      </p:sp>
      <p:sp>
        <p:nvSpPr>
          <p:cNvPr id="5" name="concept-12-definition-1">
            <a:extLst xmlns:a="http://schemas.openxmlformats.org/drawingml/2006/main">
              <a:ext uri="{FF2B5EF4-FFF2-40B4-BE49-F238E27FC236}">
                <a16:creationId xmlns:a16="http://schemas.microsoft.com/office/drawing/2014/main" id="{015E76EE-790C-4DBB-A8FE-12DD4ADF2A54}"/>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multiplication. In finite dimensions, it can be represented by a</a:t>
            </a:r>
          </a:p>
        </p:txBody>
      </p:sp>
      <p:sp>
        <p:nvSpPr>
          <p:cNvPr id="6" name="concept-12-definition-2">
            <a:extLst xmlns:a="http://schemas.openxmlformats.org/drawingml/2006/main">
              <a:ext uri="{FF2B5EF4-FFF2-40B4-BE49-F238E27FC236}">
                <a16:creationId xmlns:a16="http://schemas.microsoft.com/office/drawing/2014/main" id="{F5790FB0-5192-4EBD-AC97-C33F6EA29554}"/>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matrix.</a:t>
            </a:r>
          </a:p>
        </p:txBody>
      </p:sp>
      <p:sp>
        <p:nvSpPr>
          <p:cNvPr id="7" name="concept-12-formula-0">
            <a:extLst xmlns:a="http://schemas.openxmlformats.org/drawingml/2006/main">
              <a:ext uri="{FF2B5EF4-FFF2-40B4-BE49-F238E27FC236}">
                <a16:creationId xmlns:a16="http://schemas.microsoft.com/office/drawing/2014/main" id="{2A6ACFAD-8B2C-48AB-9A0A-7C56DC2BD75F}"/>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T(ax + by) = aT(x) + bT(y)</a:t>
            </a:r>
          </a:p>
        </p:txBody>
      </p:sp>
      <p:sp>
        <p:nvSpPr>
          <p:cNvPr id="8" name="concept-12-example-label-0">
            <a:extLst xmlns:a="http://schemas.openxmlformats.org/drawingml/2006/main">
              <a:ext uri="{FF2B5EF4-FFF2-40B4-BE49-F238E27FC236}">
                <a16:creationId xmlns:a16="http://schemas.microsoft.com/office/drawing/2014/main" id="{947E23E1-289D-4D3B-9B64-B6EF8D77302A}"/>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12-example-0">
            <a:extLst xmlns:a="http://schemas.openxmlformats.org/drawingml/2006/main">
              <a:ext uri="{FF2B5EF4-FFF2-40B4-BE49-F238E27FC236}">
                <a16:creationId xmlns:a16="http://schemas.microsoft.com/office/drawing/2014/main" id="{25D07DD9-F62D-4DA2-B0C9-FDBD7609A77B}"/>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A = [[2, 0], [0, 3]], A(1, 2) = (2, 6). The first coordinate</a:t>
            </a:r>
          </a:p>
        </p:txBody>
      </p:sp>
      <p:sp>
        <p:nvSpPr>
          <p:cNvPr id="14" name="concept-12-example-1">
            <a:extLst xmlns:a="http://schemas.openxmlformats.org/drawingml/2006/main">
              <a:ext uri="{FF2B5EF4-FFF2-40B4-BE49-F238E27FC236}">
                <a16:creationId xmlns:a16="http://schemas.microsoft.com/office/drawing/2014/main" id="{5DD4FDBA-1314-4DC3-8BAF-69D975AAD076}"/>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doubles; the second triples.</a:t>
            </a:r>
          </a:p>
        </p:txBody>
      </p:sp>
      <p:sp>
        <p:nvSpPr>
          <p:cNvPr id="10" name="concept-12-metaphor-label-0">
            <a:extLst xmlns:a="http://schemas.openxmlformats.org/drawingml/2006/main">
              <a:ext uri="{FF2B5EF4-FFF2-40B4-BE49-F238E27FC236}">
                <a16:creationId xmlns:a16="http://schemas.microsoft.com/office/drawing/2014/main" id="{EF2E1528-EA2F-44A2-805E-FA37EB8E73CD}"/>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12-metaphor-0">
            <a:extLst xmlns:a="http://schemas.openxmlformats.org/drawingml/2006/main">
              <a:ext uri="{FF2B5EF4-FFF2-40B4-BE49-F238E27FC236}">
                <a16:creationId xmlns:a16="http://schemas.microsoft.com/office/drawing/2014/main" id="{41869726-AA0D-433C-A9AE-63327D2C1C5A}"/>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Stretch a sheet by fixed factors along its axes, keeping the</a:t>
            </a:r>
          </a:p>
        </p:txBody>
      </p:sp>
      <p:sp>
        <p:nvSpPr>
          <p:cNvPr id="12" name="concept-12-metaphor-1">
            <a:extLst xmlns:a="http://schemas.openxmlformats.org/drawingml/2006/main">
              <a:ext uri="{FF2B5EF4-FFF2-40B4-BE49-F238E27FC236}">
                <a16:creationId xmlns:a16="http://schemas.microsoft.com/office/drawing/2014/main" id="{0707896F-7360-4FC2-AA78-F5B11EEF4877}"/>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origin pinned.</a:t>
            </a:r>
          </a:p>
        </p:txBody>
      </p:sp>
      <p:sp>
        <p:nvSpPr>
          <p:cNvPr id="13" name="concept-12-footer-0">
            <a:extLst xmlns:a="http://schemas.openxmlformats.org/drawingml/2006/main">
              <a:ext uri="{FF2B5EF4-FFF2-40B4-BE49-F238E27FC236}">
                <a16:creationId xmlns:a16="http://schemas.microsoft.com/office/drawing/2014/main" id="{6A784A06-B864-45C3-AC53-35795081DEBF}"/>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Euclidean distance</a:t>
            </a:r>
          </a:p>
        </p:txBody>
      </p:sp>
    </p:spTree>
    <p:extLst>
      <p:ext uri="{BB962C8B-B14F-4D97-AF65-F5344CB8AC3E}">
        <p14:creationId xmlns:p14="http://schemas.microsoft.com/office/powerpoint/2010/main" val="1876737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ncept-13-chapter-0">
            <a:extLst xmlns:a="http://schemas.openxmlformats.org/drawingml/2006/main">
              <a:ext uri="{FF2B5EF4-FFF2-40B4-BE49-F238E27FC236}">
                <a16:creationId xmlns:a16="http://schemas.microsoft.com/office/drawing/2014/main" id="{8D4ECFAA-F0B4-4179-8BE1-B59600756975}"/>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013 / 100 · MATHEMATICS</a:t>
            </a:r>
          </a:p>
        </p:txBody>
      </p:sp>
      <p:sp>
        <p:nvSpPr>
          <p:cNvPr id="2" name="concept-13-title-0">
            <a:extLst xmlns:a="http://schemas.openxmlformats.org/drawingml/2006/main">
              <a:ext uri="{FF2B5EF4-FFF2-40B4-BE49-F238E27FC236}">
                <a16:creationId xmlns:a16="http://schemas.microsoft.com/office/drawing/2014/main" id="{8A1B765B-BB13-4CCA-BAAA-8865C2CF4271}"/>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Euclidean distance</a:t>
            </a:r>
          </a:p>
        </p:txBody>
      </p:sp>
      <p:sp>
        <p:nvSpPr>
          <p:cNvPr id="3" name="concept-13-definition-label-0">
            <a:extLst xmlns:a="http://schemas.openxmlformats.org/drawingml/2006/main">
              <a:ext uri="{FF2B5EF4-FFF2-40B4-BE49-F238E27FC236}">
                <a16:creationId xmlns:a16="http://schemas.microsoft.com/office/drawing/2014/main" id="{DAE32261-DBBE-4651-AA48-11CA57A70706}"/>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13-definition-0">
            <a:extLst xmlns:a="http://schemas.openxmlformats.org/drawingml/2006/main">
              <a:ext uri="{FF2B5EF4-FFF2-40B4-BE49-F238E27FC236}">
                <a16:creationId xmlns:a16="http://schemas.microsoft.com/office/drawing/2014/main" id="{2F1CF495-2EC1-46A0-AD2D-E0975770BB7B}"/>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Euclidean norm measures vector length. The distance</a:t>
            </a:r>
          </a:p>
        </p:txBody>
      </p:sp>
      <p:sp>
        <p:nvSpPr>
          <p:cNvPr id="5" name="concept-13-definition-1">
            <a:extLst xmlns:a="http://schemas.openxmlformats.org/drawingml/2006/main">
              <a:ext uri="{FF2B5EF4-FFF2-40B4-BE49-F238E27FC236}">
                <a16:creationId xmlns:a16="http://schemas.microsoft.com/office/drawing/2014/main" id="{74349F4D-A692-43D9-BFD0-FD6CADEA227D}"/>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between two vectors is the norm of their difference.</a:t>
            </a:r>
          </a:p>
        </p:txBody>
      </p:sp>
      <p:sp>
        <p:nvSpPr>
          <p:cNvPr id="6" name="concept-13-formula-0">
            <a:extLst xmlns:a="http://schemas.openxmlformats.org/drawingml/2006/main">
              <a:ext uri="{FF2B5EF4-FFF2-40B4-BE49-F238E27FC236}">
                <a16:creationId xmlns:a16="http://schemas.microsoft.com/office/drawing/2014/main" id="{CA4B5D62-338E-4B19-BE80-E2BE35DC845A}"/>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‖x‖₂ = √(Σᵢ xᵢ²); d(x, y) = ‖x − y‖₂</a:t>
            </a:r>
          </a:p>
        </p:txBody>
      </p:sp>
      <p:sp>
        <p:nvSpPr>
          <p:cNvPr id="7" name="concept-13-example-label-0">
            <a:extLst xmlns:a="http://schemas.openxmlformats.org/drawingml/2006/main">
              <a:ext uri="{FF2B5EF4-FFF2-40B4-BE49-F238E27FC236}">
                <a16:creationId xmlns:a16="http://schemas.microsoft.com/office/drawing/2014/main" id="{27C3234C-85CD-4817-81EB-7619B97A1BC2}"/>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13-example-0">
            <a:extLst xmlns:a="http://schemas.openxmlformats.org/drawingml/2006/main">
              <a:ext uri="{FF2B5EF4-FFF2-40B4-BE49-F238E27FC236}">
                <a16:creationId xmlns:a16="http://schemas.microsoft.com/office/drawing/2014/main" id="{A7FEDEA7-100A-47B8-8FDB-1465498DF328}"/>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Between (0, 0) and (3, 4), distance = √(9 + 16) = 5.</a:t>
            </a:r>
          </a:p>
        </p:txBody>
      </p:sp>
      <p:sp>
        <p:nvSpPr>
          <p:cNvPr id="9" name="concept-13-metaphor-label-0">
            <a:extLst xmlns:a="http://schemas.openxmlformats.org/drawingml/2006/main">
              <a:ext uri="{FF2B5EF4-FFF2-40B4-BE49-F238E27FC236}">
                <a16:creationId xmlns:a16="http://schemas.microsoft.com/office/drawing/2014/main" id="{D323A973-953B-4032-9888-ED499BC121F3}"/>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0" name="concept-13-metaphor-0">
            <a:extLst xmlns:a="http://schemas.openxmlformats.org/drawingml/2006/main">
              <a:ext uri="{FF2B5EF4-FFF2-40B4-BE49-F238E27FC236}">
                <a16:creationId xmlns:a16="http://schemas.microsoft.com/office/drawing/2014/main" id="{64874DD0-8E77-4DC9-B17A-880087203A46}"/>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Stretch a straight string between two pins instead of following</a:t>
            </a:r>
          </a:p>
        </p:txBody>
      </p:sp>
      <p:sp>
        <p:nvSpPr>
          <p:cNvPr id="11" name="concept-13-metaphor-1">
            <a:extLst xmlns:a="http://schemas.openxmlformats.org/drawingml/2006/main">
              <a:ext uri="{FF2B5EF4-FFF2-40B4-BE49-F238E27FC236}">
                <a16:creationId xmlns:a16="http://schemas.microsoft.com/office/drawing/2014/main" id="{21BD8A01-5DE8-4BC5-A7A4-7398AFB1CC83}"/>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grid streets.</a:t>
            </a:r>
          </a:p>
        </p:txBody>
      </p:sp>
      <p:sp>
        <p:nvSpPr>
          <p:cNvPr id="12" name="concept-13-footer-0">
            <a:extLst xmlns:a="http://schemas.openxmlformats.org/drawingml/2006/main">
              <a:ext uri="{FF2B5EF4-FFF2-40B4-BE49-F238E27FC236}">
                <a16:creationId xmlns:a16="http://schemas.microsoft.com/office/drawing/2014/main" id="{18386189-B87C-42F5-9AE2-086382D8047C}"/>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Probability</a:t>
            </a:r>
          </a:p>
        </p:txBody>
      </p:sp>
    </p:spTree>
    <p:extLst>
      <p:ext uri="{BB962C8B-B14F-4D97-AF65-F5344CB8AC3E}">
        <p14:creationId xmlns:p14="http://schemas.microsoft.com/office/powerpoint/2010/main" val="165312574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14-chapter-0">
            <a:extLst xmlns:a="http://schemas.openxmlformats.org/drawingml/2006/main">
              <a:ext uri="{FF2B5EF4-FFF2-40B4-BE49-F238E27FC236}">
                <a16:creationId xmlns:a16="http://schemas.microsoft.com/office/drawing/2014/main" id="{AB10AD45-5805-43D8-AFE3-168D46F05366}"/>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014 / 100 · MATHEMATICS</a:t>
            </a:r>
          </a:p>
        </p:txBody>
      </p:sp>
      <p:sp>
        <p:nvSpPr>
          <p:cNvPr id="2" name="concept-14-title-0">
            <a:extLst xmlns:a="http://schemas.openxmlformats.org/drawingml/2006/main">
              <a:ext uri="{FF2B5EF4-FFF2-40B4-BE49-F238E27FC236}">
                <a16:creationId xmlns:a16="http://schemas.microsoft.com/office/drawing/2014/main" id="{C408F581-382F-435F-AFD6-976A800E8241}"/>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Probability</a:t>
            </a:r>
          </a:p>
        </p:txBody>
      </p:sp>
      <p:sp>
        <p:nvSpPr>
          <p:cNvPr id="3" name="concept-14-definition-label-0">
            <a:extLst xmlns:a="http://schemas.openxmlformats.org/drawingml/2006/main">
              <a:ext uri="{FF2B5EF4-FFF2-40B4-BE49-F238E27FC236}">
                <a16:creationId xmlns:a16="http://schemas.microsoft.com/office/drawing/2014/main" id="{175618AD-5977-4EB3-A6FA-F32D3054DD30}"/>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14-definition-0">
            <a:extLst xmlns:a="http://schemas.openxmlformats.org/drawingml/2006/main">
              <a:ext uri="{FF2B5EF4-FFF2-40B4-BE49-F238E27FC236}">
                <a16:creationId xmlns:a16="http://schemas.microsoft.com/office/drawing/2014/main" id="{74DC1CC6-23DB-4D4A-91BF-4338746A11E0}"/>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Probability measures how likely an event is on a scale from 0 to</a:t>
            </a:r>
          </a:p>
        </p:txBody>
      </p:sp>
      <p:sp>
        <p:nvSpPr>
          <p:cNvPr id="5" name="concept-14-definition-1">
            <a:extLst xmlns:a="http://schemas.openxmlformats.org/drawingml/2006/main">
              <a:ext uri="{FF2B5EF4-FFF2-40B4-BE49-F238E27FC236}">
                <a16:creationId xmlns:a16="http://schemas.microsoft.com/office/drawing/2014/main" id="{7F625551-D043-468A-911A-767A93595446}"/>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1. Probabilities of all possible, nonoverlapping outcomes add to</a:t>
            </a:r>
          </a:p>
        </p:txBody>
      </p:sp>
      <p:sp>
        <p:nvSpPr>
          <p:cNvPr id="6" name="concept-14-definition-2">
            <a:extLst xmlns:a="http://schemas.openxmlformats.org/drawingml/2006/main">
              <a:ext uri="{FF2B5EF4-FFF2-40B4-BE49-F238E27FC236}">
                <a16:creationId xmlns:a16="http://schemas.microsoft.com/office/drawing/2014/main" id="{18FE920E-F8F0-40B3-84CA-8394E8A970E6}"/>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1.</a:t>
            </a:r>
          </a:p>
        </p:txBody>
      </p:sp>
      <p:sp>
        <p:nvSpPr>
          <p:cNvPr id="7" name="concept-14-formula-0">
            <a:extLst xmlns:a="http://schemas.openxmlformats.org/drawingml/2006/main">
              <a:ext uri="{FF2B5EF4-FFF2-40B4-BE49-F238E27FC236}">
                <a16:creationId xmlns:a16="http://schemas.microsoft.com/office/drawing/2014/main" id="{59E0AAE7-5ED2-4E39-9438-6F2587D67341}"/>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0 ≤ P(A) ≤ 1; Σᵢ P(Aᵢ) = 1</a:t>
            </a:r>
          </a:p>
        </p:txBody>
      </p:sp>
      <p:sp>
        <p:nvSpPr>
          <p:cNvPr id="8" name="concept-14-example-label-0">
            <a:extLst xmlns:a="http://schemas.openxmlformats.org/drawingml/2006/main">
              <a:ext uri="{FF2B5EF4-FFF2-40B4-BE49-F238E27FC236}">
                <a16:creationId xmlns:a16="http://schemas.microsoft.com/office/drawing/2014/main" id="{4A2652E3-3BBD-4B33-BA31-B77B0EA61E0D}"/>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14-example-0">
            <a:extLst xmlns:a="http://schemas.openxmlformats.org/drawingml/2006/main">
              <a:ext uri="{FF2B5EF4-FFF2-40B4-BE49-F238E27FC236}">
                <a16:creationId xmlns:a16="http://schemas.microsoft.com/office/drawing/2014/main" id="{ADA31A0F-BB7E-40D2-829E-E83D12965432}"/>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a fair six-sided die, P(even) = 3/6 = 0.5.</a:t>
            </a:r>
          </a:p>
        </p:txBody>
      </p:sp>
      <p:sp>
        <p:nvSpPr>
          <p:cNvPr id="10" name="concept-14-metaphor-label-0">
            <a:extLst xmlns:a="http://schemas.openxmlformats.org/drawingml/2006/main">
              <a:ext uri="{FF2B5EF4-FFF2-40B4-BE49-F238E27FC236}">
                <a16:creationId xmlns:a16="http://schemas.microsoft.com/office/drawing/2014/main" id="{137152B3-3887-4E29-A70D-8A7C63B7C5C8}"/>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14-metaphor-0">
            <a:extLst xmlns:a="http://schemas.openxmlformats.org/drawingml/2006/main">
              <a:ext uri="{FF2B5EF4-FFF2-40B4-BE49-F238E27FC236}">
                <a16:creationId xmlns:a16="http://schemas.microsoft.com/office/drawing/2014/main" id="{38E49416-D257-4D3F-89D9-C3AF166DE9C4}"/>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Divide one whole pie among the possible outcomes. Larger</a:t>
            </a:r>
          </a:p>
        </p:txBody>
      </p:sp>
      <p:sp>
        <p:nvSpPr>
          <p:cNvPr id="12" name="concept-14-metaphor-1">
            <a:extLst xmlns:a="http://schemas.openxmlformats.org/drawingml/2006/main">
              <a:ext uri="{FF2B5EF4-FFF2-40B4-BE49-F238E27FC236}">
                <a16:creationId xmlns:a16="http://schemas.microsoft.com/office/drawing/2014/main" id="{5798E0A5-04B0-4C7B-B05A-FB3F4EAE4E95}"/>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slices mean greater probability.</a:t>
            </a:r>
          </a:p>
        </p:txBody>
      </p:sp>
      <p:sp>
        <p:nvSpPr>
          <p:cNvPr id="13" name="concept-14-footer-0">
            <a:extLst xmlns:a="http://schemas.openxmlformats.org/drawingml/2006/main">
              <a:ext uri="{FF2B5EF4-FFF2-40B4-BE49-F238E27FC236}">
                <a16:creationId xmlns:a16="http://schemas.microsoft.com/office/drawing/2014/main" id="{3D1C181C-03BD-410A-9C31-87C13B749805}"/>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Conditional probability</a:t>
            </a:r>
          </a:p>
        </p:txBody>
      </p:sp>
    </p:spTree>
    <p:extLst>
      <p:ext uri="{BB962C8B-B14F-4D97-AF65-F5344CB8AC3E}">
        <p14:creationId xmlns:p14="http://schemas.microsoft.com/office/powerpoint/2010/main" val="138639602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ncept-15-chapter-0">
            <a:extLst xmlns:a="http://schemas.openxmlformats.org/drawingml/2006/main">
              <a:ext uri="{FF2B5EF4-FFF2-40B4-BE49-F238E27FC236}">
                <a16:creationId xmlns:a16="http://schemas.microsoft.com/office/drawing/2014/main" id="{8632BB01-13DF-428D-AABE-C7A62E6344C6}"/>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015 / 100 · MATHEMATICS</a:t>
            </a:r>
          </a:p>
        </p:txBody>
      </p:sp>
      <p:sp>
        <p:nvSpPr>
          <p:cNvPr id="2" name="concept-15-title-0">
            <a:extLst xmlns:a="http://schemas.openxmlformats.org/drawingml/2006/main">
              <a:ext uri="{FF2B5EF4-FFF2-40B4-BE49-F238E27FC236}">
                <a16:creationId xmlns:a16="http://schemas.microsoft.com/office/drawing/2014/main" id="{69F84392-6A16-4B75-B39F-05FBF1CB257B}"/>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Conditional probability</a:t>
            </a:r>
          </a:p>
        </p:txBody>
      </p:sp>
      <p:sp>
        <p:nvSpPr>
          <p:cNvPr id="3" name="concept-15-definition-label-0">
            <a:extLst xmlns:a="http://schemas.openxmlformats.org/drawingml/2006/main">
              <a:ext uri="{FF2B5EF4-FFF2-40B4-BE49-F238E27FC236}">
                <a16:creationId xmlns:a16="http://schemas.microsoft.com/office/drawing/2014/main" id="{E72E420F-F7CF-486A-938E-8E46BD7EC0C9}"/>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15-definition-0">
            <a:extLst xmlns:a="http://schemas.openxmlformats.org/drawingml/2006/main">
              <a:ext uri="{FF2B5EF4-FFF2-40B4-BE49-F238E27FC236}">
                <a16:creationId xmlns:a16="http://schemas.microsoft.com/office/drawing/2014/main" id="{596E7903-F54E-4422-A380-4076AE0C550F}"/>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Conditional probability measures how likely A is when B is</a:t>
            </a:r>
          </a:p>
        </p:txBody>
      </p:sp>
      <p:sp>
        <p:nvSpPr>
          <p:cNvPr id="5" name="concept-15-definition-1">
            <a:extLst xmlns:a="http://schemas.openxmlformats.org/drawingml/2006/main">
              <a:ext uri="{FF2B5EF4-FFF2-40B4-BE49-F238E27FC236}">
                <a16:creationId xmlns:a16="http://schemas.microsoft.com/office/drawing/2014/main" id="{DF9A3688-0A48-4826-B3F2-8B6F26ED8BA6}"/>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known to have occurred, provided P(B) &gt; 0.</a:t>
            </a:r>
          </a:p>
        </p:txBody>
      </p:sp>
      <p:sp>
        <p:nvSpPr>
          <p:cNvPr id="6" name="concept-15-formula-0">
            <a:extLst xmlns:a="http://schemas.openxmlformats.org/drawingml/2006/main">
              <a:ext uri="{FF2B5EF4-FFF2-40B4-BE49-F238E27FC236}">
                <a16:creationId xmlns:a16="http://schemas.microsoft.com/office/drawing/2014/main" id="{073E5095-6A07-4BA4-A3AF-A7E2487A7778}"/>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P(A ∣ B) = P(A ∩ B) / P(B)</a:t>
            </a:r>
          </a:p>
        </p:txBody>
      </p:sp>
      <p:sp>
        <p:nvSpPr>
          <p:cNvPr id="7" name="concept-15-example-label-0">
            <a:extLst xmlns:a="http://schemas.openxmlformats.org/drawingml/2006/main">
              <a:ext uri="{FF2B5EF4-FFF2-40B4-BE49-F238E27FC236}">
                <a16:creationId xmlns:a16="http://schemas.microsoft.com/office/drawing/2014/main" id="{15299E60-38D6-4F68-9713-2D04D1DAEAC6}"/>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15-example-0">
            <a:extLst xmlns:a="http://schemas.openxmlformats.org/drawingml/2006/main">
              <a:ext uri="{FF2B5EF4-FFF2-40B4-BE49-F238E27FC236}">
                <a16:creationId xmlns:a16="http://schemas.microsoft.com/office/drawing/2014/main" id="{45971646-F73C-4C83-A77C-1D91F620F4AD}"/>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Of four red balls, one is striped. P(striped ∣ red) = 1/4.</a:t>
            </a:r>
          </a:p>
        </p:txBody>
      </p:sp>
      <p:sp>
        <p:nvSpPr>
          <p:cNvPr id="9" name="concept-15-metaphor-label-0">
            <a:extLst xmlns:a="http://schemas.openxmlformats.org/drawingml/2006/main">
              <a:ext uri="{FF2B5EF4-FFF2-40B4-BE49-F238E27FC236}">
                <a16:creationId xmlns:a16="http://schemas.microsoft.com/office/drawing/2014/main" id="{8F7533A0-F567-4269-A11C-C9B032120BF2}"/>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0" name="concept-15-metaphor-0">
            <a:extLst xmlns:a="http://schemas.openxmlformats.org/drawingml/2006/main">
              <a:ext uri="{FF2B5EF4-FFF2-40B4-BE49-F238E27FC236}">
                <a16:creationId xmlns:a16="http://schemas.microsoft.com/office/drawing/2014/main" id="{5D35E917-F8BF-41AA-A6A9-5D26285098A6}"/>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Once you enter the red-ball room, count only the balls inside</a:t>
            </a:r>
          </a:p>
        </p:txBody>
      </p:sp>
      <p:sp>
        <p:nvSpPr>
          <p:cNvPr id="11" name="concept-15-metaphor-1">
            <a:extLst xmlns:a="http://schemas.openxmlformats.org/drawingml/2006/main">
              <a:ext uri="{FF2B5EF4-FFF2-40B4-BE49-F238E27FC236}">
                <a16:creationId xmlns:a16="http://schemas.microsoft.com/office/drawing/2014/main" id="{6E2AE313-D6C3-450D-A8D4-80AD8985D0FB}"/>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that room.</a:t>
            </a:r>
          </a:p>
        </p:txBody>
      </p:sp>
      <p:sp>
        <p:nvSpPr>
          <p:cNvPr id="12" name="concept-15-footer-0">
            <a:extLst xmlns:a="http://schemas.openxmlformats.org/drawingml/2006/main">
              <a:ext uri="{FF2B5EF4-FFF2-40B4-BE49-F238E27FC236}">
                <a16:creationId xmlns:a16="http://schemas.microsoft.com/office/drawing/2014/main" id="{ACEDC16E-B7A9-4F43-AE38-A6FF46903280}"/>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Expected value</a:t>
            </a:r>
          </a:p>
        </p:txBody>
      </p:sp>
    </p:spTree>
    <p:extLst>
      <p:ext uri="{BB962C8B-B14F-4D97-AF65-F5344CB8AC3E}">
        <p14:creationId xmlns:p14="http://schemas.microsoft.com/office/powerpoint/2010/main" val="154505058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16-chapter-0">
            <a:extLst xmlns:a="http://schemas.openxmlformats.org/drawingml/2006/main">
              <a:ext uri="{FF2B5EF4-FFF2-40B4-BE49-F238E27FC236}">
                <a16:creationId xmlns:a16="http://schemas.microsoft.com/office/drawing/2014/main" id="{400C2D42-38FD-47D1-822C-CC4818EE6DAD}"/>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016 / 100 · MATHEMATICS</a:t>
            </a:r>
          </a:p>
        </p:txBody>
      </p:sp>
      <p:sp>
        <p:nvSpPr>
          <p:cNvPr id="2" name="concept-16-title-0">
            <a:extLst xmlns:a="http://schemas.openxmlformats.org/drawingml/2006/main">
              <a:ext uri="{FF2B5EF4-FFF2-40B4-BE49-F238E27FC236}">
                <a16:creationId xmlns:a16="http://schemas.microsoft.com/office/drawing/2014/main" id="{25D7A1E0-AA3D-43DE-B0AA-DABD050EA29C}"/>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Expected value</a:t>
            </a:r>
          </a:p>
        </p:txBody>
      </p:sp>
      <p:sp>
        <p:nvSpPr>
          <p:cNvPr id="3" name="concept-16-definition-label-0">
            <a:extLst xmlns:a="http://schemas.openxmlformats.org/drawingml/2006/main">
              <a:ext uri="{FF2B5EF4-FFF2-40B4-BE49-F238E27FC236}">
                <a16:creationId xmlns:a16="http://schemas.microsoft.com/office/drawing/2014/main" id="{352BDAD4-57C0-4747-8368-D7C8A989CB98}"/>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16-definition-0">
            <a:extLst xmlns:a="http://schemas.openxmlformats.org/drawingml/2006/main">
              <a:ext uri="{FF2B5EF4-FFF2-40B4-BE49-F238E27FC236}">
                <a16:creationId xmlns:a16="http://schemas.microsoft.com/office/drawing/2014/main" id="{51B08C19-0E68-4E11-A43D-9DAC8953F0D9}"/>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expected value of a discrete numerical outcome is its</a:t>
            </a:r>
          </a:p>
        </p:txBody>
      </p:sp>
      <p:sp>
        <p:nvSpPr>
          <p:cNvPr id="5" name="concept-16-definition-1">
            <a:extLst xmlns:a="http://schemas.openxmlformats.org/drawingml/2006/main">
              <a:ext uri="{FF2B5EF4-FFF2-40B4-BE49-F238E27FC236}">
                <a16:creationId xmlns:a16="http://schemas.microsoft.com/office/drawing/2014/main" id="{6399CD9A-5B04-4975-B5F5-9E16758CF482}"/>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probability-weighted average.</a:t>
            </a:r>
          </a:p>
        </p:txBody>
      </p:sp>
      <p:sp>
        <p:nvSpPr>
          <p:cNvPr id="6" name="concept-16-formula-0">
            <a:extLst xmlns:a="http://schemas.openxmlformats.org/drawingml/2006/main">
              <a:ext uri="{FF2B5EF4-FFF2-40B4-BE49-F238E27FC236}">
                <a16:creationId xmlns:a16="http://schemas.microsoft.com/office/drawing/2014/main" id="{F9441913-3892-45CD-AA7B-6B848925E299}"/>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E[X] = Σₓ x P(X = x)</a:t>
            </a:r>
          </a:p>
        </p:txBody>
      </p:sp>
      <p:sp>
        <p:nvSpPr>
          <p:cNvPr id="7" name="concept-16-example-label-0">
            <a:extLst xmlns:a="http://schemas.openxmlformats.org/drawingml/2006/main">
              <a:ext uri="{FF2B5EF4-FFF2-40B4-BE49-F238E27FC236}">
                <a16:creationId xmlns:a16="http://schemas.microsoft.com/office/drawing/2014/main" id="{8C1B310E-76ED-437D-8109-5681BF5939EE}"/>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16-example-0">
            <a:extLst xmlns:a="http://schemas.openxmlformats.org/drawingml/2006/main">
              <a:ext uri="{FF2B5EF4-FFF2-40B4-BE49-F238E27FC236}">
                <a16:creationId xmlns:a16="http://schemas.microsoft.com/office/drawing/2014/main" id="{B334C793-88AD-48C1-8270-7A7D7623260B}"/>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reward is 0 or 10 with equal probability. E[X] = 0.5 × 0 + 0.5</a:t>
            </a:r>
          </a:p>
        </p:txBody>
      </p:sp>
      <p:sp>
        <p:nvSpPr>
          <p:cNvPr id="9" name="concept-16-example-1">
            <a:extLst xmlns:a="http://schemas.openxmlformats.org/drawingml/2006/main">
              <a:ext uri="{FF2B5EF4-FFF2-40B4-BE49-F238E27FC236}">
                <a16:creationId xmlns:a16="http://schemas.microsoft.com/office/drawing/2014/main" id="{8DA86B34-31FC-45F9-AC8D-364556867456}"/>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 10 = 5.</a:t>
            </a:r>
          </a:p>
        </p:txBody>
      </p:sp>
      <p:sp>
        <p:nvSpPr>
          <p:cNvPr id="10" name="concept-16-metaphor-label-0">
            <a:extLst xmlns:a="http://schemas.openxmlformats.org/drawingml/2006/main">
              <a:ext uri="{FF2B5EF4-FFF2-40B4-BE49-F238E27FC236}">
                <a16:creationId xmlns:a16="http://schemas.microsoft.com/office/drawing/2014/main" id="{C76826A5-C6D0-4171-A11C-3C990336B835}"/>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16-metaphor-0">
            <a:extLst xmlns:a="http://schemas.openxmlformats.org/drawingml/2006/main">
              <a:ext uri="{FF2B5EF4-FFF2-40B4-BE49-F238E27FC236}">
                <a16:creationId xmlns:a16="http://schemas.microsoft.com/office/drawing/2014/main" id="{1D31B5FA-849A-47BA-AAF1-5D0F2FB52AC5}"/>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balancing point of possible rewards can sit where no</a:t>
            </a:r>
          </a:p>
        </p:txBody>
      </p:sp>
      <p:sp>
        <p:nvSpPr>
          <p:cNvPr id="12" name="concept-16-metaphor-1">
            <a:extLst xmlns:a="http://schemas.openxmlformats.org/drawingml/2006/main">
              <a:ext uri="{FF2B5EF4-FFF2-40B4-BE49-F238E27FC236}">
                <a16:creationId xmlns:a16="http://schemas.microsoft.com/office/drawing/2014/main" id="{01B16A13-703E-477D-B31C-5F2306F4D070}"/>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individual reward exists.</a:t>
            </a:r>
          </a:p>
        </p:txBody>
      </p:sp>
      <p:sp>
        <p:nvSpPr>
          <p:cNvPr id="13" name="concept-16-footer-0">
            <a:extLst xmlns:a="http://schemas.openxmlformats.org/drawingml/2006/main">
              <a:ext uri="{FF2B5EF4-FFF2-40B4-BE49-F238E27FC236}">
                <a16:creationId xmlns:a16="http://schemas.microsoft.com/office/drawing/2014/main" id="{481F6C7B-B3DB-4EA7-8FEF-EB9CCEE1AC4E}"/>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Variance</a:t>
            </a:r>
          </a:p>
        </p:txBody>
      </p:sp>
    </p:spTree>
    <p:extLst>
      <p:ext uri="{BB962C8B-B14F-4D97-AF65-F5344CB8AC3E}">
        <p14:creationId xmlns:p14="http://schemas.microsoft.com/office/powerpoint/2010/main" val="191314903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17-chapter-0">
            <a:extLst xmlns:a="http://schemas.openxmlformats.org/drawingml/2006/main">
              <a:ext uri="{FF2B5EF4-FFF2-40B4-BE49-F238E27FC236}">
                <a16:creationId xmlns:a16="http://schemas.microsoft.com/office/drawing/2014/main" id="{890122DA-7279-4C51-A7C8-706FADF7F78A}"/>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017 / 100 · MATHEMATICS</a:t>
            </a:r>
          </a:p>
        </p:txBody>
      </p:sp>
      <p:sp>
        <p:nvSpPr>
          <p:cNvPr id="2" name="concept-17-title-0">
            <a:extLst xmlns:a="http://schemas.openxmlformats.org/drawingml/2006/main">
              <a:ext uri="{FF2B5EF4-FFF2-40B4-BE49-F238E27FC236}">
                <a16:creationId xmlns:a16="http://schemas.microsoft.com/office/drawing/2014/main" id="{D81138F8-53DF-4C36-96B4-55DFA7CC48AA}"/>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Variance</a:t>
            </a:r>
          </a:p>
        </p:txBody>
      </p:sp>
      <p:sp>
        <p:nvSpPr>
          <p:cNvPr id="3" name="concept-17-definition-label-0">
            <a:extLst xmlns:a="http://schemas.openxmlformats.org/drawingml/2006/main">
              <a:ext uri="{FF2B5EF4-FFF2-40B4-BE49-F238E27FC236}">
                <a16:creationId xmlns:a16="http://schemas.microsoft.com/office/drawing/2014/main" id="{13352D04-0B1B-42AE-9ECC-AFEDFF9F8526}"/>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17-definition-0">
            <a:extLst xmlns:a="http://schemas.openxmlformats.org/drawingml/2006/main">
              <a:ext uri="{FF2B5EF4-FFF2-40B4-BE49-F238E27FC236}">
                <a16:creationId xmlns:a16="http://schemas.microsoft.com/office/drawing/2014/main" id="{C91849A8-A905-4A57-B7B9-E9D081DEA558}"/>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Variance is the expected squared distance from the mean μ.</a:t>
            </a:r>
          </a:p>
        </p:txBody>
      </p:sp>
      <p:sp>
        <p:nvSpPr>
          <p:cNvPr id="5" name="concept-17-definition-1">
            <a:extLst xmlns:a="http://schemas.openxmlformats.org/drawingml/2006/main">
              <a:ext uri="{FF2B5EF4-FFF2-40B4-BE49-F238E27FC236}">
                <a16:creationId xmlns:a16="http://schemas.microsoft.com/office/drawing/2014/main" id="{A587A933-A621-40F2-9885-1DB87081636F}"/>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Standard deviation σ is its square root.</a:t>
            </a:r>
          </a:p>
        </p:txBody>
      </p:sp>
      <p:sp>
        <p:nvSpPr>
          <p:cNvPr id="6" name="concept-17-formula-0">
            <a:extLst xmlns:a="http://schemas.openxmlformats.org/drawingml/2006/main">
              <a:ext uri="{FF2B5EF4-FFF2-40B4-BE49-F238E27FC236}">
                <a16:creationId xmlns:a16="http://schemas.microsoft.com/office/drawing/2014/main" id="{8CA1D79A-EFC4-4162-B7CB-C24F9B0D390E}"/>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μ = E[X]; Var(X) = E[(X − μ)²]; σ = √Var(X)</a:t>
            </a:r>
          </a:p>
        </p:txBody>
      </p:sp>
      <p:sp>
        <p:nvSpPr>
          <p:cNvPr id="7" name="concept-17-example-label-0">
            <a:extLst xmlns:a="http://schemas.openxmlformats.org/drawingml/2006/main">
              <a:ext uri="{FF2B5EF4-FFF2-40B4-BE49-F238E27FC236}">
                <a16:creationId xmlns:a16="http://schemas.microsoft.com/office/drawing/2014/main" id="{3D329A1E-EF4B-487A-9D06-A5930FCE43E6}"/>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17-example-0">
            <a:extLst xmlns:a="http://schemas.openxmlformats.org/drawingml/2006/main">
              <a:ext uri="{FF2B5EF4-FFF2-40B4-BE49-F238E27FC236}">
                <a16:creationId xmlns:a16="http://schemas.microsoft.com/office/drawing/2014/main" id="{B2485D01-241A-45ED-9B7F-6B3211E501E3}"/>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Values 2 and 6 are equally likely. Mean = 4. Variance = [(2−4)²</a:t>
            </a:r>
          </a:p>
        </p:txBody>
      </p:sp>
      <p:sp>
        <p:nvSpPr>
          <p:cNvPr id="9" name="concept-17-example-1">
            <a:extLst xmlns:a="http://schemas.openxmlformats.org/drawingml/2006/main">
              <a:ext uri="{FF2B5EF4-FFF2-40B4-BE49-F238E27FC236}">
                <a16:creationId xmlns:a16="http://schemas.microsoft.com/office/drawing/2014/main" id="{D43C6E3C-048B-4C81-8CA8-96F13ADA74EC}"/>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 (6−4)²]/2 = 4. Standard deviation = √4 = 2.</a:t>
            </a:r>
          </a:p>
        </p:txBody>
      </p:sp>
      <p:sp>
        <p:nvSpPr>
          <p:cNvPr id="10" name="concept-17-metaphor-label-0">
            <a:extLst xmlns:a="http://schemas.openxmlformats.org/drawingml/2006/main">
              <a:ext uri="{FF2B5EF4-FFF2-40B4-BE49-F238E27FC236}">
                <a16:creationId xmlns:a16="http://schemas.microsoft.com/office/drawing/2014/main" id="{79405271-B715-49C1-8AA3-69243FD90E89}"/>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17-metaphor-0">
            <a:extLst xmlns:a="http://schemas.openxmlformats.org/drawingml/2006/main">
              <a:ext uri="{FF2B5EF4-FFF2-40B4-BE49-F238E27FC236}">
                <a16:creationId xmlns:a16="http://schemas.microsoft.com/office/drawing/2014/main" id="{D2C69E47-30DD-4F86-9DB8-720BB18C2DAF}"/>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mean locates the center of the arrow hits; variance</a:t>
            </a:r>
          </a:p>
        </p:txBody>
      </p:sp>
      <p:sp>
        <p:nvSpPr>
          <p:cNvPr id="12" name="concept-17-metaphor-1">
            <a:extLst xmlns:a="http://schemas.openxmlformats.org/drawingml/2006/main">
              <a:ext uri="{FF2B5EF4-FFF2-40B4-BE49-F238E27FC236}">
                <a16:creationId xmlns:a16="http://schemas.microsoft.com/office/drawing/2014/main" id="{31A8DAAB-2DC2-4294-B36C-61E787AED17A}"/>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describes how widely they spread.</a:t>
            </a:r>
          </a:p>
        </p:txBody>
      </p:sp>
      <p:sp>
        <p:nvSpPr>
          <p:cNvPr id="13" name="concept-17-footer-0">
            <a:extLst xmlns:a="http://schemas.openxmlformats.org/drawingml/2006/main">
              <a:ext uri="{FF2B5EF4-FFF2-40B4-BE49-F238E27FC236}">
                <a16:creationId xmlns:a16="http://schemas.microsoft.com/office/drawing/2014/main" id="{CCBB541E-D92A-4B75-A8B7-56595BA70457}"/>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Exponential and logarithm</a:t>
            </a:r>
          </a:p>
        </p:txBody>
      </p:sp>
    </p:spTree>
    <p:extLst>
      <p:ext uri="{BB962C8B-B14F-4D97-AF65-F5344CB8AC3E}">
        <p14:creationId xmlns:p14="http://schemas.microsoft.com/office/powerpoint/2010/main" val="242305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18-chapter-0">
            <a:extLst xmlns:a="http://schemas.openxmlformats.org/drawingml/2006/main">
              <a:ext uri="{FF2B5EF4-FFF2-40B4-BE49-F238E27FC236}">
                <a16:creationId xmlns:a16="http://schemas.microsoft.com/office/drawing/2014/main" id="{C09D0D76-0BE0-420F-BC99-6618CACE95CC}"/>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018 / 100 · MATHEMATICS</a:t>
            </a:r>
          </a:p>
        </p:txBody>
      </p:sp>
      <p:sp>
        <p:nvSpPr>
          <p:cNvPr id="2" name="concept-18-title-0">
            <a:extLst xmlns:a="http://schemas.openxmlformats.org/drawingml/2006/main">
              <a:ext uri="{FF2B5EF4-FFF2-40B4-BE49-F238E27FC236}">
                <a16:creationId xmlns:a16="http://schemas.microsoft.com/office/drawing/2014/main" id="{71545CCB-FEC5-41B6-85E4-C0B5931A0B90}"/>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Exponential and logarithm</a:t>
            </a:r>
          </a:p>
        </p:txBody>
      </p:sp>
      <p:sp>
        <p:nvSpPr>
          <p:cNvPr id="3" name="concept-18-definition-label-0">
            <a:extLst xmlns:a="http://schemas.openxmlformats.org/drawingml/2006/main">
              <a:ext uri="{FF2B5EF4-FFF2-40B4-BE49-F238E27FC236}">
                <a16:creationId xmlns:a16="http://schemas.microsoft.com/office/drawing/2014/main" id="{F80A4A59-C9D5-4C76-9470-A8D6639D6445}"/>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18-definition-0">
            <a:extLst xmlns:a="http://schemas.openxmlformats.org/drawingml/2006/main">
              <a:ext uri="{FF2B5EF4-FFF2-40B4-BE49-F238E27FC236}">
                <a16:creationId xmlns:a16="http://schemas.microsoft.com/office/drawing/2014/main" id="{AB233B47-8381-47E9-BAF8-B710D75E6252}"/>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exponential raises a fixed base to a variable power. A</a:t>
            </a:r>
          </a:p>
        </p:txBody>
      </p:sp>
      <p:sp>
        <p:nvSpPr>
          <p:cNvPr id="5" name="concept-18-definition-1">
            <a:extLst xmlns:a="http://schemas.openxmlformats.org/drawingml/2006/main">
              <a:ext uri="{FF2B5EF4-FFF2-40B4-BE49-F238E27FC236}">
                <a16:creationId xmlns:a16="http://schemas.microsoft.com/office/drawing/2014/main" id="{04E8F78F-DDBA-4F6B-BA51-B5E0A1D61137}"/>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logarithm gives the power needed to obtain a number. Natural</a:t>
            </a:r>
          </a:p>
        </p:txBody>
      </p:sp>
      <p:sp>
        <p:nvSpPr>
          <p:cNvPr id="13" name="concept-18-definition-2">
            <a:extLst xmlns:a="http://schemas.openxmlformats.org/drawingml/2006/main">
              <a:ext uri="{FF2B5EF4-FFF2-40B4-BE49-F238E27FC236}">
                <a16:creationId xmlns:a16="http://schemas.microsoft.com/office/drawing/2014/main" id="{9C1D4CCA-C40E-4FA4-AE6E-782A6B3FAD59}"/>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logarithms use the base e ≈ 2.718.</a:t>
            </a:r>
          </a:p>
        </p:txBody>
      </p:sp>
      <p:sp>
        <p:nvSpPr>
          <p:cNvPr id="6" name="concept-18-formula-0">
            <a:extLst xmlns:a="http://schemas.openxmlformats.org/drawingml/2006/main">
              <a:ext uri="{FF2B5EF4-FFF2-40B4-BE49-F238E27FC236}">
                <a16:creationId xmlns:a16="http://schemas.microsoft.com/office/drawing/2014/main" id="{945957A6-EC5A-46F0-8F34-66E855463FEF}"/>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log_b(bˣ) = x, b &gt; 0 and b ≠ 1; ln(x) = log_e(x)</a:t>
            </a:r>
          </a:p>
        </p:txBody>
      </p:sp>
      <p:sp>
        <p:nvSpPr>
          <p:cNvPr id="7" name="concept-18-example-label-0">
            <a:extLst xmlns:a="http://schemas.openxmlformats.org/drawingml/2006/main">
              <a:ext uri="{FF2B5EF4-FFF2-40B4-BE49-F238E27FC236}">
                <a16:creationId xmlns:a16="http://schemas.microsoft.com/office/drawing/2014/main" id="{55AA0ED4-1017-4EE5-ABA6-21E771C43450}"/>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18-example-0">
            <a:extLst xmlns:a="http://schemas.openxmlformats.org/drawingml/2006/main">
              <a:ext uri="{FF2B5EF4-FFF2-40B4-BE49-F238E27FC236}">
                <a16:creationId xmlns:a16="http://schemas.microsoft.com/office/drawing/2014/main" id="{675ECB4F-8F83-48BB-84B5-621614C4EF38}"/>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2³ = 8, so log₂(8) = 3. Likewise, e² ≈ 7.389, so ln(7.389) ≈ 2.</a:t>
            </a:r>
          </a:p>
        </p:txBody>
      </p:sp>
      <p:sp>
        <p:nvSpPr>
          <p:cNvPr id="9" name="concept-18-metaphor-label-0">
            <a:extLst xmlns:a="http://schemas.openxmlformats.org/drawingml/2006/main">
              <a:ext uri="{FF2B5EF4-FFF2-40B4-BE49-F238E27FC236}">
                <a16:creationId xmlns:a16="http://schemas.microsoft.com/office/drawing/2014/main" id="{D582AC47-64A7-4493-A3AC-44C473113ABF}"/>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0" name="concept-18-metaphor-0">
            <a:extLst xmlns:a="http://schemas.openxmlformats.org/drawingml/2006/main">
              <a:ext uri="{FF2B5EF4-FFF2-40B4-BE49-F238E27FC236}">
                <a16:creationId xmlns:a16="http://schemas.microsoft.com/office/drawing/2014/main" id="{F923B53D-A4B2-45A1-AB57-A25EA330B237}"/>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exponential climbs a multiplicative ladder; a logarithm tells</a:t>
            </a:r>
          </a:p>
        </p:txBody>
      </p:sp>
      <p:sp>
        <p:nvSpPr>
          <p:cNvPr id="11" name="concept-18-metaphor-1">
            <a:extLst xmlns:a="http://schemas.openxmlformats.org/drawingml/2006/main">
              <a:ext uri="{FF2B5EF4-FFF2-40B4-BE49-F238E27FC236}">
                <a16:creationId xmlns:a16="http://schemas.microsoft.com/office/drawing/2014/main" id="{4B6C04AB-E62E-4D92-8290-43CEE7139681}"/>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you how many rungs you climbed.</a:t>
            </a:r>
          </a:p>
        </p:txBody>
      </p:sp>
      <p:sp>
        <p:nvSpPr>
          <p:cNvPr id="12" name="concept-18-footer-0">
            <a:extLst xmlns:a="http://schemas.openxmlformats.org/drawingml/2006/main">
              <a:ext uri="{FF2B5EF4-FFF2-40B4-BE49-F238E27FC236}">
                <a16:creationId xmlns:a16="http://schemas.microsoft.com/office/drawing/2014/main" id="{B1944BAC-D6AE-4929-BC85-0CFF14296E31}"/>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Derivative</a:t>
            </a:r>
          </a:p>
        </p:txBody>
      </p:sp>
    </p:spTree>
    <p:extLst>
      <p:ext uri="{BB962C8B-B14F-4D97-AF65-F5344CB8AC3E}">
        <p14:creationId xmlns:p14="http://schemas.microsoft.com/office/powerpoint/2010/main" val="210244201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19-chapter-0">
            <a:extLst xmlns:a="http://schemas.openxmlformats.org/drawingml/2006/main">
              <a:ext uri="{FF2B5EF4-FFF2-40B4-BE49-F238E27FC236}">
                <a16:creationId xmlns:a16="http://schemas.microsoft.com/office/drawing/2014/main" id="{54268A4B-A142-48E2-BD35-A43E8CF6DFCC}"/>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019 / 100 · MATHEMATICS</a:t>
            </a:r>
          </a:p>
        </p:txBody>
      </p:sp>
      <p:sp>
        <p:nvSpPr>
          <p:cNvPr id="2" name="concept-19-title-0">
            <a:extLst xmlns:a="http://schemas.openxmlformats.org/drawingml/2006/main">
              <a:ext uri="{FF2B5EF4-FFF2-40B4-BE49-F238E27FC236}">
                <a16:creationId xmlns:a16="http://schemas.microsoft.com/office/drawing/2014/main" id="{5277660B-044F-4FEA-BD10-A69A91392529}"/>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Derivative</a:t>
            </a:r>
          </a:p>
        </p:txBody>
      </p:sp>
      <p:sp>
        <p:nvSpPr>
          <p:cNvPr id="3" name="concept-19-definition-label-0">
            <a:extLst xmlns:a="http://schemas.openxmlformats.org/drawingml/2006/main">
              <a:ext uri="{FF2B5EF4-FFF2-40B4-BE49-F238E27FC236}">
                <a16:creationId xmlns:a16="http://schemas.microsoft.com/office/drawing/2014/main" id="{ECD50A5E-3E12-4F75-9A9B-0B2421D539E9}"/>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19-definition-0">
            <a:extLst xmlns:a="http://schemas.openxmlformats.org/drawingml/2006/main">
              <a:ext uri="{FF2B5EF4-FFF2-40B4-BE49-F238E27FC236}">
                <a16:creationId xmlns:a16="http://schemas.microsoft.com/office/drawing/2014/main" id="{30E0248A-B9B9-4C26-9100-A56FFC884481}"/>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derivative is a function's instantaneous rate of change,</a:t>
            </a:r>
          </a:p>
        </p:txBody>
      </p:sp>
      <p:sp>
        <p:nvSpPr>
          <p:cNvPr id="5" name="concept-19-definition-1">
            <a:extLst xmlns:a="http://schemas.openxmlformats.org/drawingml/2006/main">
              <a:ext uri="{FF2B5EF4-FFF2-40B4-BE49-F238E27FC236}">
                <a16:creationId xmlns:a16="http://schemas.microsoft.com/office/drawing/2014/main" id="{B2B9C606-047B-413E-BA72-6B7DBDD13C2C}"/>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defined by the limit of slopes over shrinking intervals.</a:t>
            </a:r>
          </a:p>
        </p:txBody>
      </p:sp>
      <p:sp>
        <p:nvSpPr>
          <p:cNvPr id="6" name="concept-19-formula-0">
            <a:extLst xmlns:a="http://schemas.openxmlformats.org/drawingml/2006/main">
              <a:ext uri="{FF2B5EF4-FFF2-40B4-BE49-F238E27FC236}">
                <a16:creationId xmlns:a16="http://schemas.microsoft.com/office/drawing/2014/main" id="{E3366D10-F744-469C-A83D-7DCEB91A3E3A}"/>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f′(x) = limₕ→₀ [f(x + h) − f(x)] / h</a:t>
            </a:r>
          </a:p>
        </p:txBody>
      </p:sp>
      <p:sp>
        <p:nvSpPr>
          <p:cNvPr id="7" name="concept-19-example-label-0">
            <a:extLst xmlns:a="http://schemas.openxmlformats.org/drawingml/2006/main">
              <a:ext uri="{FF2B5EF4-FFF2-40B4-BE49-F238E27FC236}">
                <a16:creationId xmlns:a16="http://schemas.microsoft.com/office/drawing/2014/main" id="{72C13153-346B-4523-9AA8-91959B61B455}"/>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19-example-0">
            <a:extLst xmlns:a="http://schemas.openxmlformats.org/drawingml/2006/main">
              <a:ext uri="{FF2B5EF4-FFF2-40B4-BE49-F238E27FC236}">
                <a16:creationId xmlns:a16="http://schemas.microsoft.com/office/drawing/2014/main" id="{57F279AD-1876-46AD-BA37-D4D0826BA083}"/>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f(x) = x²: f(3.01) − f(3) = 0.0601. The slope over this</a:t>
            </a:r>
          </a:p>
        </p:txBody>
      </p:sp>
      <p:sp>
        <p:nvSpPr>
          <p:cNvPr id="9" name="concept-19-example-1">
            <a:extLst xmlns:a="http://schemas.openxmlformats.org/drawingml/2006/main">
              <a:ext uri="{FF2B5EF4-FFF2-40B4-BE49-F238E27FC236}">
                <a16:creationId xmlns:a16="http://schemas.microsoft.com/office/drawing/2014/main" id="{BEE334BE-1D60-4335-B879-E82BE60E47B5}"/>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interval is 0.0601/0.01 = 6.01, close to f′(3) = 6.</a:t>
            </a:r>
          </a:p>
        </p:txBody>
      </p:sp>
      <p:sp>
        <p:nvSpPr>
          <p:cNvPr id="10" name="concept-19-metaphor-label-0">
            <a:extLst xmlns:a="http://schemas.openxmlformats.org/drawingml/2006/main">
              <a:ext uri="{FF2B5EF4-FFF2-40B4-BE49-F238E27FC236}">
                <a16:creationId xmlns:a16="http://schemas.microsoft.com/office/drawing/2014/main" id="{C3FBE900-A059-44C9-84EA-B775071AFBB3}"/>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19-metaphor-0">
            <a:extLst xmlns:a="http://schemas.openxmlformats.org/drawingml/2006/main">
              <a:ext uri="{FF2B5EF4-FFF2-40B4-BE49-F238E27FC236}">
                <a16:creationId xmlns:a16="http://schemas.microsoft.com/office/drawing/2014/main" id="{4D798F41-270D-459A-B6DB-6600684F5FBB}"/>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speedometer measures the slope of your</a:t>
            </a:r>
          </a:p>
        </p:txBody>
      </p:sp>
      <p:sp>
        <p:nvSpPr>
          <p:cNvPr id="12" name="concept-19-metaphor-1">
            <a:extLst xmlns:a="http://schemas.openxmlformats.org/drawingml/2006/main">
              <a:ext uri="{FF2B5EF4-FFF2-40B4-BE49-F238E27FC236}">
                <a16:creationId xmlns:a16="http://schemas.microsoft.com/office/drawing/2014/main" id="{02A4FE61-2E14-47A9-90E9-9D76748EF97F}"/>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distance-versus-time journey at this instant.</a:t>
            </a:r>
          </a:p>
        </p:txBody>
      </p:sp>
      <p:sp>
        <p:nvSpPr>
          <p:cNvPr id="13" name="concept-19-footer-0">
            <a:extLst xmlns:a="http://schemas.openxmlformats.org/drawingml/2006/main">
              <a:ext uri="{FF2B5EF4-FFF2-40B4-BE49-F238E27FC236}">
                <a16:creationId xmlns:a16="http://schemas.microsoft.com/office/drawing/2014/main" id="{FAB24A44-77FB-4E5F-B93D-D0D95651D853}"/>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Integral</a:t>
            </a:r>
          </a:p>
        </p:txBody>
      </p:sp>
    </p:spTree>
    <p:extLst>
      <p:ext uri="{BB962C8B-B14F-4D97-AF65-F5344CB8AC3E}">
        <p14:creationId xmlns:p14="http://schemas.microsoft.com/office/powerpoint/2010/main" val="93251138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20-chapter-0">
            <a:extLst xmlns:a="http://schemas.openxmlformats.org/drawingml/2006/main">
              <a:ext uri="{FF2B5EF4-FFF2-40B4-BE49-F238E27FC236}">
                <a16:creationId xmlns:a16="http://schemas.microsoft.com/office/drawing/2014/main" id="{FA419BD3-7D6C-45BA-AB3F-6EDAF76E8FAA}"/>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020 / 100 · MATHEMATICS</a:t>
            </a:r>
          </a:p>
        </p:txBody>
      </p:sp>
      <p:sp>
        <p:nvSpPr>
          <p:cNvPr id="2" name="concept-20-title-0">
            <a:extLst xmlns:a="http://schemas.openxmlformats.org/drawingml/2006/main">
              <a:ext uri="{FF2B5EF4-FFF2-40B4-BE49-F238E27FC236}">
                <a16:creationId xmlns:a16="http://schemas.microsoft.com/office/drawing/2014/main" id="{3B441664-3E2C-4C71-8D63-E2719397F057}"/>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Integral</a:t>
            </a:r>
          </a:p>
        </p:txBody>
      </p:sp>
      <p:sp>
        <p:nvSpPr>
          <p:cNvPr id="3" name="concept-20-definition-label-0">
            <a:extLst xmlns:a="http://schemas.openxmlformats.org/drawingml/2006/main">
              <a:ext uri="{FF2B5EF4-FFF2-40B4-BE49-F238E27FC236}">
                <a16:creationId xmlns:a16="http://schemas.microsoft.com/office/drawing/2014/main" id="{89190B3F-D46E-42CC-9911-7DACED9C972D}"/>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20-definition-0">
            <a:extLst xmlns:a="http://schemas.openxmlformats.org/drawingml/2006/main">
              <a:ext uri="{FF2B5EF4-FFF2-40B4-BE49-F238E27FC236}">
                <a16:creationId xmlns:a16="http://schemas.microsoft.com/office/drawing/2014/main" id="{D583599C-EB1B-4A49-8E61-1351CD4BF344}"/>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definite integral is the limit of sums of a function's values</a:t>
            </a:r>
          </a:p>
        </p:txBody>
      </p:sp>
      <p:sp>
        <p:nvSpPr>
          <p:cNvPr id="5" name="concept-20-definition-1">
            <a:extLst xmlns:a="http://schemas.openxmlformats.org/drawingml/2006/main">
              <a:ext uri="{FF2B5EF4-FFF2-40B4-BE49-F238E27FC236}">
                <a16:creationId xmlns:a16="http://schemas.microsoft.com/office/drawing/2014/main" id="{98922669-E4F2-467D-813F-7BE6FBCF4D9A}"/>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times small interval widths. It measures signed accumulation.</a:t>
            </a:r>
          </a:p>
        </p:txBody>
      </p:sp>
      <p:sp>
        <p:nvSpPr>
          <p:cNvPr id="6" name="concept-20-formula-0">
            <a:extLst xmlns:a="http://schemas.openxmlformats.org/drawingml/2006/main">
              <a:ext uri="{FF2B5EF4-FFF2-40B4-BE49-F238E27FC236}">
                <a16:creationId xmlns:a16="http://schemas.microsoft.com/office/drawing/2014/main" id="{4C8CA814-1F60-4DC2-AF3C-A670E0D97B6B}"/>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∫ₐᵇ f(t) dt = limₙ→∞ Σᵢ₌₁ⁿ f(a + iΔt)Δt</a:t>
            </a:r>
          </a:p>
        </p:txBody>
      </p:sp>
      <p:sp>
        <p:nvSpPr>
          <p:cNvPr id="14" name="concept-20-formula-1">
            <a:extLst xmlns:a="http://schemas.openxmlformats.org/drawingml/2006/main">
              <a:ext uri="{FF2B5EF4-FFF2-40B4-BE49-F238E27FC236}">
                <a16:creationId xmlns:a16="http://schemas.microsoft.com/office/drawing/2014/main" id="{E0F420C3-0691-4EC2-803F-E9B9F1857912}"/>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Δt = (b − a)/n</a:t>
            </a:r>
          </a:p>
        </p:txBody>
      </p:sp>
      <p:sp>
        <p:nvSpPr>
          <p:cNvPr id="7" name="concept-20-example-label-0">
            <a:extLst xmlns:a="http://schemas.openxmlformats.org/drawingml/2006/main">
              <a:ext uri="{FF2B5EF4-FFF2-40B4-BE49-F238E27FC236}">
                <a16:creationId xmlns:a16="http://schemas.microsoft.com/office/drawing/2014/main" id="{008DD005-79C2-4046-A701-88787068D17F}"/>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20-example-0">
            <a:extLst xmlns:a="http://schemas.openxmlformats.org/drawingml/2006/main">
              <a:ext uri="{FF2B5EF4-FFF2-40B4-BE49-F238E27FC236}">
                <a16:creationId xmlns:a16="http://schemas.microsoft.com/office/drawing/2014/main" id="{5BCE436B-7E88-4358-9994-E8088B4AC2F5}"/>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flow of 2 litres/second for 3 seconds delivers ∫₀³ 2 dt = 6</a:t>
            </a:r>
          </a:p>
        </p:txBody>
      </p:sp>
      <p:sp>
        <p:nvSpPr>
          <p:cNvPr id="9" name="concept-20-example-1">
            <a:extLst xmlns:a="http://schemas.openxmlformats.org/drawingml/2006/main">
              <a:ext uri="{FF2B5EF4-FFF2-40B4-BE49-F238E27FC236}">
                <a16:creationId xmlns:a16="http://schemas.microsoft.com/office/drawing/2014/main" id="{C0684939-DA80-4467-8C86-CC07FB61ED32}"/>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litres.</a:t>
            </a:r>
          </a:p>
        </p:txBody>
      </p:sp>
      <p:sp>
        <p:nvSpPr>
          <p:cNvPr id="10" name="concept-20-metaphor-label-0">
            <a:extLst xmlns:a="http://schemas.openxmlformats.org/drawingml/2006/main">
              <a:ext uri="{FF2B5EF4-FFF2-40B4-BE49-F238E27FC236}">
                <a16:creationId xmlns:a16="http://schemas.microsoft.com/office/drawing/2014/main" id="{C686ED78-9612-4EF2-8D07-955C817A0ABF}"/>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20-metaphor-0">
            <a:extLst xmlns:a="http://schemas.openxmlformats.org/drawingml/2006/main">
              <a:ext uri="{FF2B5EF4-FFF2-40B4-BE49-F238E27FC236}">
                <a16:creationId xmlns:a16="http://schemas.microsoft.com/office/drawing/2014/main" id="{77143B7B-E66B-4763-8566-AEAC2FD37A00}"/>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derivative reads the tap's flow rate; an integral counts the</a:t>
            </a:r>
          </a:p>
        </p:txBody>
      </p:sp>
      <p:sp>
        <p:nvSpPr>
          <p:cNvPr id="12" name="concept-20-metaphor-1">
            <a:extLst xmlns:a="http://schemas.openxmlformats.org/drawingml/2006/main">
              <a:ext uri="{FF2B5EF4-FFF2-40B4-BE49-F238E27FC236}">
                <a16:creationId xmlns:a16="http://schemas.microsoft.com/office/drawing/2014/main" id="{34CF5880-D240-400B-9A68-34CEE25FC208}"/>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water collected in the bucket.</a:t>
            </a:r>
          </a:p>
        </p:txBody>
      </p:sp>
      <p:sp>
        <p:nvSpPr>
          <p:cNvPr id="13" name="concept-20-footer-0">
            <a:extLst xmlns:a="http://schemas.openxmlformats.org/drawingml/2006/main">
              <a:ext uri="{FF2B5EF4-FFF2-40B4-BE49-F238E27FC236}">
                <a16:creationId xmlns:a16="http://schemas.microsoft.com/office/drawing/2014/main" id="{445BFFB2-F4C9-4B5B-995E-7C94470EB4F0}"/>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Gradient</a:t>
            </a:r>
          </a:p>
        </p:txBody>
      </p:sp>
    </p:spTree>
    <p:extLst>
      <p:ext uri="{BB962C8B-B14F-4D97-AF65-F5344CB8AC3E}">
        <p14:creationId xmlns:p14="http://schemas.microsoft.com/office/powerpoint/2010/main" val="4199822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21-chapter-0">
            <a:extLst xmlns:a="http://schemas.openxmlformats.org/drawingml/2006/main">
              <a:ext uri="{FF2B5EF4-FFF2-40B4-BE49-F238E27FC236}">
                <a16:creationId xmlns:a16="http://schemas.microsoft.com/office/drawing/2014/main" id="{41E71BBD-A492-486F-A9F0-CC6A58587564}"/>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021 / 100 · MATHEMATICS</a:t>
            </a:r>
          </a:p>
        </p:txBody>
      </p:sp>
      <p:sp>
        <p:nvSpPr>
          <p:cNvPr id="2" name="concept-21-title-0">
            <a:extLst xmlns:a="http://schemas.openxmlformats.org/drawingml/2006/main">
              <a:ext uri="{FF2B5EF4-FFF2-40B4-BE49-F238E27FC236}">
                <a16:creationId xmlns:a16="http://schemas.microsoft.com/office/drawing/2014/main" id="{CD1BD13A-49B5-4787-B60F-B047EE4849B1}"/>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Gradient</a:t>
            </a:r>
          </a:p>
        </p:txBody>
      </p:sp>
      <p:sp>
        <p:nvSpPr>
          <p:cNvPr id="3" name="concept-21-definition-label-0">
            <a:extLst xmlns:a="http://schemas.openxmlformats.org/drawingml/2006/main">
              <a:ext uri="{FF2B5EF4-FFF2-40B4-BE49-F238E27FC236}">
                <a16:creationId xmlns:a16="http://schemas.microsoft.com/office/drawing/2014/main" id="{295A2743-B851-4992-9683-5242991218AE}"/>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21-definition-0">
            <a:extLst xmlns:a="http://schemas.openxmlformats.org/drawingml/2006/main">
              <a:ext uri="{FF2B5EF4-FFF2-40B4-BE49-F238E27FC236}">
                <a16:creationId xmlns:a16="http://schemas.microsoft.com/office/drawing/2014/main" id="{42ECD052-7608-45E1-8241-1AAB956319A7}"/>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a scalar function of several variables, the gradient collects</a:t>
            </a:r>
          </a:p>
        </p:txBody>
      </p:sp>
      <p:sp>
        <p:nvSpPr>
          <p:cNvPr id="5" name="concept-21-definition-1">
            <a:extLst xmlns:a="http://schemas.openxmlformats.org/drawingml/2006/main">
              <a:ext uri="{FF2B5EF4-FFF2-40B4-BE49-F238E27FC236}">
                <a16:creationId xmlns:a16="http://schemas.microsoft.com/office/drawing/2014/main" id="{18E2C7DE-DAB0-4616-90D3-6E41B3151266}"/>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its partial derivatives. Each partial varies one coordinate while</a:t>
            </a:r>
          </a:p>
        </p:txBody>
      </p:sp>
      <p:sp>
        <p:nvSpPr>
          <p:cNvPr id="6" name="concept-21-definition-2">
            <a:extLst xmlns:a="http://schemas.openxmlformats.org/drawingml/2006/main">
              <a:ext uri="{FF2B5EF4-FFF2-40B4-BE49-F238E27FC236}">
                <a16:creationId xmlns:a16="http://schemas.microsoft.com/office/drawing/2014/main" id="{14B446CD-D3F5-4A74-A99C-F96FB4C01781}"/>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holding the others fixed.</a:t>
            </a:r>
          </a:p>
        </p:txBody>
      </p:sp>
      <p:sp>
        <p:nvSpPr>
          <p:cNvPr id="7" name="concept-21-formula-0">
            <a:extLst xmlns:a="http://schemas.openxmlformats.org/drawingml/2006/main">
              <a:ext uri="{FF2B5EF4-FFF2-40B4-BE49-F238E27FC236}">
                <a16:creationId xmlns:a16="http://schemas.microsoft.com/office/drawing/2014/main" id="{D0BEE230-708A-40C0-9034-6877FAA67B38}"/>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∇L = (∂L/∂x, ∂L/∂y)</a:t>
            </a:r>
          </a:p>
        </p:txBody>
      </p:sp>
      <p:sp>
        <p:nvSpPr>
          <p:cNvPr id="8" name="concept-21-example-label-0">
            <a:extLst xmlns:a="http://schemas.openxmlformats.org/drawingml/2006/main">
              <a:ext uri="{FF2B5EF4-FFF2-40B4-BE49-F238E27FC236}">
                <a16:creationId xmlns:a16="http://schemas.microsoft.com/office/drawing/2014/main" id="{DDDE2A84-6CDD-4101-9FD3-D82BB80D5164}"/>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21-example-0">
            <a:extLst xmlns:a="http://schemas.openxmlformats.org/drawingml/2006/main">
              <a:ext uri="{FF2B5EF4-FFF2-40B4-BE49-F238E27FC236}">
                <a16:creationId xmlns:a16="http://schemas.microsoft.com/office/drawing/2014/main" id="{63C82078-0F5D-4404-9AA9-3ABC19809A0F}"/>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If L = x² + 3y², then ∇L = (2x, 6y). At (1, 2), it is (2, 12).</a:t>
            </a:r>
          </a:p>
        </p:txBody>
      </p:sp>
      <p:sp>
        <p:nvSpPr>
          <p:cNvPr id="10" name="concept-21-metaphor-label-0">
            <a:extLst xmlns:a="http://schemas.openxmlformats.org/drawingml/2006/main">
              <a:ext uri="{FF2B5EF4-FFF2-40B4-BE49-F238E27FC236}">
                <a16:creationId xmlns:a16="http://schemas.microsoft.com/office/drawing/2014/main" id="{8DE9E945-C32B-4210-9452-7FEA5895501C}"/>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21-metaphor-0">
            <a:extLst xmlns:a="http://schemas.openxmlformats.org/drawingml/2006/main">
              <a:ext uri="{FF2B5EF4-FFF2-40B4-BE49-F238E27FC236}">
                <a16:creationId xmlns:a16="http://schemas.microsoft.com/office/drawing/2014/main" id="{06AF7ABD-5FD2-42C0-B9DA-53265771396E}"/>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hill's gradient is a local uphill compass, with one component</a:t>
            </a:r>
          </a:p>
        </p:txBody>
      </p:sp>
      <p:sp>
        <p:nvSpPr>
          <p:cNvPr id="12" name="concept-21-metaphor-1">
            <a:extLst xmlns:a="http://schemas.openxmlformats.org/drawingml/2006/main">
              <a:ext uri="{FF2B5EF4-FFF2-40B4-BE49-F238E27FC236}">
                <a16:creationId xmlns:a16="http://schemas.microsoft.com/office/drawing/2014/main" id="{5FEEB4FA-0BA2-454B-812F-9EB700FDC4E3}"/>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each direction.</a:t>
            </a:r>
          </a:p>
        </p:txBody>
      </p:sp>
      <p:sp>
        <p:nvSpPr>
          <p:cNvPr id="13" name="concept-21-footer-0">
            <a:extLst xmlns:a="http://schemas.openxmlformats.org/drawingml/2006/main">
              <a:ext uri="{FF2B5EF4-FFF2-40B4-BE49-F238E27FC236}">
                <a16:creationId xmlns:a16="http://schemas.microsoft.com/office/drawing/2014/main" id="{37C0F4EB-F66F-4968-96E0-D97A1F66E2AE}"/>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Chain rule</a:t>
            </a:r>
          </a:p>
        </p:txBody>
      </p:sp>
    </p:spTree>
    <p:extLst>
      <p:ext uri="{BB962C8B-B14F-4D97-AF65-F5344CB8AC3E}">
        <p14:creationId xmlns:p14="http://schemas.microsoft.com/office/powerpoint/2010/main" val="182212461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22-chapter-0">
            <a:extLst xmlns:a="http://schemas.openxmlformats.org/drawingml/2006/main">
              <a:ext uri="{FF2B5EF4-FFF2-40B4-BE49-F238E27FC236}">
                <a16:creationId xmlns:a16="http://schemas.microsoft.com/office/drawing/2014/main" id="{133B3CB7-DA8B-490F-AD5D-27A8ACB71B34}"/>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022 / 100 · MATHEMATICS</a:t>
            </a:r>
          </a:p>
        </p:txBody>
      </p:sp>
      <p:sp>
        <p:nvSpPr>
          <p:cNvPr id="2" name="concept-22-title-0">
            <a:extLst xmlns:a="http://schemas.openxmlformats.org/drawingml/2006/main">
              <a:ext uri="{FF2B5EF4-FFF2-40B4-BE49-F238E27FC236}">
                <a16:creationId xmlns:a16="http://schemas.microsoft.com/office/drawing/2014/main" id="{B1CE5CD6-23E3-451C-970D-90C09B228221}"/>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Chain rule</a:t>
            </a:r>
          </a:p>
        </p:txBody>
      </p:sp>
      <p:sp>
        <p:nvSpPr>
          <p:cNvPr id="3" name="concept-22-definition-label-0">
            <a:extLst xmlns:a="http://schemas.openxmlformats.org/drawingml/2006/main">
              <a:ext uri="{FF2B5EF4-FFF2-40B4-BE49-F238E27FC236}">
                <a16:creationId xmlns:a16="http://schemas.microsoft.com/office/drawing/2014/main" id="{E55C8C93-6FB2-48F2-9726-D320B0D3F89A}"/>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22-definition-0">
            <a:extLst xmlns:a="http://schemas.openxmlformats.org/drawingml/2006/main">
              <a:ext uri="{FF2B5EF4-FFF2-40B4-BE49-F238E27FC236}">
                <a16:creationId xmlns:a16="http://schemas.microsoft.com/office/drawing/2014/main" id="{7FB24387-9205-45F9-AEF0-4055CB045366}"/>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When one function feeds another, a change passes through</a:t>
            </a:r>
          </a:p>
        </p:txBody>
      </p:sp>
      <p:sp>
        <p:nvSpPr>
          <p:cNvPr id="5" name="concept-22-definition-1">
            <a:extLst xmlns:a="http://schemas.openxmlformats.org/drawingml/2006/main">
              <a:ext uri="{FF2B5EF4-FFF2-40B4-BE49-F238E27FC236}">
                <a16:creationId xmlns:a16="http://schemas.microsoft.com/office/drawing/2014/main" id="{56F21CD8-76FF-4AC6-9FCF-D1A7FE56094C}"/>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both. The chain rule multiplies their local derivatives to find the</a:t>
            </a:r>
          </a:p>
        </p:txBody>
      </p:sp>
      <p:sp>
        <p:nvSpPr>
          <p:cNvPr id="14" name="concept-22-definition-2">
            <a:extLst xmlns:a="http://schemas.openxmlformats.org/drawingml/2006/main">
              <a:ext uri="{FF2B5EF4-FFF2-40B4-BE49-F238E27FC236}">
                <a16:creationId xmlns:a16="http://schemas.microsoft.com/office/drawing/2014/main" id="{EDF49935-546F-4F18-A488-A9C390A2CCCC}"/>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derivative of the combined function.</a:t>
            </a:r>
          </a:p>
        </p:txBody>
      </p:sp>
      <p:sp>
        <p:nvSpPr>
          <p:cNvPr id="6" name="concept-22-formula-0">
            <a:extLst xmlns:a="http://schemas.openxmlformats.org/drawingml/2006/main">
              <a:ext uri="{FF2B5EF4-FFF2-40B4-BE49-F238E27FC236}">
                <a16:creationId xmlns:a16="http://schemas.microsoft.com/office/drawing/2014/main" id="{F2F72DFF-DEF5-409E-AB9D-8A3B56519D5F}"/>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If y = f(g(x)), then dy/dx = f′(g(x)) g′(x)</a:t>
            </a:r>
          </a:p>
        </p:txBody>
      </p:sp>
      <p:sp>
        <p:nvSpPr>
          <p:cNvPr id="7" name="concept-22-example-label-0">
            <a:extLst xmlns:a="http://schemas.openxmlformats.org/drawingml/2006/main">
              <a:ext uri="{FF2B5EF4-FFF2-40B4-BE49-F238E27FC236}">
                <a16:creationId xmlns:a16="http://schemas.microsoft.com/office/drawing/2014/main" id="{92223BED-F105-4D18-9F03-3775250DC042}"/>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22-example-0">
            <a:extLst xmlns:a="http://schemas.openxmlformats.org/drawingml/2006/main">
              <a:ext uri="{FF2B5EF4-FFF2-40B4-BE49-F238E27FC236}">
                <a16:creationId xmlns:a16="http://schemas.microsoft.com/office/drawing/2014/main" id="{7D4C885F-25E0-4E5F-94B6-23F71A357A8E}"/>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Let u = 2x and y = u². At x = 3, u = 6. The two slopes are du/dx</a:t>
            </a:r>
          </a:p>
        </p:txBody>
      </p:sp>
      <p:sp>
        <p:nvSpPr>
          <p:cNvPr id="9" name="concept-22-example-1">
            <a:extLst xmlns:a="http://schemas.openxmlformats.org/drawingml/2006/main">
              <a:ext uri="{FF2B5EF4-FFF2-40B4-BE49-F238E27FC236}">
                <a16:creationId xmlns:a16="http://schemas.microsoft.com/office/drawing/2014/main" id="{8B73AD49-9E24-4AB9-9874-0C0D9180BC5C}"/>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 2 and dy/du = 12, so dy/dx = 12×2 = 24.</a:t>
            </a:r>
          </a:p>
        </p:txBody>
      </p:sp>
      <p:sp>
        <p:nvSpPr>
          <p:cNvPr id="10" name="concept-22-metaphor-label-0">
            <a:extLst xmlns:a="http://schemas.openxmlformats.org/drawingml/2006/main">
              <a:ext uri="{FF2B5EF4-FFF2-40B4-BE49-F238E27FC236}">
                <a16:creationId xmlns:a16="http://schemas.microsoft.com/office/drawing/2014/main" id="{F3BFD6A8-FF61-4E64-A18C-9566052689FA}"/>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22-metaphor-0">
            <a:extLst xmlns:a="http://schemas.openxmlformats.org/drawingml/2006/main">
              <a:ext uri="{FF2B5EF4-FFF2-40B4-BE49-F238E27FC236}">
                <a16:creationId xmlns:a16="http://schemas.microsoft.com/office/drawing/2014/main" id="{E1477A43-03C9-412C-895B-AD09B23E9589}"/>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Linked gears multiply their speed ratios. A change travels</a:t>
            </a:r>
          </a:p>
        </p:txBody>
      </p:sp>
      <p:sp>
        <p:nvSpPr>
          <p:cNvPr id="12" name="concept-22-metaphor-1">
            <a:extLst xmlns:a="http://schemas.openxmlformats.org/drawingml/2006/main">
              <a:ext uri="{FF2B5EF4-FFF2-40B4-BE49-F238E27FC236}">
                <a16:creationId xmlns:a16="http://schemas.microsoft.com/office/drawing/2014/main" id="{BFA3AB3A-E24D-4130-8BEB-F6C39E60778E}"/>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through every gear.</a:t>
            </a:r>
          </a:p>
        </p:txBody>
      </p:sp>
      <p:sp>
        <p:nvSpPr>
          <p:cNvPr id="13" name="concept-22-footer-0">
            <a:extLst xmlns:a="http://schemas.openxmlformats.org/drawingml/2006/main">
              <a:ext uri="{FF2B5EF4-FFF2-40B4-BE49-F238E27FC236}">
                <a16:creationId xmlns:a16="http://schemas.microsoft.com/office/drawing/2014/main" id="{22CA70AE-19F6-40DC-AC0F-E7E30FEFB594}"/>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Optimization</a:t>
            </a:r>
          </a:p>
        </p:txBody>
      </p:sp>
    </p:spTree>
    <p:extLst>
      <p:ext uri="{BB962C8B-B14F-4D97-AF65-F5344CB8AC3E}">
        <p14:creationId xmlns:p14="http://schemas.microsoft.com/office/powerpoint/2010/main" val="65928754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23-chapter-0">
            <a:extLst xmlns:a="http://schemas.openxmlformats.org/drawingml/2006/main">
              <a:ext uri="{FF2B5EF4-FFF2-40B4-BE49-F238E27FC236}">
                <a16:creationId xmlns:a16="http://schemas.microsoft.com/office/drawing/2014/main" id="{5AB76894-BAAA-43DF-807D-123768FAD85E}"/>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023 / 100 · MATHEMATICS</a:t>
            </a:r>
          </a:p>
        </p:txBody>
      </p:sp>
      <p:sp>
        <p:nvSpPr>
          <p:cNvPr id="2" name="concept-23-title-0">
            <a:extLst xmlns:a="http://schemas.openxmlformats.org/drawingml/2006/main">
              <a:ext uri="{FF2B5EF4-FFF2-40B4-BE49-F238E27FC236}">
                <a16:creationId xmlns:a16="http://schemas.microsoft.com/office/drawing/2014/main" id="{961BA0C2-9BF7-4206-BD71-1599C27759F7}"/>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Optimization</a:t>
            </a:r>
          </a:p>
        </p:txBody>
      </p:sp>
      <p:sp>
        <p:nvSpPr>
          <p:cNvPr id="3" name="concept-23-definition-label-0">
            <a:extLst xmlns:a="http://schemas.openxmlformats.org/drawingml/2006/main">
              <a:ext uri="{FF2B5EF4-FFF2-40B4-BE49-F238E27FC236}">
                <a16:creationId xmlns:a16="http://schemas.microsoft.com/office/drawing/2014/main" id="{331D8AF2-3278-496A-A29F-2E0BD1D26262}"/>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23-definition-0">
            <a:extLst xmlns:a="http://schemas.openxmlformats.org/drawingml/2006/main">
              <a:ext uri="{FF2B5EF4-FFF2-40B4-BE49-F238E27FC236}">
                <a16:creationId xmlns:a16="http://schemas.microsoft.com/office/drawing/2014/main" id="{CA2B7122-3B66-4E8F-8B04-E847BE803296}"/>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objective assigns a score to each choice. Optimization finds</a:t>
            </a:r>
          </a:p>
        </p:txBody>
      </p:sp>
      <p:sp>
        <p:nvSpPr>
          <p:cNvPr id="5" name="concept-23-definition-1">
            <a:extLst xmlns:a="http://schemas.openxmlformats.org/drawingml/2006/main">
              <a:ext uri="{FF2B5EF4-FFF2-40B4-BE49-F238E27FC236}">
                <a16:creationId xmlns:a16="http://schemas.microsoft.com/office/drawing/2014/main" id="{B2A1F274-B97E-4EEC-A103-2B4AFE601AEB}"/>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allowed choice with the smallest or largest score. The</a:t>
            </a:r>
          </a:p>
        </p:txBody>
      </p:sp>
      <p:sp>
        <p:nvSpPr>
          <p:cNvPr id="13" name="concept-23-definition-2">
            <a:extLst xmlns:a="http://schemas.openxmlformats.org/drawingml/2006/main">
              <a:ext uri="{FF2B5EF4-FFF2-40B4-BE49-F238E27FC236}">
                <a16:creationId xmlns:a16="http://schemas.microsoft.com/office/drawing/2014/main" id="{C5CD1D74-D650-495C-8687-95E596A36674}"/>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allowed choices form the constraint set C.</a:t>
            </a:r>
          </a:p>
        </p:txBody>
      </p:sp>
      <p:sp>
        <p:nvSpPr>
          <p:cNvPr id="6" name="concept-23-formula-0">
            <a:extLst xmlns:a="http://schemas.openxmlformats.org/drawingml/2006/main">
              <a:ext uri="{FF2B5EF4-FFF2-40B4-BE49-F238E27FC236}">
                <a16:creationId xmlns:a16="http://schemas.microsoft.com/office/drawing/2014/main" id="{E59F8D1D-F55B-4303-AAD8-1081907915FB}"/>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x* = arg minₓ∈C L(x)</a:t>
            </a:r>
          </a:p>
        </p:txBody>
      </p:sp>
      <p:sp>
        <p:nvSpPr>
          <p:cNvPr id="7" name="concept-23-example-label-0">
            <a:extLst xmlns:a="http://schemas.openxmlformats.org/drawingml/2006/main">
              <a:ext uri="{FF2B5EF4-FFF2-40B4-BE49-F238E27FC236}">
                <a16:creationId xmlns:a16="http://schemas.microsoft.com/office/drawing/2014/main" id="{75BDCB46-9B87-4326-9728-2A543D3724AD}"/>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23-example-0">
            <a:extLst xmlns:a="http://schemas.openxmlformats.org/drawingml/2006/main">
              <a:ext uri="{FF2B5EF4-FFF2-40B4-BE49-F238E27FC236}">
                <a16:creationId xmlns:a16="http://schemas.microsoft.com/office/drawing/2014/main" id="{020AB7E1-C697-4863-9E73-90B10B5FA045}"/>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L(x) = (x − 3)² and C = [0, 2], x* = 2 and L(x*) = 1.</a:t>
            </a:r>
          </a:p>
        </p:txBody>
      </p:sp>
      <p:sp>
        <p:nvSpPr>
          <p:cNvPr id="9" name="concept-23-metaphor-label-0">
            <a:extLst xmlns:a="http://schemas.openxmlformats.org/drawingml/2006/main">
              <a:ext uri="{FF2B5EF4-FFF2-40B4-BE49-F238E27FC236}">
                <a16:creationId xmlns:a16="http://schemas.microsoft.com/office/drawing/2014/main" id="{DABB2045-FA45-4D61-B3BC-9AABD070A287}"/>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0" name="concept-23-metaphor-0">
            <a:extLst xmlns:a="http://schemas.openxmlformats.org/drawingml/2006/main">
              <a:ext uri="{FF2B5EF4-FFF2-40B4-BE49-F238E27FC236}">
                <a16:creationId xmlns:a16="http://schemas.microsoft.com/office/drawing/2014/main" id="{AF754A1D-EE5E-42FD-89B3-C1F80951CBA1}"/>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Find the lowest campsite inside the fence. A lower valley</a:t>
            </a:r>
          </a:p>
        </p:txBody>
      </p:sp>
      <p:sp>
        <p:nvSpPr>
          <p:cNvPr id="11" name="concept-23-metaphor-1">
            <a:extLst xmlns:a="http://schemas.openxmlformats.org/drawingml/2006/main">
              <a:ext uri="{FF2B5EF4-FFF2-40B4-BE49-F238E27FC236}">
                <a16:creationId xmlns:a16="http://schemas.microsoft.com/office/drawing/2014/main" id="{49397E80-CA9B-4576-944F-45B59AC1E865}"/>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outside it is unavailable.</a:t>
            </a:r>
          </a:p>
        </p:txBody>
      </p:sp>
      <p:sp>
        <p:nvSpPr>
          <p:cNvPr id="12" name="concept-23-footer-0">
            <a:extLst xmlns:a="http://schemas.openxmlformats.org/drawingml/2006/main">
              <a:ext uri="{FF2B5EF4-FFF2-40B4-BE49-F238E27FC236}">
                <a16:creationId xmlns:a16="http://schemas.microsoft.com/office/drawing/2014/main" id="{348D40D2-10C2-46CD-9611-C6ACEA154EE4}"/>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Gradient descent</a:t>
            </a:r>
          </a:p>
        </p:txBody>
      </p:sp>
    </p:spTree>
    <p:extLst>
      <p:ext uri="{BB962C8B-B14F-4D97-AF65-F5344CB8AC3E}">
        <p14:creationId xmlns:p14="http://schemas.microsoft.com/office/powerpoint/2010/main" val="117263993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24-chapter-0">
            <a:extLst xmlns:a="http://schemas.openxmlformats.org/drawingml/2006/main">
              <a:ext uri="{FF2B5EF4-FFF2-40B4-BE49-F238E27FC236}">
                <a16:creationId xmlns:a16="http://schemas.microsoft.com/office/drawing/2014/main" id="{45688748-08DE-4C32-9247-3395463F35C9}"/>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024 / 100 · MATHEMATICS</a:t>
            </a:r>
          </a:p>
        </p:txBody>
      </p:sp>
      <p:sp>
        <p:nvSpPr>
          <p:cNvPr id="2" name="concept-24-title-0">
            <a:extLst xmlns:a="http://schemas.openxmlformats.org/drawingml/2006/main">
              <a:ext uri="{FF2B5EF4-FFF2-40B4-BE49-F238E27FC236}">
                <a16:creationId xmlns:a16="http://schemas.microsoft.com/office/drawing/2014/main" id="{6B81AD4B-0F1D-4C64-A622-17F2EB8C4A3C}"/>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Gradient descent</a:t>
            </a:r>
          </a:p>
        </p:txBody>
      </p:sp>
      <p:sp>
        <p:nvSpPr>
          <p:cNvPr id="3" name="concept-24-definition-label-0">
            <a:extLst xmlns:a="http://schemas.openxmlformats.org/drawingml/2006/main">
              <a:ext uri="{FF2B5EF4-FFF2-40B4-BE49-F238E27FC236}">
                <a16:creationId xmlns:a16="http://schemas.microsoft.com/office/drawing/2014/main" id="{5621450B-E283-4595-81CD-D69C7112807D}"/>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24-definition-0">
            <a:extLst xmlns:a="http://schemas.openxmlformats.org/drawingml/2006/main">
              <a:ext uri="{FF2B5EF4-FFF2-40B4-BE49-F238E27FC236}">
                <a16:creationId xmlns:a16="http://schemas.microsoft.com/office/drawing/2014/main" id="{D02E3F4D-00A0-447A-B133-394462316827}"/>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Gradient descent updates a variable or parameter vector in the</a:t>
            </a:r>
          </a:p>
        </p:txBody>
      </p:sp>
      <p:sp>
        <p:nvSpPr>
          <p:cNvPr id="5" name="concept-24-definition-1">
            <a:extLst xmlns:a="http://schemas.openxmlformats.org/drawingml/2006/main">
              <a:ext uri="{FF2B5EF4-FFF2-40B4-BE49-F238E27FC236}">
                <a16:creationId xmlns:a16="http://schemas.microsoft.com/office/drawing/2014/main" id="{ABDDB3E4-F838-4442-B97E-A534D8847E73}"/>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direction opposite its gradient. The learning rate η sets the step</a:t>
            </a:r>
          </a:p>
        </p:txBody>
      </p:sp>
      <p:sp>
        <p:nvSpPr>
          <p:cNvPr id="6" name="concept-24-definition-2">
            <a:extLst xmlns:a="http://schemas.openxmlformats.org/drawingml/2006/main">
              <a:ext uri="{FF2B5EF4-FFF2-40B4-BE49-F238E27FC236}">
                <a16:creationId xmlns:a16="http://schemas.microsoft.com/office/drawing/2014/main" id="{21C32752-7FAD-47DA-B441-D45F96A5C23D}"/>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size. A sufficiently small step can lower the loss.</a:t>
            </a:r>
          </a:p>
        </p:txBody>
      </p:sp>
      <p:sp>
        <p:nvSpPr>
          <p:cNvPr id="7" name="concept-24-formula-0">
            <a:extLst xmlns:a="http://schemas.openxmlformats.org/drawingml/2006/main">
              <a:ext uri="{FF2B5EF4-FFF2-40B4-BE49-F238E27FC236}">
                <a16:creationId xmlns:a16="http://schemas.microsoft.com/office/drawing/2014/main" id="{92069952-CA9C-42D4-A337-52C8B80B336B}"/>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θ⁺ = θ − η∇L(θ), η &gt; 0</a:t>
            </a:r>
          </a:p>
        </p:txBody>
      </p:sp>
      <p:sp>
        <p:nvSpPr>
          <p:cNvPr id="8" name="concept-24-example-label-0">
            <a:extLst xmlns:a="http://schemas.openxmlformats.org/drawingml/2006/main">
              <a:ext uri="{FF2B5EF4-FFF2-40B4-BE49-F238E27FC236}">
                <a16:creationId xmlns:a16="http://schemas.microsoft.com/office/drawing/2014/main" id="{34F00E11-B2CA-4BCF-AFC3-156D8B4EB92B}"/>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24-example-0">
            <a:extLst xmlns:a="http://schemas.openxmlformats.org/drawingml/2006/main">
              <a:ext uri="{FF2B5EF4-FFF2-40B4-BE49-F238E27FC236}">
                <a16:creationId xmlns:a16="http://schemas.microsoft.com/office/drawing/2014/main" id="{A938C27D-3B5A-4273-BD13-8CAD1A6D1AB2}"/>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L(θ) = θ², θ = 3 and η = 0.1: θ⁺ = 3 − 0.1×6 = 2.4. The loss</a:t>
            </a:r>
          </a:p>
        </p:txBody>
      </p:sp>
      <p:sp>
        <p:nvSpPr>
          <p:cNvPr id="14" name="concept-24-example-1">
            <a:extLst xmlns:a="http://schemas.openxmlformats.org/drawingml/2006/main">
              <a:ext uri="{FF2B5EF4-FFF2-40B4-BE49-F238E27FC236}">
                <a16:creationId xmlns:a16="http://schemas.microsoft.com/office/drawing/2014/main" id="{73B0EA67-900C-449E-A291-7A720343D395}"/>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falls from 9 to 2.4² = 5.76.</a:t>
            </a:r>
          </a:p>
        </p:txBody>
      </p:sp>
      <p:sp>
        <p:nvSpPr>
          <p:cNvPr id="10" name="concept-24-metaphor-label-0">
            <a:extLst xmlns:a="http://schemas.openxmlformats.org/drawingml/2006/main">
              <a:ext uri="{FF2B5EF4-FFF2-40B4-BE49-F238E27FC236}">
                <a16:creationId xmlns:a16="http://schemas.microsoft.com/office/drawing/2014/main" id="{CF712B00-F8D7-4772-9586-6902455C6F6F}"/>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24-metaphor-0">
            <a:extLst xmlns:a="http://schemas.openxmlformats.org/drawingml/2006/main">
              <a:ext uri="{FF2B5EF4-FFF2-40B4-BE49-F238E27FC236}">
                <a16:creationId xmlns:a16="http://schemas.microsoft.com/office/drawing/2014/main" id="{54A1AC8B-D196-43BA-9A32-0508DEF52238}"/>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Feel the ground's slope, take a short downhill step, then</a:t>
            </a:r>
          </a:p>
        </p:txBody>
      </p:sp>
      <p:sp>
        <p:nvSpPr>
          <p:cNvPr id="12" name="concept-24-metaphor-1">
            <a:extLst xmlns:a="http://schemas.openxmlformats.org/drawingml/2006/main">
              <a:ext uri="{FF2B5EF4-FFF2-40B4-BE49-F238E27FC236}">
                <a16:creationId xmlns:a16="http://schemas.microsoft.com/office/drawing/2014/main" id="{35546607-C6EA-426B-901E-ECAC259D72BA}"/>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measure again.</a:t>
            </a:r>
          </a:p>
        </p:txBody>
      </p:sp>
      <p:sp>
        <p:nvSpPr>
          <p:cNvPr id="13" name="concept-24-footer-0">
            <a:extLst xmlns:a="http://schemas.openxmlformats.org/drawingml/2006/main">
              <a:ext uri="{FF2B5EF4-FFF2-40B4-BE49-F238E27FC236}">
                <a16:creationId xmlns:a16="http://schemas.microsoft.com/office/drawing/2014/main" id="{0EE469CC-278E-4A01-8F2E-54921E55748B}"/>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Dataset and features</a:t>
            </a:r>
          </a:p>
        </p:txBody>
      </p:sp>
    </p:spTree>
    <p:extLst>
      <p:ext uri="{BB962C8B-B14F-4D97-AF65-F5344CB8AC3E}">
        <p14:creationId xmlns:p14="http://schemas.microsoft.com/office/powerpoint/2010/main" val="149356319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25-chapter-0">
            <a:extLst xmlns:a="http://schemas.openxmlformats.org/drawingml/2006/main">
              <a:ext uri="{FF2B5EF4-FFF2-40B4-BE49-F238E27FC236}">
                <a16:creationId xmlns:a16="http://schemas.microsoft.com/office/drawing/2014/main" id="{5B6D4382-2351-4902-92A8-7ACE2AAB74D4}"/>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025 / 100 · LEARNING FROM DATA</a:t>
            </a:r>
          </a:p>
        </p:txBody>
      </p:sp>
      <p:sp>
        <p:nvSpPr>
          <p:cNvPr id="2" name="concept-25-title-0">
            <a:extLst xmlns:a="http://schemas.openxmlformats.org/drawingml/2006/main">
              <a:ext uri="{FF2B5EF4-FFF2-40B4-BE49-F238E27FC236}">
                <a16:creationId xmlns:a16="http://schemas.microsoft.com/office/drawing/2014/main" id="{F93B86DE-F312-46E2-B2A7-48AB4229F924}"/>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Dataset and features</a:t>
            </a:r>
          </a:p>
        </p:txBody>
      </p:sp>
      <p:sp>
        <p:nvSpPr>
          <p:cNvPr id="3" name="concept-25-definition-label-0">
            <a:extLst xmlns:a="http://schemas.openxmlformats.org/drawingml/2006/main">
              <a:ext uri="{FF2B5EF4-FFF2-40B4-BE49-F238E27FC236}">
                <a16:creationId xmlns:a16="http://schemas.microsoft.com/office/drawing/2014/main" id="{B3985716-CEE7-437F-9D5A-B63664203AF7}"/>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25-definition-0">
            <a:extLst xmlns:a="http://schemas.openxmlformats.org/drawingml/2006/main">
              <a:ext uri="{FF2B5EF4-FFF2-40B4-BE49-F238E27FC236}">
                <a16:creationId xmlns:a16="http://schemas.microsoft.com/office/drawing/2014/main" id="{9493B7CD-39F1-4AA2-85F4-00AB65B12DD9}"/>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dataset collects examples. Features describe each example</a:t>
            </a:r>
          </a:p>
        </p:txBody>
      </p:sp>
      <p:sp>
        <p:nvSpPr>
          <p:cNvPr id="5" name="concept-25-definition-1">
            <a:extLst xmlns:a="http://schemas.openxmlformats.org/drawingml/2006/main">
              <a:ext uri="{FF2B5EF4-FFF2-40B4-BE49-F238E27FC236}">
                <a16:creationId xmlns:a16="http://schemas.microsoft.com/office/drawing/2014/main" id="{57B39C61-47BC-4BD2-8CEE-1959F6B06681}"/>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numerically. In supervised learning, each input x is paired with</a:t>
            </a:r>
          </a:p>
        </p:txBody>
      </p:sp>
      <p:sp>
        <p:nvSpPr>
          <p:cNvPr id="6" name="concept-25-definition-2">
            <a:extLst xmlns:a="http://schemas.openxmlformats.org/drawingml/2006/main">
              <a:ext uri="{FF2B5EF4-FFF2-40B4-BE49-F238E27FC236}">
                <a16:creationId xmlns:a16="http://schemas.microsoft.com/office/drawing/2014/main" id="{7042579A-FF19-4E29-89C1-B5BCD0343D8F}"/>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target answer y.</a:t>
            </a:r>
          </a:p>
        </p:txBody>
      </p:sp>
      <p:sp>
        <p:nvSpPr>
          <p:cNvPr id="7" name="concept-25-formula-0">
            <a:extLst xmlns:a="http://schemas.openxmlformats.org/drawingml/2006/main">
              <a:ext uri="{FF2B5EF4-FFF2-40B4-BE49-F238E27FC236}">
                <a16:creationId xmlns:a16="http://schemas.microsoft.com/office/drawing/2014/main" id="{3ADC9B23-5132-4861-8B3C-60D5F5A91AA7}"/>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D = {(xᵢ, yᵢ)}ᵢ₌₁ᴺ</a:t>
            </a:r>
          </a:p>
        </p:txBody>
      </p:sp>
      <p:sp>
        <p:nvSpPr>
          <p:cNvPr id="8" name="concept-25-example-label-0">
            <a:extLst xmlns:a="http://schemas.openxmlformats.org/drawingml/2006/main">
              <a:ext uri="{FF2B5EF4-FFF2-40B4-BE49-F238E27FC236}">
                <a16:creationId xmlns:a16="http://schemas.microsoft.com/office/drawing/2014/main" id="{9E82ADB8-A54A-41DB-B28F-7819B61AC957}"/>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25-example-0">
            <a:extLst xmlns:a="http://schemas.openxmlformats.org/drawingml/2006/main">
              <a:ext uri="{FF2B5EF4-FFF2-40B4-BE49-F238E27FC236}">
                <a16:creationId xmlns:a16="http://schemas.microsoft.com/office/drawing/2014/main" id="{A299FE30-6302-4951-9EFF-69F4B03E741F}"/>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Two rooms have features (length, width): (2, 3) and (4, 3)</a:t>
            </a:r>
          </a:p>
        </p:txBody>
      </p:sp>
      <p:sp>
        <p:nvSpPr>
          <p:cNvPr id="10" name="concept-25-example-1">
            <a:extLst xmlns:a="http://schemas.openxmlformats.org/drawingml/2006/main">
              <a:ext uri="{FF2B5EF4-FFF2-40B4-BE49-F238E27FC236}">
                <a16:creationId xmlns:a16="http://schemas.microsoft.com/office/drawing/2014/main" id="{524F88FF-B2FD-4303-AAA6-9B665F2884E5}"/>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metres. X = [[2, 3], [4, 3]] has two rows and two features per</a:t>
            </a:r>
          </a:p>
        </p:txBody>
      </p:sp>
      <p:sp>
        <p:nvSpPr>
          <p:cNvPr id="15" name="concept-25-example-2">
            <a:extLst xmlns:a="http://schemas.openxmlformats.org/drawingml/2006/main">
              <a:ext uri="{FF2B5EF4-FFF2-40B4-BE49-F238E27FC236}">
                <a16:creationId xmlns:a16="http://schemas.microsoft.com/office/drawing/2014/main" id="{77A014BB-10C6-49E8-A172-40211093FB60}"/>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row.</a:t>
            </a:r>
          </a:p>
        </p:txBody>
      </p:sp>
      <p:sp>
        <p:nvSpPr>
          <p:cNvPr id="11" name="concept-25-metaphor-label-0">
            <a:extLst xmlns:a="http://schemas.openxmlformats.org/drawingml/2006/main">
              <a:ext uri="{FF2B5EF4-FFF2-40B4-BE49-F238E27FC236}">
                <a16:creationId xmlns:a16="http://schemas.microsoft.com/office/drawing/2014/main" id="{7F6D49D5-16A9-43AA-BDBF-7B2907795B45}"/>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25-metaphor-0">
            <a:extLst xmlns:a="http://schemas.openxmlformats.org/drawingml/2006/main">
              <a:ext uri="{FF2B5EF4-FFF2-40B4-BE49-F238E27FC236}">
                <a16:creationId xmlns:a16="http://schemas.microsoft.com/office/drawing/2014/main" id="{84908785-55FD-4501-B26A-F3D677C455AA}"/>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Features are the clues on a detective's case card; the target is</a:t>
            </a:r>
          </a:p>
        </p:txBody>
      </p:sp>
      <p:sp>
        <p:nvSpPr>
          <p:cNvPr id="13" name="concept-25-metaphor-1">
            <a:extLst xmlns:a="http://schemas.openxmlformats.org/drawingml/2006/main">
              <a:ext uri="{FF2B5EF4-FFF2-40B4-BE49-F238E27FC236}">
                <a16:creationId xmlns:a16="http://schemas.microsoft.com/office/drawing/2014/main" id="{899D3630-8456-48CA-82E5-1F491A281733}"/>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answer being learned.</a:t>
            </a:r>
          </a:p>
        </p:txBody>
      </p:sp>
      <p:sp>
        <p:nvSpPr>
          <p:cNvPr id="14" name="concept-25-footer-0">
            <a:extLst xmlns:a="http://schemas.openxmlformats.org/drawingml/2006/main">
              <a:ext uri="{FF2B5EF4-FFF2-40B4-BE49-F238E27FC236}">
                <a16:creationId xmlns:a16="http://schemas.microsoft.com/office/drawing/2014/main" id="{785D36DC-EAB1-4E25-A42E-BCDF11806C86}"/>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Linear regression</a:t>
            </a:r>
          </a:p>
        </p:txBody>
      </p:sp>
    </p:spTree>
    <p:extLst>
      <p:ext uri="{BB962C8B-B14F-4D97-AF65-F5344CB8AC3E}">
        <p14:creationId xmlns:p14="http://schemas.microsoft.com/office/powerpoint/2010/main" val="91010517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26-chapter-0">
            <a:extLst xmlns:a="http://schemas.openxmlformats.org/drawingml/2006/main">
              <a:ext uri="{FF2B5EF4-FFF2-40B4-BE49-F238E27FC236}">
                <a16:creationId xmlns:a16="http://schemas.microsoft.com/office/drawing/2014/main" id="{90BCE1B3-39CC-4FBD-AE7C-E19205DB739D}"/>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026 / 100 · LEARNING FROM DATA</a:t>
            </a:r>
          </a:p>
        </p:txBody>
      </p:sp>
      <p:sp>
        <p:nvSpPr>
          <p:cNvPr id="2" name="concept-26-title-0">
            <a:extLst xmlns:a="http://schemas.openxmlformats.org/drawingml/2006/main">
              <a:ext uri="{FF2B5EF4-FFF2-40B4-BE49-F238E27FC236}">
                <a16:creationId xmlns:a16="http://schemas.microsoft.com/office/drawing/2014/main" id="{800EAEB6-2618-47BD-BF7F-D8BA2ACCABEF}"/>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Linear regression</a:t>
            </a:r>
          </a:p>
        </p:txBody>
      </p:sp>
      <p:sp>
        <p:nvSpPr>
          <p:cNvPr id="3" name="concept-26-definition-label-0">
            <a:extLst xmlns:a="http://schemas.openxmlformats.org/drawingml/2006/main">
              <a:ext uri="{FF2B5EF4-FFF2-40B4-BE49-F238E27FC236}">
                <a16:creationId xmlns:a16="http://schemas.microsoft.com/office/drawing/2014/main" id="{DCCB3FD5-AFF0-4CD3-89CA-B0FAFF129B43}"/>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26-definition-0">
            <a:extLst xmlns:a="http://schemas.openxmlformats.org/drawingml/2006/main">
              <a:ext uri="{FF2B5EF4-FFF2-40B4-BE49-F238E27FC236}">
                <a16:creationId xmlns:a16="http://schemas.microsoft.com/office/drawing/2014/main" id="{3406910B-E804-46A0-94C9-D5781DDB3C1C}"/>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Linear regression predicts a numerical target using a weighted</a:t>
            </a:r>
          </a:p>
        </p:txBody>
      </p:sp>
      <p:sp>
        <p:nvSpPr>
          <p:cNvPr id="5" name="concept-26-definition-1">
            <a:extLst xmlns:a="http://schemas.openxmlformats.org/drawingml/2006/main">
              <a:ext uri="{FF2B5EF4-FFF2-40B4-BE49-F238E27FC236}">
                <a16:creationId xmlns:a16="http://schemas.microsoft.com/office/drawing/2014/main" id="{417599CF-F46E-4445-8EF6-89B529845F49}"/>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sum of features plus an intercept.</a:t>
            </a:r>
          </a:p>
        </p:txBody>
      </p:sp>
      <p:sp>
        <p:nvSpPr>
          <p:cNvPr id="6" name="concept-26-formula-0">
            <a:extLst xmlns:a="http://schemas.openxmlformats.org/drawingml/2006/main">
              <a:ext uri="{FF2B5EF4-FFF2-40B4-BE49-F238E27FC236}">
                <a16:creationId xmlns:a16="http://schemas.microsoft.com/office/drawing/2014/main" id="{5AC0BAC8-EADE-49E5-9345-CE9C87602072}"/>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ŷ = w · x + b</a:t>
            </a:r>
          </a:p>
        </p:txBody>
      </p:sp>
      <p:sp>
        <p:nvSpPr>
          <p:cNvPr id="7" name="concept-26-example-label-0">
            <a:extLst xmlns:a="http://schemas.openxmlformats.org/drawingml/2006/main">
              <a:ext uri="{FF2B5EF4-FFF2-40B4-BE49-F238E27FC236}">
                <a16:creationId xmlns:a16="http://schemas.microsoft.com/office/drawing/2014/main" id="{44EE3A15-AF7F-4036-A153-6B9F15326B1F}"/>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26-example-0">
            <a:extLst xmlns:a="http://schemas.openxmlformats.org/drawingml/2006/main">
              <a:ext uri="{FF2B5EF4-FFF2-40B4-BE49-F238E27FC236}">
                <a16:creationId xmlns:a16="http://schemas.microsoft.com/office/drawing/2014/main" id="{E1199399-D249-4660-AB39-F3CBB3EB1AB1}"/>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toy taxi fare model is ŷ = 2x + 3 dollars for x kilometres. At 5</a:t>
            </a:r>
          </a:p>
        </p:txBody>
      </p:sp>
      <p:sp>
        <p:nvSpPr>
          <p:cNvPr id="9" name="concept-26-example-1">
            <a:extLst xmlns:a="http://schemas.openxmlformats.org/drawingml/2006/main">
              <a:ext uri="{FF2B5EF4-FFF2-40B4-BE49-F238E27FC236}">
                <a16:creationId xmlns:a16="http://schemas.microsoft.com/office/drawing/2014/main" id="{70A72164-B252-4B27-AB15-5C01EE185AE7}"/>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km: ŷ = 2×5 + 3 = $13. The intercept is the starting fare.</a:t>
            </a:r>
          </a:p>
        </p:txBody>
      </p:sp>
      <p:sp>
        <p:nvSpPr>
          <p:cNvPr id="10" name="concept-26-metaphor-label-0">
            <a:extLst xmlns:a="http://schemas.openxmlformats.org/drawingml/2006/main">
              <a:ext uri="{FF2B5EF4-FFF2-40B4-BE49-F238E27FC236}">
                <a16:creationId xmlns:a16="http://schemas.microsoft.com/office/drawing/2014/main" id="{999E966D-25FB-4AC6-996E-40CC48FEFC8B}"/>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26-metaphor-0">
            <a:extLst xmlns:a="http://schemas.openxmlformats.org/drawingml/2006/main">
              <a:ext uri="{FF2B5EF4-FFF2-40B4-BE49-F238E27FC236}">
                <a16:creationId xmlns:a16="http://schemas.microsoft.com/office/drawing/2014/main" id="{F0BC5376-4A81-4D62-B7B2-297AF59AC513}"/>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recipe assigns each ingredient a fixed contribution, then adds</a:t>
            </a:r>
          </a:p>
        </p:txBody>
      </p:sp>
      <p:sp>
        <p:nvSpPr>
          <p:cNvPr id="12" name="concept-26-metaphor-1">
            <a:extLst xmlns:a="http://schemas.openxmlformats.org/drawingml/2006/main">
              <a:ext uri="{FF2B5EF4-FFF2-40B4-BE49-F238E27FC236}">
                <a16:creationId xmlns:a16="http://schemas.microsoft.com/office/drawing/2014/main" id="{ADB31847-B165-4C75-8E81-1F6551DFF18E}"/>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fixed starting amount.</a:t>
            </a:r>
          </a:p>
        </p:txBody>
      </p:sp>
      <p:sp>
        <p:nvSpPr>
          <p:cNvPr id="13" name="concept-26-footer-0">
            <a:extLst xmlns:a="http://schemas.openxmlformats.org/drawingml/2006/main">
              <a:ext uri="{FF2B5EF4-FFF2-40B4-BE49-F238E27FC236}">
                <a16:creationId xmlns:a16="http://schemas.microsoft.com/office/drawing/2014/main" id="{4521E69E-69CB-4921-A870-14A59603D60D}"/>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Mean squared error</a:t>
            </a:r>
          </a:p>
        </p:txBody>
      </p:sp>
    </p:spTree>
    <p:extLst>
      <p:ext uri="{BB962C8B-B14F-4D97-AF65-F5344CB8AC3E}">
        <p14:creationId xmlns:p14="http://schemas.microsoft.com/office/powerpoint/2010/main" val="15816926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ncept-27-chapter-0">
            <a:extLst xmlns:a="http://schemas.openxmlformats.org/drawingml/2006/main">
              <a:ext uri="{FF2B5EF4-FFF2-40B4-BE49-F238E27FC236}">
                <a16:creationId xmlns:a16="http://schemas.microsoft.com/office/drawing/2014/main" id="{78AB329D-2639-4286-AF9B-3A7509333972}"/>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027 / 100 · LEARNING FROM DATA</a:t>
            </a:r>
          </a:p>
        </p:txBody>
      </p:sp>
      <p:sp>
        <p:nvSpPr>
          <p:cNvPr id="2" name="concept-27-title-0">
            <a:extLst xmlns:a="http://schemas.openxmlformats.org/drawingml/2006/main">
              <a:ext uri="{FF2B5EF4-FFF2-40B4-BE49-F238E27FC236}">
                <a16:creationId xmlns:a16="http://schemas.microsoft.com/office/drawing/2014/main" id="{0C9B3103-FA55-42B6-8D23-9B14FC63C453}"/>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Mean squared error</a:t>
            </a:r>
          </a:p>
        </p:txBody>
      </p:sp>
      <p:sp>
        <p:nvSpPr>
          <p:cNvPr id="3" name="concept-27-definition-label-0">
            <a:extLst xmlns:a="http://schemas.openxmlformats.org/drawingml/2006/main">
              <a:ext uri="{FF2B5EF4-FFF2-40B4-BE49-F238E27FC236}">
                <a16:creationId xmlns:a16="http://schemas.microsoft.com/office/drawing/2014/main" id="{CCCD3292-B5A8-4FD0-86C4-2EFACB3D8111}"/>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27-definition-0">
            <a:extLst xmlns:a="http://schemas.openxmlformats.org/drawingml/2006/main">
              <a:ext uri="{FF2B5EF4-FFF2-40B4-BE49-F238E27FC236}">
                <a16:creationId xmlns:a16="http://schemas.microsoft.com/office/drawing/2014/main" id="{6EFDF4E5-CDB4-4571-B411-3452EB0EF07B}"/>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Mean squared error is the average squared difference between</a:t>
            </a:r>
          </a:p>
        </p:txBody>
      </p:sp>
      <p:sp>
        <p:nvSpPr>
          <p:cNvPr id="5" name="concept-27-definition-1">
            <a:extLst xmlns:a="http://schemas.openxmlformats.org/drawingml/2006/main">
              <a:ext uri="{FF2B5EF4-FFF2-40B4-BE49-F238E27FC236}">
                <a16:creationId xmlns:a16="http://schemas.microsoft.com/office/drawing/2014/main" id="{C7736FF4-DEF5-4E27-820C-3780186F08F1}"/>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predictions and targets. It penalizes larger errors more strongly.</a:t>
            </a:r>
          </a:p>
        </p:txBody>
      </p:sp>
      <p:sp>
        <p:nvSpPr>
          <p:cNvPr id="6" name="concept-27-formula-0">
            <a:extLst xmlns:a="http://schemas.openxmlformats.org/drawingml/2006/main">
              <a:ext uri="{FF2B5EF4-FFF2-40B4-BE49-F238E27FC236}">
                <a16:creationId xmlns:a16="http://schemas.microsoft.com/office/drawing/2014/main" id="{6635DC3F-8DA0-4D57-B554-9226F267F27C}"/>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MSE = (1/N) Σᵢ (ŷᵢ − yᵢ)²</a:t>
            </a:r>
          </a:p>
        </p:txBody>
      </p:sp>
      <p:sp>
        <p:nvSpPr>
          <p:cNvPr id="7" name="concept-27-example-label-0">
            <a:extLst xmlns:a="http://schemas.openxmlformats.org/drawingml/2006/main">
              <a:ext uri="{FF2B5EF4-FFF2-40B4-BE49-F238E27FC236}">
                <a16:creationId xmlns:a16="http://schemas.microsoft.com/office/drawing/2014/main" id="{5AEE7461-7B1C-4D2F-B18D-B866D0AEFFDF}"/>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27-example-0">
            <a:extLst xmlns:a="http://schemas.openxmlformats.org/drawingml/2006/main">
              <a:ext uri="{FF2B5EF4-FFF2-40B4-BE49-F238E27FC236}">
                <a16:creationId xmlns:a16="http://schemas.microsoft.com/office/drawing/2014/main" id="{04490867-3494-47F0-8987-2A4D8DEEAB21}"/>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Predictions (2, 5), targets (3, 3): MSE = (1 + 4)/2 = 2.5.</a:t>
            </a:r>
          </a:p>
        </p:txBody>
      </p:sp>
      <p:sp>
        <p:nvSpPr>
          <p:cNvPr id="9" name="concept-27-metaphor-label-0">
            <a:extLst xmlns:a="http://schemas.openxmlformats.org/drawingml/2006/main">
              <a:ext uri="{FF2B5EF4-FFF2-40B4-BE49-F238E27FC236}">
                <a16:creationId xmlns:a16="http://schemas.microsoft.com/office/drawing/2014/main" id="{5707DACC-33F6-4ED3-9CFF-75042B2F24B7}"/>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0" name="concept-27-metaphor-0">
            <a:extLst xmlns:a="http://schemas.openxmlformats.org/drawingml/2006/main">
              <a:ext uri="{FF2B5EF4-FFF2-40B4-BE49-F238E27FC236}">
                <a16:creationId xmlns:a16="http://schemas.microsoft.com/office/drawing/2014/main" id="{91670BBD-0473-4EE6-8AF6-0D98A57AEF9C}"/>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Large misses get disproportionately heavier penalty weights</a:t>
            </a:r>
          </a:p>
        </p:txBody>
      </p:sp>
      <p:sp>
        <p:nvSpPr>
          <p:cNvPr id="11" name="concept-27-metaphor-1">
            <a:extLst xmlns:a="http://schemas.openxmlformats.org/drawingml/2006/main">
              <a:ext uri="{FF2B5EF4-FFF2-40B4-BE49-F238E27FC236}">
                <a16:creationId xmlns:a16="http://schemas.microsoft.com/office/drawing/2014/main" id="{DCE9299E-675A-47DF-8532-7230DBF3A1E1}"/>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than small misses.</a:t>
            </a:r>
          </a:p>
        </p:txBody>
      </p:sp>
      <p:sp>
        <p:nvSpPr>
          <p:cNvPr id="12" name="concept-27-footer-0">
            <a:extLst xmlns:a="http://schemas.openxmlformats.org/drawingml/2006/main">
              <a:ext uri="{FF2B5EF4-FFF2-40B4-BE49-F238E27FC236}">
                <a16:creationId xmlns:a16="http://schemas.microsoft.com/office/drawing/2014/main" id="{7CEC9865-DA35-4B43-BED1-752C0B52E984}"/>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Supervised learning</a:t>
            </a:r>
          </a:p>
        </p:txBody>
      </p:sp>
    </p:spTree>
    <p:extLst>
      <p:ext uri="{BB962C8B-B14F-4D97-AF65-F5344CB8AC3E}">
        <p14:creationId xmlns:p14="http://schemas.microsoft.com/office/powerpoint/2010/main" val="183923609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28-chapter-0">
            <a:extLst xmlns:a="http://schemas.openxmlformats.org/drawingml/2006/main">
              <a:ext uri="{FF2B5EF4-FFF2-40B4-BE49-F238E27FC236}">
                <a16:creationId xmlns:a16="http://schemas.microsoft.com/office/drawing/2014/main" id="{6EDA60E2-53FD-43A3-A2B3-F2AC19CCF642}"/>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028 / 100 · LEARNING FROM DATA</a:t>
            </a:r>
          </a:p>
        </p:txBody>
      </p:sp>
      <p:sp>
        <p:nvSpPr>
          <p:cNvPr id="2" name="concept-28-title-0">
            <a:extLst xmlns:a="http://schemas.openxmlformats.org/drawingml/2006/main">
              <a:ext uri="{FF2B5EF4-FFF2-40B4-BE49-F238E27FC236}">
                <a16:creationId xmlns:a16="http://schemas.microsoft.com/office/drawing/2014/main" id="{9BAC731C-B473-46F8-9604-D5FCC5460A3C}"/>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Supervised learning</a:t>
            </a:r>
          </a:p>
        </p:txBody>
      </p:sp>
      <p:sp>
        <p:nvSpPr>
          <p:cNvPr id="3" name="concept-28-definition-label-0">
            <a:extLst xmlns:a="http://schemas.openxmlformats.org/drawingml/2006/main">
              <a:ext uri="{FF2B5EF4-FFF2-40B4-BE49-F238E27FC236}">
                <a16:creationId xmlns:a16="http://schemas.microsoft.com/office/drawing/2014/main" id="{052E21C0-BD06-4B2D-B995-57523307709B}"/>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28-definition-0">
            <a:extLst xmlns:a="http://schemas.openxmlformats.org/drawingml/2006/main">
              <a:ext uri="{FF2B5EF4-FFF2-40B4-BE49-F238E27FC236}">
                <a16:creationId xmlns:a16="http://schemas.microsoft.com/office/drawing/2014/main" id="{BAFCAA9B-3DC6-4F6A-8A8F-B502EBDEBEDF}"/>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Supervised learning uses examples with known answers to</a:t>
            </a:r>
          </a:p>
        </p:txBody>
      </p:sp>
      <p:sp>
        <p:nvSpPr>
          <p:cNvPr id="5" name="concept-28-definition-1">
            <a:extLst xmlns:a="http://schemas.openxmlformats.org/drawingml/2006/main">
              <a:ext uri="{FF2B5EF4-FFF2-40B4-BE49-F238E27FC236}">
                <a16:creationId xmlns:a16="http://schemas.microsoft.com/office/drawing/2014/main" id="{8A9971AF-4D8B-492A-ABD4-C14A91FF6E54}"/>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learn a rule for new inputs. A loss measures prediction error;</a:t>
            </a:r>
          </a:p>
        </p:txBody>
      </p:sp>
      <p:sp>
        <p:nvSpPr>
          <p:cNvPr id="14" name="concept-28-definition-2">
            <a:extLst xmlns:a="http://schemas.openxmlformats.org/drawingml/2006/main">
              <a:ext uri="{FF2B5EF4-FFF2-40B4-BE49-F238E27FC236}">
                <a16:creationId xmlns:a16="http://schemas.microsoft.com/office/drawing/2014/main" id="{28A21212-9173-4CA7-9DF1-5CFB5D264A75}"/>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training adjusts the rule to reduce that loss.</a:t>
            </a:r>
          </a:p>
        </p:txBody>
      </p:sp>
      <p:sp>
        <p:nvSpPr>
          <p:cNvPr id="6" name="concept-28-formula-0">
            <a:extLst xmlns:a="http://schemas.openxmlformats.org/drawingml/2006/main">
              <a:ext uri="{FF2B5EF4-FFF2-40B4-BE49-F238E27FC236}">
                <a16:creationId xmlns:a16="http://schemas.microsoft.com/office/drawing/2014/main" id="{AA8A2359-20C4-4BBA-861B-C1B43DC22D7B}"/>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Training objective: minimize (1/N) Σᵢ ℓ(f_θ(xᵢ), yᵢ)</a:t>
            </a:r>
          </a:p>
        </p:txBody>
      </p:sp>
      <p:sp>
        <p:nvSpPr>
          <p:cNvPr id="15" name="concept-28-formula-1">
            <a:extLst xmlns:a="http://schemas.openxmlformats.org/drawingml/2006/main">
              <a:ext uri="{FF2B5EF4-FFF2-40B4-BE49-F238E27FC236}">
                <a16:creationId xmlns:a16="http://schemas.microsoft.com/office/drawing/2014/main" id="{72A0BA46-9B9C-4E4A-BA7F-A46E0A6BE336}"/>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θ = model parameters; ℓ = loss for one example</a:t>
            </a:r>
          </a:p>
        </p:txBody>
      </p:sp>
      <p:sp>
        <p:nvSpPr>
          <p:cNvPr id="7" name="concept-28-example-label-0">
            <a:extLst xmlns:a="http://schemas.openxmlformats.org/drawingml/2006/main">
              <a:ext uri="{FF2B5EF4-FFF2-40B4-BE49-F238E27FC236}">
                <a16:creationId xmlns:a16="http://schemas.microsoft.com/office/drawing/2014/main" id="{C4455C88-CAEC-4955-AC70-0C0055205262}"/>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28-example-0">
            <a:extLst xmlns:a="http://schemas.openxmlformats.org/drawingml/2006/main">
              <a:ext uri="{FF2B5EF4-FFF2-40B4-BE49-F238E27FC236}">
                <a16:creationId xmlns:a16="http://schemas.microsoft.com/office/drawing/2014/main" id="{A556193F-945B-4B30-A9E4-57F122502012}"/>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Inputs 1, 2, 3 paired with targets 2, 4, 6 suggest f(x) = 2x; it</a:t>
            </a:r>
          </a:p>
        </p:txBody>
      </p:sp>
      <p:sp>
        <p:nvSpPr>
          <p:cNvPr id="9" name="concept-28-example-1">
            <a:extLst xmlns:a="http://schemas.openxmlformats.org/drawingml/2006/main">
              <a:ext uri="{FF2B5EF4-FFF2-40B4-BE49-F238E27FC236}">
                <a16:creationId xmlns:a16="http://schemas.microsoft.com/office/drawing/2014/main" id="{BEB70510-7631-40D2-B048-708205D47903}"/>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predicts 8 for input 4.</a:t>
            </a:r>
          </a:p>
        </p:txBody>
      </p:sp>
      <p:sp>
        <p:nvSpPr>
          <p:cNvPr id="10" name="concept-28-metaphor-label-0">
            <a:extLst xmlns:a="http://schemas.openxmlformats.org/drawingml/2006/main">
              <a:ext uri="{FF2B5EF4-FFF2-40B4-BE49-F238E27FC236}">
                <a16:creationId xmlns:a16="http://schemas.microsoft.com/office/drawing/2014/main" id="{901D702B-5542-4D23-8705-CF2613D4303F}"/>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28-metaphor-0">
            <a:extLst xmlns:a="http://schemas.openxmlformats.org/drawingml/2006/main">
              <a:ext uri="{FF2B5EF4-FFF2-40B4-BE49-F238E27FC236}">
                <a16:creationId xmlns:a16="http://schemas.microsoft.com/office/drawing/2014/main" id="{0D04A5FC-7B82-4BC8-9281-B913B443270A}"/>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coach gives both a problem and a worked answer so a learner</a:t>
            </a:r>
          </a:p>
        </p:txBody>
      </p:sp>
      <p:sp>
        <p:nvSpPr>
          <p:cNvPr id="12" name="concept-28-metaphor-1">
            <a:extLst xmlns:a="http://schemas.openxmlformats.org/drawingml/2006/main">
              <a:ext uri="{FF2B5EF4-FFF2-40B4-BE49-F238E27FC236}">
                <a16:creationId xmlns:a16="http://schemas.microsoft.com/office/drawing/2014/main" id="{29E33F49-A3E8-4950-BA53-62724955F209}"/>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can improve its rule.</a:t>
            </a:r>
          </a:p>
        </p:txBody>
      </p:sp>
      <p:sp>
        <p:nvSpPr>
          <p:cNvPr id="13" name="concept-28-footer-0">
            <a:extLst xmlns:a="http://schemas.openxmlformats.org/drawingml/2006/main">
              <a:ext uri="{FF2B5EF4-FFF2-40B4-BE49-F238E27FC236}">
                <a16:creationId xmlns:a16="http://schemas.microsoft.com/office/drawing/2014/main" id="{C5F13AE6-9199-4021-96E1-832275E82A1F}"/>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Parameter and hyperparameter</a:t>
            </a:r>
          </a:p>
        </p:txBody>
      </p:sp>
    </p:spTree>
    <p:extLst>
      <p:ext uri="{BB962C8B-B14F-4D97-AF65-F5344CB8AC3E}">
        <p14:creationId xmlns:p14="http://schemas.microsoft.com/office/powerpoint/2010/main" val="169762920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29-chapter-0">
            <a:extLst xmlns:a="http://schemas.openxmlformats.org/drawingml/2006/main">
              <a:ext uri="{FF2B5EF4-FFF2-40B4-BE49-F238E27FC236}">
                <a16:creationId xmlns:a16="http://schemas.microsoft.com/office/drawing/2014/main" id="{7E8A661E-FA8E-4833-B79A-9E31C767F563}"/>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029 / 100 · LEARNING FROM DATA</a:t>
            </a:r>
          </a:p>
        </p:txBody>
      </p:sp>
      <p:sp>
        <p:nvSpPr>
          <p:cNvPr id="2" name="concept-29-title-0">
            <a:extLst xmlns:a="http://schemas.openxmlformats.org/drawingml/2006/main">
              <a:ext uri="{FF2B5EF4-FFF2-40B4-BE49-F238E27FC236}">
                <a16:creationId xmlns:a16="http://schemas.microsoft.com/office/drawing/2014/main" id="{4BE929C0-69DF-47ED-8F98-BCEB5093790A}"/>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Parameter and hyperparameter</a:t>
            </a:r>
          </a:p>
        </p:txBody>
      </p:sp>
      <p:sp>
        <p:nvSpPr>
          <p:cNvPr id="3" name="concept-29-definition-label-0">
            <a:extLst xmlns:a="http://schemas.openxmlformats.org/drawingml/2006/main">
              <a:ext uri="{FF2B5EF4-FFF2-40B4-BE49-F238E27FC236}">
                <a16:creationId xmlns:a16="http://schemas.microsoft.com/office/drawing/2014/main" id="{F22CA430-6D4A-43BF-9BCE-25E2BDB4CC26}"/>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29-definition-0">
            <a:extLst xmlns:a="http://schemas.openxmlformats.org/drawingml/2006/main">
              <a:ext uri="{FF2B5EF4-FFF2-40B4-BE49-F238E27FC236}">
                <a16:creationId xmlns:a16="http://schemas.microsoft.com/office/drawing/2014/main" id="{10426645-BAEA-4D23-B015-FD480E2659AF}"/>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parameter is fitted during learning. A hyperparameter</a:t>
            </a:r>
          </a:p>
        </p:txBody>
      </p:sp>
      <p:sp>
        <p:nvSpPr>
          <p:cNvPr id="5" name="concept-29-definition-1">
            <a:extLst xmlns:a="http://schemas.openxmlformats.org/drawingml/2006/main">
              <a:ext uri="{FF2B5EF4-FFF2-40B4-BE49-F238E27FC236}">
                <a16:creationId xmlns:a16="http://schemas.microsoft.com/office/drawing/2014/main" id="{50B76D4D-DBFD-40B5-9708-9EAD5DCF33E8}"/>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configures the model or training procedure rather than being</a:t>
            </a:r>
          </a:p>
        </p:txBody>
      </p:sp>
      <p:sp>
        <p:nvSpPr>
          <p:cNvPr id="6" name="concept-29-definition-2">
            <a:extLst xmlns:a="http://schemas.openxmlformats.org/drawingml/2006/main">
              <a:ext uri="{FF2B5EF4-FFF2-40B4-BE49-F238E27FC236}">
                <a16:creationId xmlns:a16="http://schemas.microsoft.com/office/drawing/2014/main" id="{102C1B9F-C315-48D5-998A-51E5F3B369D2}"/>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fitted by that procedure.</a:t>
            </a:r>
          </a:p>
        </p:txBody>
      </p:sp>
      <p:sp>
        <p:nvSpPr>
          <p:cNvPr id="7" name="concept-29-formula-0">
            <a:extLst xmlns:a="http://schemas.openxmlformats.org/drawingml/2006/main">
              <a:ext uri="{FF2B5EF4-FFF2-40B4-BE49-F238E27FC236}">
                <a16:creationId xmlns:a16="http://schemas.microsoft.com/office/drawing/2014/main" id="{53AD3CA7-182D-46D9-A191-C2D48D7A1A3F}"/>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ŷ = wx + b; w⁺ = w − η ∂L/∂w</a:t>
            </a:r>
          </a:p>
        </p:txBody>
      </p:sp>
      <p:sp>
        <p:nvSpPr>
          <p:cNvPr id="8" name="concept-29-example-label-0">
            <a:extLst xmlns:a="http://schemas.openxmlformats.org/drawingml/2006/main">
              <a:ext uri="{FF2B5EF4-FFF2-40B4-BE49-F238E27FC236}">
                <a16:creationId xmlns:a16="http://schemas.microsoft.com/office/drawing/2014/main" id="{2870D959-2A19-4247-955A-C3E50173B098}"/>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29-example-0">
            <a:extLst xmlns:a="http://schemas.openxmlformats.org/drawingml/2006/main">
              <a:ext uri="{FF2B5EF4-FFF2-40B4-BE49-F238E27FC236}">
                <a16:creationId xmlns:a16="http://schemas.microsoft.com/office/drawing/2014/main" id="{4A48244E-1CFA-4252-B901-7B45C3A1A0CD}"/>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 this update, w = 2 is a parameter; the chosen learning rate η</a:t>
            </a:r>
          </a:p>
        </p:txBody>
      </p:sp>
      <p:sp>
        <p:nvSpPr>
          <p:cNvPr id="10" name="concept-29-example-1">
            <a:extLst xmlns:a="http://schemas.openxmlformats.org/drawingml/2006/main">
              <a:ext uri="{FF2B5EF4-FFF2-40B4-BE49-F238E27FC236}">
                <a16:creationId xmlns:a16="http://schemas.microsoft.com/office/drawing/2014/main" id="{B3DB7A97-FB69-4D84-A32D-3E98C6383CDE}"/>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 0.01 is a hyperparameter.</a:t>
            </a:r>
          </a:p>
        </p:txBody>
      </p:sp>
      <p:sp>
        <p:nvSpPr>
          <p:cNvPr id="11" name="concept-29-metaphor-label-0">
            <a:extLst xmlns:a="http://schemas.openxmlformats.org/drawingml/2006/main">
              <a:ext uri="{FF2B5EF4-FFF2-40B4-BE49-F238E27FC236}">
                <a16:creationId xmlns:a16="http://schemas.microsoft.com/office/drawing/2014/main" id="{A8AEF0C1-EE7C-4BB8-AA2D-4F21764E9C0C}"/>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29-metaphor-0">
            <a:extLst xmlns:a="http://schemas.openxmlformats.org/drawingml/2006/main">
              <a:ext uri="{FF2B5EF4-FFF2-40B4-BE49-F238E27FC236}">
                <a16:creationId xmlns:a16="http://schemas.microsoft.com/office/drawing/2014/main" id="{0BD8B889-A8C1-4F08-B650-8BBC57536D9F}"/>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learner adjusts recipe quantities; the teacher chooses how</a:t>
            </a:r>
          </a:p>
        </p:txBody>
      </p:sp>
      <p:sp>
        <p:nvSpPr>
          <p:cNvPr id="13" name="concept-29-metaphor-1">
            <a:extLst xmlns:a="http://schemas.openxmlformats.org/drawingml/2006/main">
              <a:ext uri="{FF2B5EF4-FFF2-40B4-BE49-F238E27FC236}">
                <a16:creationId xmlns:a16="http://schemas.microsoft.com/office/drawing/2014/main" id="{9A4DD28E-F724-4164-9C48-8D2523E7721E}"/>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large each adjustment may be.</a:t>
            </a:r>
          </a:p>
        </p:txBody>
      </p:sp>
      <p:sp>
        <p:nvSpPr>
          <p:cNvPr id="14" name="concept-29-footer-0">
            <a:extLst xmlns:a="http://schemas.openxmlformats.org/drawingml/2006/main">
              <a:ext uri="{FF2B5EF4-FFF2-40B4-BE49-F238E27FC236}">
                <a16:creationId xmlns:a16="http://schemas.microsoft.com/office/drawing/2014/main" id="{AE501290-C097-4015-AB21-3279D63775F3}"/>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Training, validation and test</a:t>
            </a:r>
          </a:p>
        </p:txBody>
      </p:sp>
    </p:spTree>
    <p:extLst>
      <p:ext uri="{BB962C8B-B14F-4D97-AF65-F5344CB8AC3E}">
        <p14:creationId xmlns:p14="http://schemas.microsoft.com/office/powerpoint/2010/main" val="66119232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30-chapter-0">
            <a:extLst xmlns:a="http://schemas.openxmlformats.org/drawingml/2006/main">
              <a:ext uri="{FF2B5EF4-FFF2-40B4-BE49-F238E27FC236}">
                <a16:creationId xmlns:a16="http://schemas.microsoft.com/office/drawing/2014/main" id="{2D45ACBC-9A47-4BEB-B7CD-5D9420F8A621}"/>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030 / 100 · LEARNING FROM DATA</a:t>
            </a:r>
          </a:p>
        </p:txBody>
      </p:sp>
      <p:sp>
        <p:nvSpPr>
          <p:cNvPr id="2" name="concept-30-title-0">
            <a:extLst xmlns:a="http://schemas.openxmlformats.org/drawingml/2006/main">
              <a:ext uri="{FF2B5EF4-FFF2-40B4-BE49-F238E27FC236}">
                <a16:creationId xmlns:a16="http://schemas.microsoft.com/office/drawing/2014/main" id="{F51BC83C-AD58-4BAA-9F12-6E2B3ECD55CF}"/>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Training, validation and test</a:t>
            </a:r>
          </a:p>
        </p:txBody>
      </p:sp>
      <p:sp>
        <p:nvSpPr>
          <p:cNvPr id="3" name="concept-30-definition-label-0">
            <a:extLst xmlns:a="http://schemas.openxmlformats.org/drawingml/2006/main">
              <a:ext uri="{FF2B5EF4-FFF2-40B4-BE49-F238E27FC236}">
                <a16:creationId xmlns:a16="http://schemas.microsoft.com/office/drawing/2014/main" id="{FEACE6D1-5272-47CE-B1A8-E31E329B9DB0}"/>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30-definition-0">
            <a:extLst xmlns:a="http://schemas.openxmlformats.org/drawingml/2006/main">
              <a:ext uri="{FF2B5EF4-FFF2-40B4-BE49-F238E27FC236}">
                <a16:creationId xmlns:a16="http://schemas.microsoft.com/office/drawing/2014/main" id="{225D4641-C72D-4DF5-A790-EA814F8A21F6}"/>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Training data fit parameters; validation data guide model</a:t>
            </a:r>
          </a:p>
        </p:txBody>
      </p:sp>
      <p:sp>
        <p:nvSpPr>
          <p:cNvPr id="5" name="concept-30-definition-1">
            <a:extLst xmlns:a="http://schemas.openxmlformats.org/drawingml/2006/main">
              <a:ext uri="{FF2B5EF4-FFF2-40B4-BE49-F238E27FC236}">
                <a16:creationId xmlns:a16="http://schemas.microsoft.com/office/drawing/2014/main" id="{3A5607AE-1512-44B1-87D2-286DC441480E}"/>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choices; a held-out test estimates performance after those</a:t>
            </a:r>
          </a:p>
        </p:txBody>
      </p:sp>
      <p:sp>
        <p:nvSpPr>
          <p:cNvPr id="6" name="concept-30-definition-2">
            <a:extLst xmlns:a="http://schemas.openxmlformats.org/drawingml/2006/main">
              <a:ext uri="{FF2B5EF4-FFF2-40B4-BE49-F238E27FC236}">
                <a16:creationId xmlns:a16="http://schemas.microsoft.com/office/drawing/2014/main" id="{C5AEFEC1-238C-431D-A542-03ACF14F67E8}"/>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choices are fixed.</a:t>
            </a:r>
          </a:p>
        </p:txBody>
      </p:sp>
      <p:sp>
        <p:nvSpPr>
          <p:cNvPr id="7" name="concept-30-formula-0">
            <a:extLst xmlns:a="http://schemas.openxmlformats.org/drawingml/2006/main">
              <a:ext uri="{FF2B5EF4-FFF2-40B4-BE49-F238E27FC236}">
                <a16:creationId xmlns:a16="http://schemas.microsoft.com/office/drawing/2014/main" id="{93D99CBB-097C-4D61-946C-5E3B2C96E45B}"/>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D = Dₜᵣₐᵢₙ ∪ Dᵥₐₗ ∪ Dₜₑₛₜ; sets are disjoint</a:t>
            </a:r>
          </a:p>
        </p:txBody>
      </p:sp>
      <p:sp>
        <p:nvSpPr>
          <p:cNvPr id="8" name="concept-30-example-label-0">
            <a:extLst xmlns:a="http://schemas.openxmlformats.org/drawingml/2006/main">
              <a:ext uri="{FF2B5EF4-FFF2-40B4-BE49-F238E27FC236}">
                <a16:creationId xmlns:a16="http://schemas.microsoft.com/office/drawing/2014/main" id="{A82CEA1E-1C75-4D32-8F17-44AF1744ABAA}"/>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30-example-0">
            <a:extLst xmlns:a="http://schemas.openxmlformats.org/drawingml/2006/main">
              <a:ext uri="{FF2B5EF4-FFF2-40B4-BE49-F238E27FC236}">
                <a16:creationId xmlns:a16="http://schemas.microsoft.com/office/drawing/2014/main" id="{A926654D-2932-4366-B6AA-DD169E6C9187}"/>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100-well study might use 70 wells to train, 15 to choose</a:t>
            </a:r>
          </a:p>
        </p:txBody>
      </p:sp>
      <p:sp>
        <p:nvSpPr>
          <p:cNvPr id="10" name="concept-30-example-1">
            <a:extLst xmlns:a="http://schemas.openxmlformats.org/drawingml/2006/main">
              <a:ext uri="{FF2B5EF4-FFF2-40B4-BE49-F238E27FC236}">
                <a16:creationId xmlns:a16="http://schemas.microsoft.com/office/drawing/2014/main" id="{D3545021-DFED-472C-AB11-1490E15FBACB}"/>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settings, and 15 for final testing.</a:t>
            </a:r>
          </a:p>
        </p:txBody>
      </p:sp>
      <p:sp>
        <p:nvSpPr>
          <p:cNvPr id="11" name="concept-30-metaphor-label-0">
            <a:extLst xmlns:a="http://schemas.openxmlformats.org/drawingml/2006/main">
              <a:ext uri="{FF2B5EF4-FFF2-40B4-BE49-F238E27FC236}">
                <a16:creationId xmlns:a16="http://schemas.microsoft.com/office/drawing/2014/main" id="{DE047DD0-005D-49BE-994D-B68D9070F9C2}"/>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30-metaphor-0">
            <a:extLst xmlns:a="http://schemas.openxmlformats.org/drawingml/2006/main">
              <a:ext uri="{FF2B5EF4-FFF2-40B4-BE49-F238E27FC236}">
                <a16:creationId xmlns:a16="http://schemas.microsoft.com/office/drawing/2014/main" id="{79CDAC01-CB81-4CB9-AC56-AE699F8E14CB}"/>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Practice exercises, a mock exam, and a sealed final exam have</a:t>
            </a:r>
          </a:p>
        </p:txBody>
      </p:sp>
      <p:sp>
        <p:nvSpPr>
          <p:cNvPr id="13" name="concept-30-metaphor-1">
            <a:extLst xmlns:a="http://schemas.openxmlformats.org/drawingml/2006/main">
              <a:ext uri="{FF2B5EF4-FFF2-40B4-BE49-F238E27FC236}">
                <a16:creationId xmlns:a16="http://schemas.microsoft.com/office/drawing/2014/main" id="{78D07EDE-3F69-4960-9B88-9AF7E9780AEF}"/>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different jobs.</a:t>
            </a:r>
          </a:p>
        </p:txBody>
      </p:sp>
      <p:sp>
        <p:nvSpPr>
          <p:cNvPr id="14" name="concept-30-footer-0">
            <a:extLst xmlns:a="http://schemas.openxmlformats.org/drawingml/2006/main">
              <a:ext uri="{FF2B5EF4-FFF2-40B4-BE49-F238E27FC236}">
                <a16:creationId xmlns:a16="http://schemas.microsoft.com/office/drawing/2014/main" id="{3294C8FF-9393-4980-85AD-F479578C7A0C}"/>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Data leakage</a:t>
            </a:r>
          </a:p>
        </p:txBody>
      </p:sp>
    </p:spTree>
    <p:extLst>
      <p:ext uri="{BB962C8B-B14F-4D97-AF65-F5344CB8AC3E}">
        <p14:creationId xmlns:p14="http://schemas.microsoft.com/office/powerpoint/2010/main" val="151544827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31-chapter-0">
            <a:extLst xmlns:a="http://schemas.openxmlformats.org/drawingml/2006/main">
              <a:ext uri="{FF2B5EF4-FFF2-40B4-BE49-F238E27FC236}">
                <a16:creationId xmlns:a16="http://schemas.microsoft.com/office/drawing/2014/main" id="{3FC3EE10-1831-4103-81D1-AE53AE684BDA}"/>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031 / 100 · LEARNING FROM DATA</a:t>
            </a:r>
          </a:p>
        </p:txBody>
      </p:sp>
      <p:sp>
        <p:nvSpPr>
          <p:cNvPr id="2" name="concept-31-title-0">
            <a:extLst xmlns:a="http://schemas.openxmlformats.org/drawingml/2006/main">
              <a:ext uri="{FF2B5EF4-FFF2-40B4-BE49-F238E27FC236}">
                <a16:creationId xmlns:a16="http://schemas.microsoft.com/office/drawing/2014/main" id="{560AD559-745C-47BC-A018-7BC8E19FFD01}"/>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Data leakage</a:t>
            </a:r>
          </a:p>
        </p:txBody>
      </p:sp>
      <p:sp>
        <p:nvSpPr>
          <p:cNvPr id="3" name="concept-31-definition-label-0">
            <a:extLst xmlns:a="http://schemas.openxmlformats.org/drawingml/2006/main">
              <a:ext uri="{FF2B5EF4-FFF2-40B4-BE49-F238E27FC236}">
                <a16:creationId xmlns:a16="http://schemas.microsoft.com/office/drawing/2014/main" id="{2ECA76B7-98AC-458C-B917-4AC83B9EB569}"/>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31-definition-0">
            <a:extLst xmlns:a="http://schemas.openxmlformats.org/drawingml/2006/main">
              <a:ext uri="{FF2B5EF4-FFF2-40B4-BE49-F238E27FC236}">
                <a16:creationId xmlns:a16="http://schemas.microsoft.com/office/drawing/2014/main" id="{8B93E295-1077-4E1D-9711-40020CC6858B}"/>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Data leakage occurs when model development uses</a:t>
            </a:r>
          </a:p>
        </p:txBody>
      </p:sp>
      <p:sp>
        <p:nvSpPr>
          <p:cNvPr id="5" name="concept-31-definition-1">
            <a:extLst xmlns:a="http://schemas.openxmlformats.org/drawingml/2006/main">
              <a:ext uri="{FF2B5EF4-FFF2-40B4-BE49-F238E27FC236}">
                <a16:creationId xmlns:a16="http://schemas.microsoft.com/office/drawing/2014/main" id="{98C2068E-34B5-4144-8997-E14A1A582580}"/>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information that would be unavailable in the intended</a:t>
            </a:r>
          </a:p>
        </p:txBody>
      </p:sp>
      <p:sp>
        <p:nvSpPr>
          <p:cNvPr id="6" name="concept-31-definition-2">
            <a:extLst xmlns:a="http://schemas.openxmlformats.org/drawingml/2006/main">
              <a:ext uri="{FF2B5EF4-FFF2-40B4-BE49-F238E27FC236}">
                <a16:creationId xmlns:a16="http://schemas.microsoft.com/office/drawing/2014/main" id="{A7C8EFC6-2A79-4BBB-AC40-EE933D4F51AF}"/>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prediction setting.</a:t>
            </a:r>
          </a:p>
        </p:txBody>
      </p:sp>
      <p:sp>
        <p:nvSpPr>
          <p:cNvPr id="7" name="concept-31-formula-0">
            <a:extLst xmlns:a="http://schemas.openxmlformats.org/drawingml/2006/main">
              <a:ext uri="{FF2B5EF4-FFF2-40B4-BE49-F238E27FC236}">
                <a16:creationId xmlns:a16="http://schemas.microsoft.com/office/drawing/2014/main" id="{822D7D8F-1A34-489D-8889-DFF16DCEDE69}"/>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For new-well testing: train wells ∩ test wells = ∅</a:t>
            </a:r>
          </a:p>
        </p:txBody>
      </p:sp>
      <p:sp>
        <p:nvSpPr>
          <p:cNvPr id="8" name="concept-31-example-label-0">
            <a:extLst xmlns:a="http://schemas.openxmlformats.org/drawingml/2006/main">
              <a:ext uri="{FF2B5EF4-FFF2-40B4-BE49-F238E27FC236}">
                <a16:creationId xmlns:a16="http://schemas.microsoft.com/office/drawing/2014/main" id="{E9309425-D249-46C2-BB9E-7E943DAC29E6}"/>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31-example-0">
            <a:extLst xmlns:a="http://schemas.openxmlformats.org/drawingml/2006/main">
              <a:ext uri="{FF2B5EF4-FFF2-40B4-BE49-F238E27FC236}">
                <a16:creationId xmlns:a16="http://schemas.microsoft.com/office/drawing/2014/main" id="{2D1E06FE-82BE-472F-8329-0F7D20D9A3F8}"/>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Training uses a well segment at depths 100, 101, 102 m.</a:t>
            </a:r>
          </a:p>
        </p:txBody>
      </p:sp>
      <p:sp>
        <p:nvSpPr>
          <p:cNvPr id="10" name="concept-31-example-1">
            <a:extLst xmlns:a="http://schemas.openxmlformats.org/drawingml/2006/main">
              <a:ext uri="{FF2B5EF4-FFF2-40B4-BE49-F238E27FC236}">
                <a16:creationId xmlns:a16="http://schemas.microsoft.com/office/drawing/2014/main" id="{94C8F9FF-4637-4379-B5B2-E77F4294A9BC}"/>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Testing uses 101, 102, 103 m from the same well. Two of three</a:t>
            </a:r>
          </a:p>
        </p:txBody>
      </p:sp>
      <p:sp>
        <p:nvSpPr>
          <p:cNvPr id="15" name="concept-31-example-2">
            <a:extLst xmlns:a="http://schemas.openxmlformats.org/drawingml/2006/main">
              <a:ext uri="{FF2B5EF4-FFF2-40B4-BE49-F238E27FC236}">
                <a16:creationId xmlns:a16="http://schemas.microsoft.com/office/drawing/2014/main" id="{02EBEAE5-6A76-4F2B-BB4F-814FA409D1C6}"/>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measurements are shared.</a:t>
            </a:r>
          </a:p>
        </p:txBody>
      </p:sp>
      <p:sp>
        <p:nvSpPr>
          <p:cNvPr id="11" name="concept-31-metaphor-label-0">
            <a:extLst xmlns:a="http://schemas.openxmlformats.org/drawingml/2006/main">
              <a:ext uri="{FF2B5EF4-FFF2-40B4-BE49-F238E27FC236}">
                <a16:creationId xmlns:a16="http://schemas.microsoft.com/office/drawing/2014/main" id="{9BFEED4E-4A8F-49AD-8D3D-EB4D972813DB}"/>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31-metaphor-0">
            <a:extLst xmlns:a="http://schemas.openxmlformats.org/drawingml/2006/main">
              <a:ext uri="{FF2B5EF4-FFF2-40B4-BE49-F238E27FC236}">
                <a16:creationId xmlns:a16="http://schemas.microsoft.com/office/drawing/2014/main" id="{24289307-0970-4D7E-8B23-5CFA64212A88}"/>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exam is misleading when the practice sheet contains copies</a:t>
            </a:r>
          </a:p>
        </p:txBody>
      </p:sp>
      <p:sp>
        <p:nvSpPr>
          <p:cNvPr id="13" name="concept-31-metaphor-1">
            <a:extLst xmlns:a="http://schemas.openxmlformats.org/drawingml/2006/main">
              <a:ext uri="{FF2B5EF4-FFF2-40B4-BE49-F238E27FC236}">
                <a16:creationId xmlns:a16="http://schemas.microsoft.com/office/drawing/2014/main" id="{99047D16-520F-4501-89A0-0E4E111CCC84}"/>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of its questions.</a:t>
            </a:r>
          </a:p>
        </p:txBody>
      </p:sp>
      <p:sp>
        <p:nvSpPr>
          <p:cNvPr id="14" name="concept-31-footer-0">
            <a:extLst xmlns:a="http://schemas.openxmlformats.org/drawingml/2006/main">
              <a:ext uri="{FF2B5EF4-FFF2-40B4-BE49-F238E27FC236}">
                <a16:creationId xmlns:a16="http://schemas.microsoft.com/office/drawing/2014/main" id="{128842EB-8FD8-40E3-A32D-7EBE7CDD70C2}"/>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Normalization</a:t>
            </a:r>
          </a:p>
        </p:txBody>
      </p:sp>
    </p:spTree>
    <p:extLst>
      <p:ext uri="{BB962C8B-B14F-4D97-AF65-F5344CB8AC3E}">
        <p14:creationId xmlns:p14="http://schemas.microsoft.com/office/powerpoint/2010/main" val="89633019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32-chapter-0">
            <a:extLst xmlns:a="http://schemas.openxmlformats.org/drawingml/2006/main">
              <a:ext uri="{FF2B5EF4-FFF2-40B4-BE49-F238E27FC236}">
                <a16:creationId xmlns:a16="http://schemas.microsoft.com/office/drawing/2014/main" id="{26446EA3-5288-4718-9BC1-2CCCB84181B2}"/>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032 / 100 · LEARNING FROM DATA</a:t>
            </a:r>
          </a:p>
        </p:txBody>
      </p:sp>
      <p:sp>
        <p:nvSpPr>
          <p:cNvPr id="2" name="concept-32-title-0">
            <a:extLst xmlns:a="http://schemas.openxmlformats.org/drawingml/2006/main">
              <a:ext uri="{FF2B5EF4-FFF2-40B4-BE49-F238E27FC236}">
                <a16:creationId xmlns:a16="http://schemas.microsoft.com/office/drawing/2014/main" id="{5EEFD7B9-6325-4516-AAB8-B59A07CDE11D}"/>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Normalization</a:t>
            </a:r>
          </a:p>
        </p:txBody>
      </p:sp>
      <p:sp>
        <p:nvSpPr>
          <p:cNvPr id="3" name="concept-32-definition-label-0">
            <a:extLst xmlns:a="http://schemas.openxmlformats.org/drawingml/2006/main">
              <a:ext uri="{FF2B5EF4-FFF2-40B4-BE49-F238E27FC236}">
                <a16:creationId xmlns:a16="http://schemas.microsoft.com/office/drawing/2014/main" id="{192EC198-E25B-422A-8B42-6764D28F5878}"/>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32-definition-0">
            <a:extLst xmlns:a="http://schemas.openxmlformats.org/drawingml/2006/main">
              <a:ext uri="{FF2B5EF4-FFF2-40B4-BE49-F238E27FC236}">
                <a16:creationId xmlns:a16="http://schemas.microsoft.com/office/drawing/2014/main" id="{E4C05507-D9FD-4EBD-977F-C6C7F7181DC4}"/>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Normalization rescales data to a chosen reference scale.</a:t>
            </a:r>
          </a:p>
        </p:txBody>
      </p:sp>
      <p:sp>
        <p:nvSpPr>
          <p:cNvPr id="5" name="concept-32-definition-1">
            <a:extLst xmlns:a="http://schemas.openxmlformats.org/drawingml/2006/main">
              <a:ext uri="{FF2B5EF4-FFF2-40B4-BE49-F238E27FC236}">
                <a16:creationId xmlns:a16="http://schemas.microsoft.com/office/drawing/2014/main" id="{60D85C81-56AA-4FA1-BCD0-5267BB1066D6}"/>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Standardization, one common method, subtracts the mean μ</a:t>
            </a:r>
          </a:p>
        </p:txBody>
      </p:sp>
      <p:sp>
        <p:nvSpPr>
          <p:cNvPr id="14" name="concept-32-definition-2">
            <a:extLst xmlns:a="http://schemas.openxmlformats.org/drawingml/2006/main">
              <a:ext uri="{FF2B5EF4-FFF2-40B4-BE49-F238E27FC236}">
                <a16:creationId xmlns:a16="http://schemas.microsoft.com/office/drawing/2014/main" id="{81C6318A-B5C5-41C4-8BDC-0DBFEA87E4E2}"/>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and divides by the standard deviation σ.</a:t>
            </a:r>
          </a:p>
        </p:txBody>
      </p:sp>
      <p:sp>
        <p:nvSpPr>
          <p:cNvPr id="6" name="concept-32-formula-0">
            <a:extLst xmlns:a="http://schemas.openxmlformats.org/drawingml/2006/main">
              <a:ext uri="{FF2B5EF4-FFF2-40B4-BE49-F238E27FC236}">
                <a16:creationId xmlns:a16="http://schemas.microsoft.com/office/drawing/2014/main" id="{2C5EB810-A39A-4E36-84B1-7AE507F4E1B8}"/>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Standardization: z = (x − μ)/σ, σ &gt; 0</a:t>
            </a:r>
          </a:p>
        </p:txBody>
      </p:sp>
      <p:sp>
        <p:nvSpPr>
          <p:cNvPr id="7" name="concept-32-example-label-0">
            <a:extLst xmlns:a="http://schemas.openxmlformats.org/drawingml/2006/main">
              <a:ext uri="{FF2B5EF4-FFF2-40B4-BE49-F238E27FC236}">
                <a16:creationId xmlns:a16="http://schemas.microsoft.com/office/drawing/2014/main" id="{9F3143BD-0278-412D-98AA-73635725107D}"/>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32-example-0">
            <a:extLst xmlns:a="http://schemas.openxmlformats.org/drawingml/2006/main">
              <a:ext uri="{FF2B5EF4-FFF2-40B4-BE49-F238E27FC236}">
                <a16:creationId xmlns:a16="http://schemas.microsoft.com/office/drawing/2014/main" id="{984A5999-FAC9-46AC-9BD8-0149CF08868B}"/>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Training data give μ = 100 and σ = 20. A new value x = 140</a:t>
            </a:r>
          </a:p>
        </p:txBody>
      </p:sp>
      <p:sp>
        <p:nvSpPr>
          <p:cNvPr id="9" name="concept-32-example-1">
            <a:extLst xmlns:a="http://schemas.openxmlformats.org/drawingml/2006/main">
              <a:ext uri="{FF2B5EF4-FFF2-40B4-BE49-F238E27FC236}">
                <a16:creationId xmlns:a16="http://schemas.microsoft.com/office/drawing/2014/main" id="{788EEEE7-5CD1-45EA-942B-0FBA4ABF3C3A}"/>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becomes z = 2.</a:t>
            </a:r>
          </a:p>
        </p:txBody>
      </p:sp>
      <p:sp>
        <p:nvSpPr>
          <p:cNvPr id="10" name="concept-32-metaphor-label-0">
            <a:extLst xmlns:a="http://schemas.openxmlformats.org/drawingml/2006/main">
              <a:ext uri="{FF2B5EF4-FFF2-40B4-BE49-F238E27FC236}">
                <a16:creationId xmlns:a16="http://schemas.microsoft.com/office/drawing/2014/main" id="{8393556B-C974-40EB-AC7B-8C60589FA92A}"/>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32-metaphor-0">
            <a:extLst xmlns:a="http://schemas.openxmlformats.org/drawingml/2006/main">
              <a:ext uri="{FF2B5EF4-FFF2-40B4-BE49-F238E27FC236}">
                <a16:creationId xmlns:a16="http://schemas.microsoft.com/office/drawing/2014/main" id="{1ABF2685-F55B-4854-A60F-D6F074E34B70}"/>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Convert different measuring rulers into a common “distance</a:t>
            </a:r>
          </a:p>
        </p:txBody>
      </p:sp>
      <p:sp>
        <p:nvSpPr>
          <p:cNvPr id="12" name="concept-32-metaphor-1">
            <a:extLst xmlns:a="http://schemas.openxmlformats.org/drawingml/2006/main">
              <a:ext uri="{FF2B5EF4-FFF2-40B4-BE49-F238E27FC236}">
                <a16:creationId xmlns:a16="http://schemas.microsoft.com/office/drawing/2014/main" id="{0B7968ED-9CFA-4AD8-845F-701E9FCEBF04}"/>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from typical” scale.</a:t>
            </a:r>
          </a:p>
        </p:txBody>
      </p:sp>
      <p:sp>
        <p:nvSpPr>
          <p:cNvPr id="13" name="concept-32-footer-0">
            <a:extLst xmlns:a="http://schemas.openxmlformats.org/drawingml/2006/main">
              <a:ext uri="{FF2B5EF4-FFF2-40B4-BE49-F238E27FC236}">
                <a16:creationId xmlns:a16="http://schemas.microsoft.com/office/drawing/2014/main" id="{9B25BDA6-31B9-4271-AB5B-D9DC7D3B16CD}"/>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Artificial neuron</a:t>
            </a:r>
          </a:p>
        </p:txBody>
      </p:sp>
    </p:spTree>
    <p:extLst>
      <p:ext uri="{BB962C8B-B14F-4D97-AF65-F5344CB8AC3E}">
        <p14:creationId xmlns:p14="http://schemas.microsoft.com/office/powerpoint/2010/main" val="7235375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33-chapter-0">
            <a:extLst xmlns:a="http://schemas.openxmlformats.org/drawingml/2006/main">
              <a:ext uri="{FF2B5EF4-FFF2-40B4-BE49-F238E27FC236}">
                <a16:creationId xmlns:a16="http://schemas.microsoft.com/office/drawing/2014/main" id="{A4B85AF5-9421-4E70-AF6A-24F698CD3493}"/>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033 / 100 · LEARNING FROM DATA</a:t>
            </a:r>
          </a:p>
        </p:txBody>
      </p:sp>
      <p:sp>
        <p:nvSpPr>
          <p:cNvPr id="2" name="concept-33-title-0">
            <a:extLst xmlns:a="http://schemas.openxmlformats.org/drawingml/2006/main">
              <a:ext uri="{FF2B5EF4-FFF2-40B4-BE49-F238E27FC236}">
                <a16:creationId xmlns:a16="http://schemas.microsoft.com/office/drawing/2014/main" id="{4DF797F8-8C26-4743-BB04-3D8114B964D9}"/>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Artificial neuron</a:t>
            </a:r>
          </a:p>
        </p:txBody>
      </p:sp>
      <p:sp>
        <p:nvSpPr>
          <p:cNvPr id="3" name="concept-33-definition-label-0">
            <a:extLst xmlns:a="http://schemas.openxmlformats.org/drawingml/2006/main">
              <a:ext uri="{FF2B5EF4-FFF2-40B4-BE49-F238E27FC236}">
                <a16:creationId xmlns:a16="http://schemas.microsoft.com/office/drawing/2014/main" id="{B93AE021-B3B1-4BC5-94AC-A7F7FB815A06}"/>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33-definition-0">
            <a:extLst xmlns:a="http://schemas.openxmlformats.org/drawingml/2006/main">
              <a:ext uri="{FF2B5EF4-FFF2-40B4-BE49-F238E27FC236}">
                <a16:creationId xmlns:a16="http://schemas.microsoft.com/office/drawing/2014/main" id="{57347CA8-7356-4FD6-845E-61F67CC44CBB}"/>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artificial neuron multiplies inputs by weights, adds a bias,</a:t>
            </a:r>
          </a:p>
        </p:txBody>
      </p:sp>
      <p:sp>
        <p:nvSpPr>
          <p:cNvPr id="5" name="concept-33-definition-1">
            <a:extLst xmlns:a="http://schemas.openxmlformats.org/drawingml/2006/main">
              <a:ext uri="{FF2B5EF4-FFF2-40B4-BE49-F238E27FC236}">
                <a16:creationId xmlns:a16="http://schemas.microsoft.com/office/drawing/2014/main" id="{B6840ED4-DD86-4659-A532-714E6C76523E}"/>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then applies an output rule called an activation function. The</a:t>
            </a:r>
          </a:p>
        </p:txBody>
      </p:sp>
      <p:sp>
        <p:nvSpPr>
          <p:cNvPr id="14" name="concept-33-definition-2">
            <a:extLst xmlns:a="http://schemas.openxmlformats.org/drawingml/2006/main">
              <a:ext uri="{FF2B5EF4-FFF2-40B4-BE49-F238E27FC236}">
                <a16:creationId xmlns:a16="http://schemas.microsoft.com/office/drawing/2014/main" id="{FDA1A15F-8948-4029-8765-9FA784615BED}"/>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bias shifts the sum by a constant.</a:t>
            </a:r>
          </a:p>
        </p:txBody>
      </p:sp>
      <p:sp>
        <p:nvSpPr>
          <p:cNvPr id="6" name="concept-33-formula-0">
            <a:extLst xmlns:a="http://schemas.openxmlformats.org/drawingml/2006/main">
              <a:ext uri="{FF2B5EF4-FFF2-40B4-BE49-F238E27FC236}">
                <a16:creationId xmlns:a16="http://schemas.microsoft.com/office/drawing/2014/main" id="{45EE1BE1-EFDE-4EC3-8A2A-E5DF65BF2937}"/>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a = φ(w · x + b)</a:t>
            </a:r>
          </a:p>
        </p:txBody>
      </p:sp>
      <p:sp>
        <p:nvSpPr>
          <p:cNvPr id="7" name="concept-33-example-label-0">
            <a:extLst xmlns:a="http://schemas.openxmlformats.org/drawingml/2006/main">
              <a:ext uri="{FF2B5EF4-FFF2-40B4-BE49-F238E27FC236}">
                <a16:creationId xmlns:a16="http://schemas.microsoft.com/office/drawing/2014/main" id="{7712204E-C026-4ECD-BFCC-21A43B2A8DEB}"/>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33-example-0">
            <a:extLst xmlns:a="http://schemas.openxmlformats.org/drawingml/2006/main">
              <a:ext uri="{FF2B5EF4-FFF2-40B4-BE49-F238E27FC236}">
                <a16:creationId xmlns:a16="http://schemas.microsoft.com/office/drawing/2014/main" id="{AE32A158-2FE9-4D41-81A5-890E0556CBC0}"/>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With x = (2, 1), w = (3, −2), b = 1: z = 3×2 − 2×1 + 1 = 5.</a:t>
            </a:r>
          </a:p>
        </p:txBody>
      </p:sp>
      <p:sp>
        <p:nvSpPr>
          <p:cNvPr id="9" name="concept-33-example-1">
            <a:extLst xmlns:a="http://schemas.openxmlformats.org/drawingml/2006/main">
              <a:ext uri="{FF2B5EF4-FFF2-40B4-BE49-F238E27FC236}">
                <a16:creationId xmlns:a16="http://schemas.microsoft.com/office/drawing/2014/main" id="{24DA7751-CB2E-4C2F-801C-CAF5DC87A3BA}"/>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activation max(0, z) gives a = 5.</a:t>
            </a:r>
          </a:p>
        </p:txBody>
      </p:sp>
      <p:sp>
        <p:nvSpPr>
          <p:cNvPr id="10" name="concept-33-metaphor-label-0">
            <a:extLst xmlns:a="http://schemas.openxmlformats.org/drawingml/2006/main">
              <a:ext uri="{FF2B5EF4-FFF2-40B4-BE49-F238E27FC236}">
                <a16:creationId xmlns:a16="http://schemas.microsoft.com/office/drawing/2014/main" id="{D86D8A12-32E2-4668-AB72-C0CA14BD85C3}"/>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33-metaphor-0">
            <a:extLst xmlns:a="http://schemas.openxmlformats.org/drawingml/2006/main">
              <a:ext uri="{FF2B5EF4-FFF2-40B4-BE49-F238E27FC236}">
                <a16:creationId xmlns:a16="http://schemas.microsoft.com/office/drawing/2014/main" id="{77F84F6C-695F-475D-A63B-A7733DC31948}"/>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tiny decision station combines weighted signals, then applies</a:t>
            </a:r>
          </a:p>
        </p:txBody>
      </p:sp>
      <p:sp>
        <p:nvSpPr>
          <p:cNvPr id="12" name="concept-33-metaphor-1">
            <a:extLst xmlns:a="http://schemas.openxmlformats.org/drawingml/2006/main">
              <a:ext uri="{FF2B5EF4-FFF2-40B4-BE49-F238E27FC236}">
                <a16:creationId xmlns:a16="http://schemas.microsoft.com/office/drawing/2014/main" id="{E803C788-E3F7-448D-ADB8-02263209359A}"/>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one output rule.</a:t>
            </a:r>
          </a:p>
        </p:txBody>
      </p:sp>
      <p:sp>
        <p:nvSpPr>
          <p:cNvPr id="13" name="concept-33-footer-0">
            <a:extLst xmlns:a="http://schemas.openxmlformats.org/drawingml/2006/main">
              <a:ext uri="{FF2B5EF4-FFF2-40B4-BE49-F238E27FC236}">
                <a16:creationId xmlns:a16="http://schemas.microsoft.com/office/drawing/2014/main" id="{4EBA98EB-0C95-41C7-BB0E-6E816B9E9582}"/>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Sigmoid</a:t>
            </a:r>
          </a:p>
        </p:txBody>
      </p:sp>
    </p:spTree>
    <p:extLst>
      <p:ext uri="{BB962C8B-B14F-4D97-AF65-F5344CB8AC3E}">
        <p14:creationId xmlns:p14="http://schemas.microsoft.com/office/powerpoint/2010/main" val="52917162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ncept-34-chapter-0">
            <a:extLst xmlns:a="http://schemas.openxmlformats.org/drawingml/2006/main">
              <a:ext uri="{FF2B5EF4-FFF2-40B4-BE49-F238E27FC236}">
                <a16:creationId xmlns:a16="http://schemas.microsoft.com/office/drawing/2014/main" id="{90F887FE-FE35-4122-9F9B-E73318102BD8}"/>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034 / 100 · LEARNING FROM DATA</a:t>
            </a:r>
          </a:p>
        </p:txBody>
      </p:sp>
      <p:sp>
        <p:nvSpPr>
          <p:cNvPr id="2" name="concept-34-title-0">
            <a:extLst xmlns:a="http://schemas.openxmlformats.org/drawingml/2006/main">
              <a:ext uri="{FF2B5EF4-FFF2-40B4-BE49-F238E27FC236}">
                <a16:creationId xmlns:a16="http://schemas.microsoft.com/office/drawing/2014/main" id="{37D542C1-DA36-4BAE-8195-405CCDAB4A93}"/>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Sigmoid</a:t>
            </a:r>
          </a:p>
        </p:txBody>
      </p:sp>
      <p:sp>
        <p:nvSpPr>
          <p:cNvPr id="3" name="concept-34-definition-label-0">
            <a:extLst xmlns:a="http://schemas.openxmlformats.org/drawingml/2006/main">
              <a:ext uri="{FF2B5EF4-FFF2-40B4-BE49-F238E27FC236}">
                <a16:creationId xmlns:a16="http://schemas.microsoft.com/office/drawing/2014/main" id="{CEAEC18E-BE9E-4430-86CC-FFD7AFA04594}"/>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34-definition-0">
            <a:extLst xmlns:a="http://schemas.openxmlformats.org/drawingml/2006/main">
              <a:ext uri="{FF2B5EF4-FFF2-40B4-BE49-F238E27FC236}">
                <a16:creationId xmlns:a16="http://schemas.microsoft.com/office/drawing/2014/main" id="{5E0D6826-DEBF-4DB1-A799-9D273145167A}"/>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logistic sigmoid maps a real input smoothly into the open</a:t>
            </a:r>
          </a:p>
        </p:txBody>
      </p:sp>
      <p:sp>
        <p:nvSpPr>
          <p:cNvPr id="5" name="concept-34-definition-1">
            <a:extLst xmlns:a="http://schemas.openxmlformats.org/drawingml/2006/main">
              <a:ext uri="{FF2B5EF4-FFF2-40B4-BE49-F238E27FC236}">
                <a16:creationId xmlns:a16="http://schemas.microsoft.com/office/drawing/2014/main" id="{361D69B6-5B6D-444C-B5A3-5B67974A7EB6}"/>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interval (0, 1). Its slope becomes small at extreme inputs.</a:t>
            </a:r>
          </a:p>
        </p:txBody>
      </p:sp>
      <p:sp>
        <p:nvSpPr>
          <p:cNvPr id="6" name="concept-34-formula-0">
            <a:extLst xmlns:a="http://schemas.openxmlformats.org/drawingml/2006/main">
              <a:ext uri="{FF2B5EF4-FFF2-40B4-BE49-F238E27FC236}">
                <a16:creationId xmlns:a16="http://schemas.microsoft.com/office/drawing/2014/main" id="{4E302F40-1F81-4060-8F7B-345CD674B508}"/>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σ(z) = 1/(1 + e⁻ᶻ); σ′(z) = σ(z)(1 − σ(z))</a:t>
            </a:r>
          </a:p>
        </p:txBody>
      </p:sp>
      <p:sp>
        <p:nvSpPr>
          <p:cNvPr id="7" name="concept-34-example-label-0">
            <a:extLst xmlns:a="http://schemas.openxmlformats.org/drawingml/2006/main">
              <a:ext uri="{FF2B5EF4-FFF2-40B4-BE49-F238E27FC236}">
                <a16:creationId xmlns:a16="http://schemas.microsoft.com/office/drawing/2014/main" id="{2F033CD4-D90F-467A-AD9C-D762B1B28E24}"/>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34-example-0">
            <a:extLst xmlns:a="http://schemas.openxmlformats.org/drawingml/2006/main">
              <a:ext uri="{FF2B5EF4-FFF2-40B4-BE49-F238E27FC236}">
                <a16:creationId xmlns:a16="http://schemas.microsoft.com/office/drawing/2014/main" id="{7A3260C9-524D-4DCA-8F68-4EC86DFE201D}"/>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σ(−2) ≈ 0.119, σ(0) = 0.5, σ(2) ≈ 0.881. At zero, the slope is</a:t>
            </a:r>
          </a:p>
        </p:txBody>
      </p:sp>
      <p:sp>
        <p:nvSpPr>
          <p:cNvPr id="12" name="concept-34-example-1">
            <a:extLst xmlns:a="http://schemas.openxmlformats.org/drawingml/2006/main">
              <a:ext uri="{FF2B5EF4-FFF2-40B4-BE49-F238E27FC236}">
                <a16:creationId xmlns:a16="http://schemas.microsoft.com/office/drawing/2014/main" id="{2F9116AE-A5C1-4AF1-8B60-809E47761940}"/>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0.5×(1−0.5) = 0.25.</a:t>
            </a:r>
          </a:p>
        </p:txBody>
      </p:sp>
      <p:sp>
        <p:nvSpPr>
          <p:cNvPr id="9" name="concept-34-metaphor-label-0">
            <a:extLst xmlns:a="http://schemas.openxmlformats.org/drawingml/2006/main">
              <a:ext uri="{FF2B5EF4-FFF2-40B4-BE49-F238E27FC236}">
                <a16:creationId xmlns:a16="http://schemas.microsoft.com/office/drawing/2014/main" id="{927CC2BC-15AD-40FF-AA44-969E1B872455}"/>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0" name="concept-34-metaphor-0">
            <a:extLst xmlns:a="http://schemas.openxmlformats.org/drawingml/2006/main">
              <a:ext uri="{FF2B5EF4-FFF2-40B4-BE49-F238E27FC236}">
                <a16:creationId xmlns:a16="http://schemas.microsoft.com/office/drawing/2014/main" id="{8DD57115-BBD5-4444-9A2E-1CB98941B533}"/>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dimmer gradually opens from almost off to almost fully on.</a:t>
            </a:r>
          </a:p>
        </p:txBody>
      </p:sp>
      <p:sp>
        <p:nvSpPr>
          <p:cNvPr id="11" name="concept-34-footer-0">
            <a:extLst xmlns:a="http://schemas.openxmlformats.org/drawingml/2006/main">
              <a:ext uri="{FF2B5EF4-FFF2-40B4-BE49-F238E27FC236}">
                <a16:creationId xmlns:a16="http://schemas.microsoft.com/office/drawing/2014/main" id="{3B166800-B66D-44DB-BDF9-27C07FE7166A}"/>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ReLU</a:t>
            </a:r>
          </a:p>
        </p:txBody>
      </p:sp>
    </p:spTree>
    <p:extLst>
      <p:ext uri="{BB962C8B-B14F-4D97-AF65-F5344CB8AC3E}">
        <p14:creationId xmlns:p14="http://schemas.microsoft.com/office/powerpoint/2010/main" val="94579379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35-chapter-0">
            <a:extLst xmlns:a="http://schemas.openxmlformats.org/drawingml/2006/main">
              <a:ext uri="{FF2B5EF4-FFF2-40B4-BE49-F238E27FC236}">
                <a16:creationId xmlns:a16="http://schemas.microsoft.com/office/drawing/2014/main" id="{FA884497-1A71-431A-AF5F-5E184AD5BC02}"/>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035 / 100 · LEARNING FROM DATA</a:t>
            </a:r>
          </a:p>
        </p:txBody>
      </p:sp>
      <p:sp>
        <p:nvSpPr>
          <p:cNvPr id="2" name="concept-35-title-0">
            <a:extLst xmlns:a="http://schemas.openxmlformats.org/drawingml/2006/main">
              <a:ext uri="{FF2B5EF4-FFF2-40B4-BE49-F238E27FC236}">
                <a16:creationId xmlns:a16="http://schemas.microsoft.com/office/drawing/2014/main" id="{5471242D-5F98-4A88-A460-A5D1B7AD369A}"/>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ReLU</a:t>
            </a:r>
          </a:p>
        </p:txBody>
      </p:sp>
      <p:sp>
        <p:nvSpPr>
          <p:cNvPr id="3" name="concept-35-definition-label-0">
            <a:extLst xmlns:a="http://schemas.openxmlformats.org/drawingml/2006/main">
              <a:ext uri="{FF2B5EF4-FFF2-40B4-BE49-F238E27FC236}">
                <a16:creationId xmlns:a16="http://schemas.microsoft.com/office/drawing/2014/main" id="{B7E8895B-548C-4289-BEE4-64F723AA63E3}"/>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35-definition-0">
            <a:extLst xmlns:a="http://schemas.openxmlformats.org/drawingml/2006/main">
              <a:ext uri="{FF2B5EF4-FFF2-40B4-BE49-F238E27FC236}">
                <a16:creationId xmlns:a16="http://schemas.microsoft.com/office/drawing/2014/main" id="{FFD2DCE6-3988-4478-A815-E40D593FC411}"/>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rectified linear unit keeps positive inputs and sets negative</a:t>
            </a:r>
          </a:p>
        </p:txBody>
      </p:sp>
      <p:sp>
        <p:nvSpPr>
          <p:cNvPr id="5" name="concept-35-definition-1">
            <a:extLst xmlns:a="http://schemas.openxmlformats.org/drawingml/2006/main">
              <a:ext uri="{FF2B5EF4-FFF2-40B4-BE49-F238E27FC236}">
                <a16:creationId xmlns:a16="http://schemas.microsoft.com/office/drawing/2014/main" id="{AB9BE0DA-6F58-49C3-9368-477A06586071}"/>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inputs to zero. It is a piecewise-linear activation.</a:t>
            </a:r>
          </a:p>
        </p:txBody>
      </p:sp>
      <p:sp>
        <p:nvSpPr>
          <p:cNvPr id="6" name="concept-35-formula-0">
            <a:extLst xmlns:a="http://schemas.openxmlformats.org/drawingml/2006/main">
              <a:ext uri="{FF2B5EF4-FFF2-40B4-BE49-F238E27FC236}">
                <a16:creationId xmlns:a16="http://schemas.microsoft.com/office/drawing/2014/main" id="{C1E8E46A-D046-44F8-8F7F-9D1669EBEE25}"/>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ReLU(z) = max(0, z)</a:t>
            </a:r>
          </a:p>
        </p:txBody>
      </p:sp>
      <p:sp>
        <p:nvSpPr>
          <p:cNvPr id="7" name="concept-35-example-label-0">
            <a:extLst xmlns:a="http://schemas.openxmlformats.org/drawingml/2006/main">
              <a:ext uri="{FF2B5EF4-FFF2-40B4-BE49-F238E27FC236}">
                <a16:creationId xmlns:a16="http://schemas.microsoft.com/office/drawing/2014/main" id="{A7A157C2-E530-4239-9847-561476A726AE}"/>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35-example-0">
            <a:extLst xmlns:a="http://schemas.openxmlformats.org/drawingml/2006/main">
              <a:ext uri="{FF2B5EF4-FFF2-40B4-BE49-F238E27FC236}">
                <a16:creationId xmlns:a16="http://schemas.microsoft.com/office/drawing/2014/main" id="{93C1786D-7326-49BE-8797-D92ED8872CDA}"/>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ReLU(−3) = 0; ReLU(2) = 2. Its slope is 0 below zero and 1</a:t>
            </a:r>
          </a:p>
        </p:txBody>
      </p:sp>
      <p:sp>
        <p:nvSpPr>
          <p:cNvPr id="9" name="concept-35-example-1">
            <a:extLst xmlns:a="http://schemas.openxmlformats.org/drawingml/2006/main">
              <a:ext uri="{FF2B5EF4-FFF2-40B4-BE49-F238E27FC236}">
                <a16:creationId xmlns:a16="http://schemas.microsoft.com/office/drawing/2014/main" id="{728C6D9C-2C41-463B-90F5-1AE2B5AAA2F8}"/>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above zero.</a:t>
            </a:r>
          </a:p>
        </p:txBody>
      </p:sp>
      <p:sp>
        <p:nvSpPr>
          <p:cNvPr id="10" name="concept-35-metaphor-label-0">
            <a:extLst xmlns:a="http://schemas.openxmlformats.org/drawingml/2006/main">
              <a:ext uri="{FF2B5EF4-FFF2-40B4-BE49-F238E27FC236}">
                <a16:creationId xmlns:a16="http://schemas.microsoft.com/office/drawing/2014/main" id="{2B2B6B80-D62E-4CD7-9492-EF555728D67D}"/>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35-metaphor-0">
            <a:extLst xmlns:a="http://schemas.openxmlformats.org/drawingml/2006/main">
              <a:ext uri="{FF2B5EF4-FFF2-40B4-BE49-F238E27FC236}">
                <a16:creationId xmlns:a16="http://schemas.microsoft.com/office/drawing/2014/main" id="{978C1D22-57ED-47AE-B860-A12EC3475C54}"/>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one-way gate blocks negative signals and lets positive ones</a:t>
            </a:r>
          </a:p>
        </p:txBody>
      </p:sp>
      <p:sp>
        <p:nvSpPr>
          <p:cNvPr id="12" name="concept-35-metaphor-1">
            <a:extLst xmlns:a="http://schemas.openxmlformats.org/drawingml/2006/main">
              <a:ext uri="{FF2B5EF4-FFF2-40B4-BE49-F238E27FC236}">
                <a16:creationId xmlns:a16="http://schemas.microsoft.com/office/drawing/2014/main" id="{40203137-FB64-4A3F-A29C-771CB3104C5F}"/>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pass unchanged.</a:t>
            </a:r>
          </a:p>
        </p:txBody>
      </p:sp>
      <p:sp>
        <p:nvSpPr>
          <p:cNvPr id="13" name="concept-35-footer-0">
            <a:extLst xmlns:a="http://schemas.openxmlformats.org/drawingml/2006/main">
              <a:ext uri="{FF2B5EF4-FFF2-40B4-BE49-F238E27FC236}">
                <a16:creationId xmlns:a16="http://schemas.microsoft.com/office/drawing/2014/main" id="{20027642-D8CD-4B24-88EE-911CFAB1782F}"/>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Forward pass</a:t>
            </a:r>
          </a:p>
        </p:txBody>
      </p:sp>
    </p:spTree>
    <p:extLst>
      <p:ext uri="{BB962C8B-B14F-4D97-AF65-F5344CB8AC3E}">
        <p14:creationId xmlns:p14="http://schemas.microsoft.com/office/powerpoint/2010/main" val="138049457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36-chapter-0">
            <a:extLst xmlns:a="http://schemas.openxmlformats.org/drawingml/2006/main">
              <a:ext uri="{FF2B5EF4-FFF2-40B4-BE49-F238E27FC236}">
                <a16:creationId xmlns:a16="http://schemas.microsoft.com/office/drawing/2014/main" id="{18C58D8A-E376-4C7F-926E-11E373E2B93B}"/>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036 / 100 · LEARNING FROM DATA</a:t>
            </a:r>
          </a:p>
        </p:txBody>
      </p:sp>
      <p:sp>
        <p:nvSpPr>
          <p:cNvPr id="2" name="concept-36-title-0">
            <a:extLst xmlns:a="http://schemas.openxmlformats.org/drawingml/2006/main">
              <a:ext uri="{FF2B5EF4-FFF2-40B4-BE49-F238E27FC236}">
                <a16:creationId xmlns:a16="http://schemas.microsoft.com/office/drawing/2014/main" id="{205A3BBB-973A-4B1F-85F8-6452EE6B9C42}"/>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Forward pass</a:t>
            </a:r>
          </a:p>
        </p:txBody>
      </p:sp>
      <p:sp>
        <p:nvSpPr>
          <p:cNvPr id="3" name="concept-36-definition-label-0">
            <a:extLst xmlns:a="http://schemas.openxmlformats.org/drawingml/2006/main">
              <a:ext uri="{FF2B5EF4-FFF2-40B4-BE49-F238E27FC236}">
                <a16:creationId xmlns:a16="http://schemas.microsoft.com/office/drawing/2014/main" id="{726DBC43-0A07-442E-B4BD-D7BF5A8855A3}"/>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36-definition-0">
            <a:extLst xmlns:a="http://schemas.openxmlformats.org/drawingml/2006/main">
              <a:ext uri="{FF2B5EF4-FFF2-40B4-BE49-F238E27FC236}">
                <a16:creationId xmlns:a16="http://schemas.microsoft.com/office/drawing/2014/main" id="{DD14F6CB-86F6-4794-9010-8133F7959500}"/>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forward pass computes a model’s output using its current</a:t>
            </a:r>
          </a:p>
        </p:txBody>
      </p:sp>
      <p:sp>
        <p:nvSpPr>
          <p:cNvPr id="5" name="concept-36-definition-1">
            <a:extLst xmlns:a="http://schemas.openxmlformats.org/drawingml/2006/main">
              <a:ext uri="{FF2B5EF4-FFF2-40B4-BE49-F238E27FC236}">
                <a16:creationId xmlns:a16="http://schemas.microsoft.com/office/drawing/2014/main" id="{FFFED0F4-C9CB-48DF-AC21-DA4B1426F762}"/>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weights. Intermediate results follow a computation graph: the</a:t>
            </a:r>
          </a:p>
        </p:txBody>
      </p:sp>
      <p:sp>
        <p:nvSpPr>
          <p:cNvPr id="6" name="concept-36-definition-2">
            <a:extLst xmlns:a="http://schemas.openxmlformats.org/drawingml/2006/main">
              <a:ext uri="{FF2B5EF4-FFF2-40B4-BE49-F238E27FC236}">
                <a16:creationId xmlns:a16="http://schemas.microsoft.com/office/drawing/2014/main" id="{31F05F02-3646-4BAE-92A7-9F7B34B5C0B0}"/>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sequence of calculations connecting input to output.</a:t>
            </a:r>
          </a:p>
        </p:txBody>
      </p:sp>
      <p:sp>
        <p:nvSpPr>
          <p:cNvPr id="7" name="concept-36-formula-0">
            <a:extLst xmlns:a="http://schemas.openxmlformats.org/drawingml/2006/main">
              <a:ext uri="{FF2B5EF4-FFF2-40B4-BE49-F238E27FC236}">
                <a16:creationId xmlns:a16="http://schemas.microsoft.com/office/drawing/2014/main" id="{2B9C10A8-5ADB-48C0-9EBB-A117B8AAA799}"/>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Example model: ŷ = wx; training loss: L = (ŷ − y)²</a:t>
            </a:r>
          </a:p>
        </p:txBody>
      </p:sp>
      <p:sp>
        <p:nvSpPr>
          <p:cNvPr id="8" name="concept-36-example-label-0">
            <a:extLst xmlns:a="http://schemas.openxmlformats.org/drawingml/2006/main">
              <a:ext uri="{FF2B5EF4-FFF2-40B4-BE49-F238E27FC236}">
                <a16:creationId xmlns:a16="http://schemas.microsoft.com/office/drawing/2014/main" id="{094D5760-6510-4A65-B735-C2F22CB1EB0D}"/>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36-example-0">
            <a:extLst xmlns:a="http://schemas.openxmlformats.org/drawingml/2006/main">
              <a:ext uri="{FF2B5EF4-FFF2-40B4-BE49-F238E27FC236}">
                <a16:creationId xmlns:a16="http://schemas.microsoft.com/office/drawing/2014/main" id="{C96A554A-0D9D-470B-9732-3C63C6673ED0}"/>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With x = 2 and w = 1, predict ŷ = 2. If the target is y = 6, the</a:t>
            </a:r>
          </a:p>
        </p:txBody>
      </p:sp>
      <p:sp>
        <p:nvSpPr>
          <p:cNvPr id="14" name="concept-36-example-1">
            <a:extLst xmlns:a="http://schemas.openxmlformats.org/drawingml/2006/main">
              <a:ext uri="{FF2B5EF4-FFF2-40B4-BE49-F238E27FC236}">
                <a16:creationId xmlns:a16="http://schemas.microsoft.com/office/drawing/2014/main" id="{6C414A99-8578-45C1-AEC2-CDCF3F39E255}"/>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loss is (2−6)² = 16. The weight is still 1.</a:t>
            </a:r>
          </a:p>
        </p:txBody>
      </p:sp>
      <p:sp>
        <p:nvSpPr>
          <p:cNvPr id="10" name="concept-36-metaphor-label-0">
            <a:extLst xmlns:a="http://schemas.openxmlformats.org/drawingml/2006/main">
              <a:ext uri="{FF2B5EF4-FFF2-40B4-BE49-F238E27FC236}">
                <a16:creationId xmlns:a16="http://schemas.microsoft.com/office/drawing/2014/main" id="{9D73FB14-5AE8-43F0-9F1D-BD557E20A8D3}"/>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36-metaphor-0">
            <a:extLst xmlns:a="http://schemas.openxmlformats.org/drawingml/2006/main">
              <a:ext uri="{FF2B5EF4-FFF2-40B4-BE49-F238E27FC236}">
                <a16:creationId xmlns:a16="http://schemas.microsoft.com/office/drawing/2014/main" id="{B2FF2FBE-74FA-4A35-99E3-B9BDC1B596AF}"/>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Run ingredients through the workshop to see the current</a:t>
            </a:r>
          </a:p>
        </p:txBody>
      </p:sp>
      <p:sp>
        <p:nvSpPr>
          <p:cNvPr id="12" name="concept-36-metaphor-1">
            <a:extLst xmlns:a="http://schemas.openxmlformats.org/drawingml/2006/main">
              <a:ext uri="{FF2B5EF4-FFF2-40B4-BE49-F238E27FC236}">
                <a16:creationId xmlns:a16="http://schemas.microsoft.com/office/drawing/2014/main" id="{7D2D0DDE-EB98-41F2-BFD6-0FE4960B0716}"/>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product before changing the machines.</a:t>
            </a:r>
          </a:p>
        </p:txBody>
      </p:sp>
      <p:sp>
        <p:nvSpPr>
          <p:cNvPr id="13" name="concept-36-footer-0">
            <a:extLst xmlns:a="http://schemas.openxmlformats.org/drawingml/2006/main">
              <a:ext uri="{FF2B5EF4-FFF2-40B4-BE49-F238E27FC236}">
                <a16:creationId xmlns:a16="http://schemas.microsoft.com/office/drawing/2014/main" id="{8476B41F-7D98-44EA-8454-1070A30EA7EC}"/>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Backpropagation</a:t>
            </a:r>
          </a:p>
        </p:txBody>
      </p:sp>
    </p:spTree>
    <p:extLst>
      <p:ext uri="{BB962C8B-B14F-4D97-AF65-F5344CB8AC3E}">
        <p14:creationId xmlns:p14="http://schemas.microsoft.com/office/powerpoint/2010/main" val="127210909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37-chapter-0">
            <a:extLst xmlns:a="http://schemas.openxmlformats.org/drawingml/2006/main">
              <a:ext uri="{FF2B5EF4-FFF2-40B4-BE49-F238E27FC236}">
                <a16:creationId xmlns:a16="http://schemas.microsoft.com/office/drawing/2014/main" id="{C953F2E6-437F-4DF2-A732-ED6C99C4021B}"/>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037 / 100 · LEARNING FROM DATA</a:t>
            </a:r>
          </a:p>
        </p:txBody>
      </p:sp>
      <p:sp>
        <p:nvSpPr>
          <p:cNvPr id="2" name="concept-37-title-0">
            <a:extLst xmlns:a="http://schemas.openxmlformats.org/drawingml/2006/main">
              <a:ext uri="{FF2B5EF4-FFF2-40B4-BE49-F238E27FC236}">
                <a16:creationId xmlns:a16="http://schemas.microsoft.com/office/drawing/2014/main" id="{91E8B1A6-E4C0-4034-A0E4-E222206EBDB0}"/>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Backpropagation</a:t>
            </a:r>
          </a:p>
        </p:txBody>
      </p:sp>
      <p:sp>
        <p:nvSpPr>
          <p:cNvPr id="3" name="concept-37-definition-label-0">
            <a:extLst xmlns:a="http://schemas.openxmlformats.org/drawingml/2006/main">
              <a:ext uri="{FF2B5EF4-FFF2-40B4-BE49-F238E27FC236}">
                <a16:creationId xmlns:a16="http://schemas.microsoft.com/office/drawing/2014/main" id="{D6655637-03A2-4034-A65D-A60882E03496}"/>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37-definition-0">
            <a:extLst xmlns:a="http://schemas.openxmlformats.org/drawingml/2006/main">
              <a:ext uri="{FF2B5EF4-FFF2-40B4-BE49-F238E27FC236}">
                <a16:creationId xmlns:a16="http://schemas.microsoft.com/office/drawing/2014/main" id="{4F716A29-941F-44EF-8E76-862C0A81E133}"/>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Backpropagation applies the chain rule backward through a</a:t>
            </a:r>
          </a:p>
        </p:txBody>
      </p:sp>
      <p:sp>
        <p:nvSpPr>
          <p:cNvPr id="5" name="concept-37-definition-1">
            <a:extLst xmlns:a="http://schemas.openxmlformats.org/drawingml/2006/main">
              <a:ext uri="{FF2B5EF4-FFF2-40B4-BE49-F238E27FC236}">
                <a16:creationId xmlns:a16="http://schemas.microsoft.com/office/drawing/2014/main" id="{8B57C898-36EC-4646-BD98-9FB45AF2BBDC}"/>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model to compute how its loss changes with each weight. It</a:t>
            </a:r>
          </a:p>
        </p:txBody>
      </p:sp>
      <p:sp>
        <p:nvSpPr>
          <p:cNvPr id="6" name="concept-37-definition-2">
            <a:extLst xmlns:a="http://schemas.openxmlformats.org/drawingml/2006/main">
              <a:ext uri="{FF2B5EF4-FFF2-40B4-BE49-F238E27FC236}">
                <a16:creationId xmlns:a16="http://schemas.microsoft.com/office/drawing/2014/main" id="{2AA0E3C1-60A2-4552-A6F6-BCD8996DCC6D}"/>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calculates gradients; a separate update changes the weights.</a:t>
            </a:r>
          </a:p>
        </p:txBody>
      </p:sp>
      <p:sp>
        <p:nvSpPr>
          <p:cNvPr id="7" name="concept-37-formula-0">
            <a:extLst xmlns:a="http://schemas.openxmlformats.org/drawingml/2006/main">
              <a:ext uri="{FF2B5EF4-FFF2-40B4-BE49-F238E27FC236}">
                <a16:creationId xmlns:a16="http://schemas.microsoft.com/office/drawing/2014/main" id="{53EF6950-17ED-457D-8722-A22871A4F2D0}"/>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∂L/∂w = (∂L/∂ŷ)(∂ŷ/∂w) = 2(ŷ − y)x</a:t>
            </a:r>
          </a:p>
        </p:txBody>
      </p:sp>
      <p:sp>
        <p:nvSpPr>
          <p:cNvPr id="8" name="concept-37-example-label-0">
            <a:extLst xmlns:a="http://schemas.openxmlformats.org/drawingml/2006/main">
              <a:ext uri="{FF2B5EF4-FFF2-40B4-BE49-F238E27FC236}">
                <a16:creationId xmlns:a16="http://schemas.microsoft.com/office/drawing/2014/main" id="{40726BEB-4311-4AB1-AAE8-6F04BE5FEC8D}"/>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37-example-0">
            <a:extLst xmlns:a="http://schemas.openxmlformats.org/drawingml/2006/main">
              <a:ext uri="{FF2B5EF4-FFF2-40B4-BE49-F238E27FC236}">
                <a16:creationId xmlns:a16="http://schemas.microsoft.com/office/drawing/2014/main" id="{5C879D37-86F3-484E-8AC9-9C603BF2E577}"/>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ŷ = wx, x = 2, w = 1, y = 6: ŷ = 2. The local derivatives are</a:t>
            </a:r>
          </a:p>
        </p:txBody>
      </p:sp>
      <p:sp>
        <p:nvSpPr>
          <p:cNvPr id="14" name="concept-37-example-1">
            <a:extLst xmlns:a="http://schemas.openxmlformats.org/drawingml/2006/main">
              <a:ext uri="{FF2B5EF4-FFF2-40B4-BE49-F238E27FC236}">
                <a16:creationId xmlns:a16="http://schemas.microsoft.com/office/drawing/2014/main" id="{28AE4295-4575-4913-9B69-D96043DA4CC4}"/>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2(2−6) = −8 and x = 2. Multiply: ∂L/∂w = −16.</a:t>
            </a:r>
          </a:p>
        </p:txBody>
      </p:sp>
      <p:sp>
        <p:nvSpPr>
          <p:cNvPr id="10" name="concept-37-metaphor-label-0">
            <a:extLst xmlns:a="http://schemas.openxmlformats.org/drawingml/2006/main">
              <a:ext uri="{FF2B5EF4-FFF2-40B4-BE49-F238E27FC236}">
                <a16:creationId xmlns:a16="http://schemas.microsoft.com/office/drawing/2014/main" id="{75772177-D350-49EC-9D83-16C6641C9E5A}"/>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37-metaphor-0">
            <a:extLst xmlns:a="http://schemas.openxmlformats.org/drawingml/2006/main">
              <a:ext uri="{FF2B5EF4-FFF2-40B4-BE49-F238E27FC236}">
                <a16:creationId xmlns:a16="http://schemas.microsoft.com/office/drawing/2014/main" id="{B1A746C0-D5A3-4A7B-9A51-06BE470728E4}"/>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Trace a faulty product backward through the workshop to</a:t>
            </a:r>
          </a:p>
        </p:txBody>
      </p:sp>
      <p:sp>
        <p:nvSpPr>
          <p:cNvPr id="12" name="concept-37-metaphor-1">
            <a:extLst xmlns:a="http://schemas.openxmlformats.org/drawingml/2006/main">
              <a:ext uri="{FF2B5EF4-FFF2-40B4-BE49-F238E27FC236}">
                <a16:creationId xmlns:a16="http://schemas.microsoft.com/office/drawing/2014/main" id="{4939D662-0BAF-43ED-9B09-DA8436D84C65}"/>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measure each station's contribution.</a:t>
            </a:r>
          </a:p>
        </p:txBody>
      </p:sp>
      <p:sp>
        <p:nvSpPr>
          <p:cNvPr id="13" name="concept-37-footer-0">
            <a:extLst xmlns:a="http://schemas.openxmlformats.org/drawingml/2006/main">
              <a:ext uri="{FF2B5EF4-FFF2-40B4-BE49-F238E27FC236}">
                <a16:creationId xmlns:a16="http://schemas.microsoft.com/office/drawing/2014/main" id="{D452A4A8-0E2C-4E3D-B31C-53670791A65F}"/>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Mini-batch gradient descent</a:t>
            </a:r>
          </a:p>
        </p:txBody>
      </p:sp>
    </p:spTree>
    <p:extLst>
      <p:ext uri="{BB962C8B-B14F-4D97-AF65-F5344CB8AC3E}">
        <p14:creationId xmlns:p14="http://schemas.microsoft.com/office/powerpoint/2010/main" val="151022085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38-chapter-0">
            <a:extLst xmlns:a="http://schemas.openxmlformats.org/drawingml/2006/main">
              <a:ext uri="{FF2B5EF4-FFF2-40B4-BE49-F238E27FC236}">
                <a16:creationId xmlns:a16="http://schemas.microsoft.com/office/drawing/2014/main" id="{09C375B6-AA0B-4508-B1D4-263B25D4991A}"/>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038 / 100 · LEARNING FROM DATA</a:t>
            </a:r>
          </a:p>
        </p:txBody>
      </p:sp>
      <p:sp>
        <p:nvSpPr>
          <p:cNvPr id="2" name="concept-38-title-0">
            <a:extLst xmlns:a="http://schemas.openxmlformats.org/drawingml/2006/main">
              <a:ext uri="{FF2B5EF4-FFF2-40B4-BE49-F238E27FC236}">
                <a16:creationId xmlns:a16="http://schemas.microsoft.com/office/drawing/2014/main" id="{F2FBEDD5-93FE-40DD-9D1E-2089CC6DEA39}"/>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Mini-batch gradient descent</a:t>
            </a:r>
          </a:p>
        </p:txBody>
      </p:sp>
      <p:sp>
        <p:nvSpPr>
          <p:cNvPr id="3" name="concept-38-definition-label-0">
            <a:extLst xmlns:a="http://schemas.openxmlformats.org/drawingml/2006/main">
              <a:ext uri="{FF2B5EF4-FFF2-40B4-BE49-F238E27FC236}">
                <a16:creationId xmlns:a16="http://schemas.microsoft.com/office/drawing/2014/main" id="{DDC97759-1E9A-41D0-A847-B198794EB999}"/>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38-definition-0">
            <a:extLst xmlns:a="http://schemas.openxmlformats.org/drawingml/2006/main">
              <a:ext uri="{FF2B5EF4-FFF2-40B4-BE49-F238E27FC236}">
                <a16:creationId xmlns:a16="http://schemas.microsoft.com/office/drawing/2014/main" id="{4ABA1A74-4F76-4AA1-B4A5-E5E1411ED666}"/>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Mini-batch stochastic gradient descent estimates a training</a:t>
            </a:r>
          </a:p>
        </p:txBody>
      </p:sp>
      <p:sp>
        <p:nvSpPr>
          <p:cNvPr id="5" name="concept-38-definition-1">
            <a:extLst xmlns:a="http://schemas.openxmlformats.org/drawingml/2006/main">
              <a:ext uri="{FF2B5EF4-FFF2-40B4-BE49-F238E27FC236}">
                <a16:creationId xmlns:a16="http://schemas.microsoft.com/office/drawing/2014/main" id="{CC368AF4-74B8-44C9-9A64-EE2847376A59}"/>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gradient using a subset B of examples, then updates the</a:t>
            </a:r>
          </a:p>
        </p:txBody>
      </p:sp>
      <p:sp>
        <p:nvSpPr>
          <p:cNvPr id="6" name="concept-38-definition-2">
            <a:extLst xmlns:a="http://schemas.openxmlformats.org/drawingml/2006/main">
              <a:ext uri="{FF2B5EF4-FFF2-40B4-BE49-F238E27FC236}">
                <a16:creationId xmlns:a16="http://schemas.microsoft.com/office/drawing/2014/main" id="{49AAAB3D-BAFA-4975-A7A3-613CA8CF477C}"/>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parameters.</a:t>
            </a:r>
          </a:p>
        </p:txBody>
      </p:sp>
      <p:sp>
        <p:nvSpPr>
          <p:cNvPr id="7" name="concept-38-formula-0">
            <a:extLst xmlns:a="http://schemas.openxmlformats.org/drawingml/2006/main">
              <a:ext uri="{FF2B5EF4-FFF2-40B4-BE49-F238E27FC236}">
                <a16:creationId xmlns:a16="http://schemas.microsoft.com/office/drawing/2014/main" id="{0B8A6187-05A9-4124-9A43-93E150C57FCE}"/>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gᴮ = Σᵢ∈B ∇ℓᵢ / size(B); θ⁺ = θ − ηgᴮ</a:t>
            </a:r>
          </a:p>
        </p:txBody>
      </p:sp>
      <p:sp>
        <p:nvSpPr>
          <p:cNvPr id="8" name="concept-38-example-label-0">
            <a:extLst xmlns:a="http://schemas.openxmlformats.org/drawingml/2006/main">
              <a:ext uri="{FF2B5EF4-FFF2-40B4-BE49-F238E27FC236}">
                <a16:creationId xmlns:a16="http://schemas.microsoft.com/office/drawing/2014/main" id="{39184D3B-4D07-4455-B6CF-10DEA808837D}"/>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38-example-0">
            <a:extLst xmlns:a="http://schemas.openxmlformats.org/drawingml/2006/main">
              <a:ext uri="{FF2B5EF4-FFF2-40B4-BE49-F238E27FC236}">
                <a16:creationId xmlns:a16="http://schemas.microsoft.com/office/drawing/2014/main" id="{5ACD0CDE-7395-4537-B132-CB074824CE19}"/>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Two examples give gradients 2 and 6, averaging to 4. With θ =</a:t>
            </a:r>
          </a:p>
        </p:txBody>
      </p:sp>
      <p:sp>
        <p:nvSpPr>
          <p:cNvPr id="10" name="concept-38-example-1">
            <a:extLst xmlns:a="http://schemas.openxmlformats.org/drawingml/2006/main">
              <a:ext uri="{FF2B5EF4-FFF2-40B4-BE49-F238E27FC236}">
                <a16:creationId xmlns:a16="http://schemas.microsoft.com/office/drawing/2014/main" id="{D7C61ABF-5F4A-4CCE-9DAA-B93863190D74}"/>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1 and η = 0.1, the update is θ⁺ = 1 − 0.1×4 = 0.6.</a:t>
            </a:r>
          </a:p>
        </p:txBody>
      </p:sp>
      <p:sp>
        <p:nvSpPr>
          <p:cNvPr id="11" name="concept-38-metaphor-label-0">
            <a:extLst xmlns:a="http://schemas.openxmlformats.org/drawingml/2006/main">
              <a:ext uri="{FF2B5EF4-FFF2-40B4-BE49-F238E27FC236}">
                <a16:creationId xmlns:a16="http://schemas.microsoft.com/office/drawing/2014/main" id="{F435C076-E565-4F1A-951B-7B922EB1FC7A}"/>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38-metaphor-0">
            <a:extLst xmlns:a="http://schemas.openxmlformats.org/drawingml/2006/main">
              <a:ext uri="{FF2B5EF4-FFF2-40B4-BE49-F238E27FC236}">
                <a16:creationId xmlns:a16="http://schemas.microsoft.com/office/drawing/2014/main" id="{18D6D7FE-53AC-49FD-A220-2E3F6B04E621}"/>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Taste a small spoonful of soup before adjusting the whole pot.</a:t>
            </a:r>
          </a:p>
        </p:txBody>
      </p:sp>
      <p:sp>
        <p:nvSpPr>
          <p:cNvPr id="13" name="concept-38-footer-0">
            <a:extLst xmlns:a="http://schemas.openxmlformats.org/drawingml/2006/main">
              <a:ext uri="{FF2B5EF4-FFF2-40B4-BE49-F238E27FC236}">
                <a16:creationId xmlns:a16="http://schemas.microsoft.com/office/drawing/2014/main" id="{FFC1C4DE-E0AC-40C4-981A-1E1FE6ADDDEC}"/>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Epoch</a:t>
            </a:r>
          </a:p>
        </p:txBody>
      </p:sp>
    </p:spTree>
    <p:extLst>
      <p:ext uri="{BB962C8B-B14F-4D97-AF65-F5344CB8AC3E}">
        <p14:creationId xmlns:p14="http://schemas.microsoft.com/office/powerpoint/2010/main" val="18168606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39-chapter-0">
            <a:extLst xmlns:a="http://schemas.openxmlformats.org/drawingml/2006/main">
              <a:ext uri="{FF2B5EF4-FFF2-40B4-BE49-F238E27FC236}">
                <a16:creationId xmlns:a16="http://schemas.microsoft.com/office/drawing/2014/main" id="{716F0B23-57AB-418E-8B71-959F2282996A}"/>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039 / 100 · LEARNING FROM DATA</a:t>
            </a:r>
          </a:p>
        </p:txBody>
      </p:sp>
      <p:sp>
        <p:nvSpPr>
          <p:cNvPr id="2" name="concept-39-title-0">
            <a:extLst xmlns:a="http://schemas.openxmlformats.org/drawingml/2006/main">
              <a:ext uri="{FF2B5EF4-FFF2-40B4-BE49-F238E27FC236}">
                <a16:creationId xmlns:a16="http://schemas.microsoft.com/office/drawing/2014/main" id="{1F2306A6-5E64-403E-B510-BE3508BB13B1}"/>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Epoch</a:t>
            </a:r>
          </a:p>
        </p:txBody>
      </p:sp>
      <p:sp>
        <p:nvSpPr>
          <p:cNvPr id="3" name="concept-39-definition-label-0">
            <a:extLst xmlns:a="http://schemas.openxmlformats.org/drawingml/2006/main">
              <a:ext uri="{FF2B5EF4-FFF2-40B4-BE49-F238E27FC236}">
                <a16:creationId xmlns:a16="http://schemas.microsoft.com/office/drawing/2014/main" id="{C40112F2-E43E-436E-AE9F-BABE9CC71DC1}"/>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39-definition-0">
            <a:extLst xmlns:a="http://schemas.openxmlformats.org/drawingml/2006/main">
              <a:ext uri="{FF2B5EF4-FFF2-40B4-BE49-F238E27FC236}">
                <a16:creationId xmlns:a16="http://schemas.microsoft.com/office/drawing/2014/main" id="{9C0DE83E-1197-4418-BBDE-E5DBA286DF53}"/>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epoch is one pass through a training dataset. A step is one</a:t>
            </a:r>
          </a:p>
        </p:txBody>
      </p:sp>
      <p:sp>
        <p:nvSpPr>
          <p:cNvPr id="5" name="concept-39-definition-1">
            <a:extLst xmlns:a="http://schemas.openxmlformats.org/drawingml/2006/main">
              <a:ext uri="{FF2B5EF4-FFF2-40B4-BE49-F238E27FC236}">
                <a16:creationId xmlns:a16="http://schemas.microsoft.com/office/drawing/2014/main" id="{0039672A-F8AB-4120-A748-29FB1412F0BD}"/>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parameter update, often using a mini-batch.</a:t>
            </a:r>
          </a:p>
        </p:txBody>
      </p:sp>
      <p:sp>
        <p:nvSpPr>
          <p:cNvPr id="6" name="concept-39-formula-0">
            <a:extLst xmlns:a="http://schemas.openxmlformats.org/drawingml/2006/main">
              <a:ext uri="{FF2B5EF4-FFF2-40B4-BE49-F238E27FC236}">
                <a16:creationId xmlns:a16="http://schemas.microsoft.com/office/drawing/2014/main" id="{5B2C3CFC-597C-46B6-A584-BA1978652972}"/>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steps per epoch = ceiling(N / B)</a:t>
            </a:r>
          </a:p>
        </p:txBody>
      </p:sp>
      <p:sp>
        <p:nvSpPr>
          <p:cNvPr id="7" name="concept-39-example-label-0">
            <a:extLst xmlns:a="http://schemas.openxmlformats.org/drawingml/2006/main">
              <a:ext uri="{FF2B5EF4-FFF2-40B4-BE49-F238E27FC236}">
                <a16:creationId xmlns:a16="http://schemas.microsoft.com/office/drawing/2014/main" id="{B005304E-BF91-4659-8C22-D8EF9FBB8C1D}"/>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39-example-0">
            <a:extLst xmlns:a="http://schemas.openxmlformats.org/drawingml/2006/main">
              <a:ext uri="{FF2B5EF4-FFF2-40B4-BE49-F238E27FC236}">
                <a16:creationId xmlns:a16="http://schemas.microsoft.com/office/drawing/2014/main" id="{E41CAC1C-9550-4403-B08F-4DFB26893BFA}"/>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With 100 examples and batch size 20, one epoch contains 5</a:t>
            </a:r>
          </a:p>
        </p:txBody>
      </p:sp>
      <p:sp>
        <p:nvSpPr>
          <p:cNvPr id="9" name="concept-39-example-1">
            <a:extLst xmlns:a="http://schemas.openxmlformats.org/drawingml/2006/main">
              <a:ext uri="{FF2B5EF4-FFF2-40B4-BE49-F238E27FC236}">
                <a16:creationId xmlns:a16="http://schemas.microsoft.com/office/drawing/2014/main" id="{D8BF7086-435B-411B-9D8F-88E1BE4ACFB1}"/>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steps; three epochs contain 15.</a:t>
            </a:r>
          </a:p>
        </p:txBody>
      </p:sp>
      <p:sp>
        <p:nvSpPr>
          <p:cNvPr id="10" name="concept-39-metaphor-label-0">
            <a:extLst xmlns:a="http://schemas.openxmlformats.org/drawingml/2006/main">
              <a:ext uri="{FF2B5EF4-FFF2-40B4-BE49-F238E27FC236}">
                <a16:creationId xmlns:a16="http://schemas.microsoft.com/office/drawing/2014/main" id="{B382D6A6-C61F-4FEF-8162-01BEFADE268C}"/>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39-metaphor-0">
            <a:extLst xmlns:a="http://schemas.openxmlformats.org/drawingml/2006/main">
              <a:ext uri="{FF2B5EF4-FFF2-40B4-BE49-F238E27FC236}">
                <a16:creationId xmlns:a16="http://schemas.microsoft.com/office/drawing/2014/main" id="{9B2EDDFA-16B0-48D8-8FDD-B71D7971D8BE}"/>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epoch is one complete lap; mini-batches are the strides</a:t>
            </a:r>
          </a:p>
        </p:txBody>
      </p:sp>
      <p:sp>
        <p:nvSpPr>
          <p:cNvPr id="12" name="concept-39-metaphor-1">
            <a:extLst xmlns:a="http://schemas.openxmlformats.org/drawingml/2006/main">
              <a:ext uri="{FF2B5EF4-FFF2-40B4-BE49-F238E27FC236}">
                <a16:creationId xmlns:a16="http://schemas.microsoft.com/office/drawing/2014/main" id="{7AB7D532-B722-4233-8DB6-34575A6C842F}"/>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within it.</a:t>
            </a:r>
          </a:p>
        </p:txBody>
      </p:sp>
      <p:sp>
        <p:nvSpPr>
          <p:cNvPr id="13" name="concept-39-footer-0">
            <a:extLst xmlns:a="http://schemas.openxmlformats.org/drawingml/2006/main">
              <a:ext uri="{FF2B5EF4-FFF2-40B4-BE49-F238E27FC236}">
                <a16:creationId xmlns:a16="http://schemas.microsoft.com/office/drawing/2014/main" id="{31AD1CAA-BA71-4D9D-8F08-DB541A84A789}"/>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Deep neural network</a:t>
            </a:r>
          </a:p>
        </p:txBody>
      </p:sp>
    </p:spTree>
    <p:extLst>
      <p:ext uri="{BB962C8B-B14F-4D97-AF65-F5344CB8AC3E}">
        <p14:creationId xmlns:p14="http://schemas.microsoft.com/office/powerpoint/2010/main" val="16037905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40-chapter-0">
            <a:extLst xmlns:a="http://schemas.openxmlformats.org/drawingml/2006/main">
              <a:ext uri="{FF2B5EF4-FFF2-40B4-BE49-F238E27FC236}">
                <a16:creationId xmlns:a16="http://schemas.microsoft.com/office/drawing/2014/main" id="{6F1E3547-2D26-47B9-9D74-ADBD427ED20A}"/>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040 / 100 · LEARNING FROM DATA</a:t>
            </a:r>
          </a:p>
        </p:txBody>
      </p:sp>
      <p:sp>
        <p:nvSpPr>
          <p:cNvPr id="2" name="concept-40-title-0">
            <a:extLst xmlns:a="http://schemas.openxmlformats.org/drawingml/2006/main">
              <a:ext uri="{FF2B5EF4-FFF2-40B4-BE49-F238E27FC236}">
                <a16:creationId xmlns:a16="http://schemas.microsoft.com/office/drawing/2014/main" id="{901BAB7E-C970-4A98-AD71-7B7F0B5A6C40}"/>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Deep neural network</a:t>
            </a:r>
          </a:p>
        </p:txBody>
      </p:sp>
      <p:sp>
        <p:nvSpPr>
          <p:cNvPr id="3" name="concept-40-definition-label-0">
            <a:extLst xmlns:a="http://schemas.openxmlformats.org/drawingml/2006/main">
              <a:ext uri="{FF2B5EF4-FFF2-40B4-BE49-F238E27FC236}">
                <a16:creationId xmlns:a16="http://schemas.microsoft.com/office/drawing/2014/main" id="{681CCA71-AA1F-46CF-B743-8B3A80C67CFE}"/>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40-definition-0">
            <a:extLst xmlns:a="http://schemas.openxmlformats.org/drawingml/2006/main">
              <a:ext uri="{FF2B5EF4-FFF2-40B4-BE49-F238E27FC236}">
                <a16:creationId xmlns:a16="http://schemas.microsoft.com/office/drawing/2014/main" id="{ACAC6CE1-E0CA-45A8-B364-65A79B01E5CC}"/>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deep neural network passes data through multiple hidden</a:t>
            </a:r>
          </a:p>
        </p:txBody>
      </p:sp>
      <p:sp>
        <p:nvSpPr>
          <p:cNvPr id="5" name="concept-40-definition-1">
            <a:extLst xmlns:a="http://schemas.openxmlformats.org/drawingml/2006/main">
              <a:ext uri="{FF2B5EF4-FFF2-40B4-BE49-F238E27FC236}">
                <a16:creationId xmlns:a16="http://schemas.microsoft.com/office/drawing/2014/main" id="{36A7FEBD-69A4-4984-BB2F-32B498AA6633}"/>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layers before producing its output. Each layer learns weights</a:t>
            </a:r>
          </a:p>
        </p:txBody>
      </p:sp>
      <p:sp>
        <p:nvSpPr>
          <p:cNvPr id="6" name="concept-40-definition-2">
            <a:extLst xmlns:a="http://schemas.openxmlformats.org/drawingml/2006/main">
              <a:ext uri="{FF2B5EF4-FFF2-40B4-BE49-F238E27FC236}">
                <a16:creationId xmlns:a16="http://schemas.microsoft.com/office/drawing/2014/main" id="{C670E710-83A9-4BDC-8CD6-6E095F5FEA29}"/>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and biases, usually followed by a nonlinear activation.</a:t>
            </a:r>
          </a:p>
        </p:txBody>
      </p:sp>
      <p:sp>
        <p:nvSpPr>
          <p:cNvPr id="7" name="concept-40-formula-0">
            <a:extLst xmlns:a="http://schemas.openxmlformats.org/drawingml/2006/main">
              <a:ext uri="{FF2B5EF4-FFF2-40B4-BE49-F238E27FC236}">
                <a16:creationId xmlns:a16="http://schemas.microsoft.com/office/drawing/2014/main" id="{BD8F8616-14B4-476B-B8DF-A3F49B4D335B}"/>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h₀ = x; hₗ = φₗ(Wₗhₗ₋₁ + bₗ)</a:t>
            </a:r>
          </a:p>
        </p:txBody>
      </p:sp>
      <p:sp>
        <p:nvSpPr>
          <p:cNvPr id="8" name="concept-40-example-label-0">
            <a:extLst xmlns:a="http://schemas.openxmlformats.org/drawingml/2006/main">
              <a:ext uri="{FF2B5EF4-FFF2-40B4-BE49-F238E27FC236}">
                <a16:creationId xmlns:a16="http://schemas.microsoft.com/office/drawing/2014/main" id="{8B55E64F-FEA0-482A-8547-D87F40A26A80}"/>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40-example-0">
            <a:extLst xmlns:a="http://schemas.openxmlformats.org/drawingml/2006/main">
              <a:ext uri="{FF2B5EF4-FFF2-40B4-BE49-F238E27FC236}">
                <a16:creationId xmlns:a16="http://schemas.microsoft.com/office/drawing/2014/main" id="{1720E7B8-B6DD-410D-9E1B-D4908D176291}"/>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At x = 2: h₁ = ReLU(2x−1) = 3; h₂ = ReLU(h₁−1) = 2; output y</a:t>
            </a:r>
          </a:p>
        </p:txBody>
      </p:sp>
      <p:sp>
        <p:nvSpPr>
          <p:cNvPr id="10" name="concept-40-example-1">
            <a:extLst xmlns:a="http://schemas.openxmlformats.org/drawingml/2006/main">
              <a:ext uri="{FF2B5EF4-FFF2-40B4-BE49-F238E27FC236}">
                <a16:creationId xmlns:a16="http://schemas.microsoft.com/office/drawing/2014/main" id="{6357C017-B4D1-427D-A33A-00767CA51FF0}"/>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 3h₂ = 6. These are two hidden layers and an output layer.</a:t>
            </a:r>
          </a:p>
        </p:txBody>
      </p:sp>
      <p:sp>
        <p:nvSpPr>
          <p:cNvPr id="11" name="concept-40-metaphor-label-0">
            <a:extLst xmlns:a="http://schemas.openxmlformats.org/drawingml/2006/main">
              <a:ext uri="{FF2B5EF4-FFF2-40B4-BE49-F238E27FC236}">
                <a16:creationId xmlns:a16="http://schemas.microsoft.com/office/drawing/2014/main" id="{935D593A-863C-4BC4-B149-650F1F6C98D9}"/>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40-metaphor-0">
            <a:extLst xmlns:a="http://schemas.openxmlformats.org/drawingml/2006/main">
              <a:ext uri="{FF2B5EF4-FFF2-40B4-BE49-F238E27FC236}">
                <a16:creationId xmlns:a16="http://schemas.microsoft.com/office/drawing/2014/main" id="{F3E10813-0618-4D90-8639-2B5F4E9FE047}"/>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workshop has successive stations: each transforms what the</a:t>
            </a:r>
          </a:p>
        </p:txBody>
      </p:sp>
      <p:sp>
        <p:nvSpPr>
          <p:cNvPr id="13" name="concept-40-metaphor-1">
            <a:extLst xmlns:a="http://schemas.openxmlformats.org/drawingml/2006/main">
              <a:ext uri="{FF2B5EF4-FFF2-40B4-BE49-F238E27FC236}">
                <a16:creationId xmlns:a16="http://schemas.microsoft.com/office/drawing/2014/main" id="{274B4007-6EB1-43A0-A730-85D5AAF31F4F}"/>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previous station produced.</a:t>
            </a:r>
          </a:p>
        </p:txBody>
      </p:sp>
      <p:sp>
        <p:nvSpPr>
          <p:cNvPr id="14" name="concept-40-footer-0">
            <a:extLst xmlns:a="http://schemas.openxmlformats.org/drawingml/2006/main">
              <a:ext uri="{FF2B5EF4-FFF2-40B4-BE49-F238E27FC236}">
                <a16:creationId xmlns:a16="http://schemas.microsoft.com/office/drawing/2014/main" id="{A2BA88F6-1EB4-44B2-AC86-6D1A88E1EF68}"/>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Overfitting</a:t>
            </a:r>
          </a:p>
        </p:txBody>
      </p:sp>
    </p:spTree>
    <p:extLst>
      <p:ext uri="{BB962C8B-B14F-4D97-AF65-F5344CB8AC3E}">
        <p14:creationId xmlns:p14="http://schemas.microsoft.com/office/powerpoint/2010/main" val="14107642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41-chapter-0">
            <a:extLst xmlns:a="http://schemas.openxmlformats.org/drawingml/2006/main">
              <a:ext uri="{FF2B5EF4-FFF2-40B4-BE49-F238E27FC236}">
                <a16:creationId xmlns:a16="http://schemas.microsoft.com/office/drawing/2014/main" id="{296EB7BF-CE7C-4A6D-8C14-C3ACCE0DCF8C}"/>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041 / 100 · LEARNING FROM DATA</a:t>
            </a:r>
          </a:p>
        </p:txBody>
      </p:sp>
      <p:sp>
        <p:nvSpPr>
          <p:cNvPr id="2" name="concept-41-title-0">
            <a:extLst xmlns:a="http://schemas.openxmlformats.org/drawingml/2006/main">
              <a:ext uri="{FF2B5EF4-FFF2-40B4-BE49-F238E27FC236}">
                <a16:creationId xmlns:a16="http://schemas.microsoft.com/office/drawing/2014/main" id="{35AD8DB5-E7BF-4BA8-8994-69E4BFEE9ACB}"/>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Overfitting</a:t>
            </a:r>
          </a:p>
        </p:txBody>
      </p:sp>
      <p:sp>
        <p:nvSpPr>
          <p:cNvPr id="3" name="concept-41-definition-label-0">
            <a:extLst xmlns:a="http://schemas.openxmlformats.org/drawingml/2006/main">
              <a:ext uri="{FF2B5EF4-FFF2-40B4-BE49-F238E27FC236}">
                <a16:creationId xmlns:a16="http://schemas.microsoft.com/office/drawing/2014/main" id="{1B042325-ABCB-4044-BEB7-BCF39BFA4977}"/>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41-definition-0">
            <a:extLst xmlns:a="http://schemas.openxmlformats.org/drawingml/2006/main">
              <a:ext uri="{FF2B5EF4-FFF2-40B4-BE49-F238E27FC236}">
                <a16:creationId xmlns:a16="http://schemas.microsoft.com/office/drawing/2014/main" id="{9F5CCC05-CF89-4470-A898-6317AC7D67E5}"/>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Overfitting occurs when a model learns training-specific details</a:t>
            </a:r>
          </a:p>
        </p:txBody>
      </p:sp>
      <p:sp>
        <p:nvSpPr>
          <p:cNvPr id="5" name="concept-41-definition-1">
            <a:extLst xmlns:a="http://schemas.openxmlformats.org/drawingml/2006/main">
              <a:ext uri="{FF2B5EF4-FFF2-40B4-BE49-F238E27FC236}">
                <a16:creationId xmlns:a16="http://schemas.microsoft.com/office/drawing/2014/main" id="{60A3FC63-82DA-4A63-B5B6-111877B06565}"/>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that do not generalize to the intended new data.</a:t>
            </a:r>
          </a:p>
        </p:txBody>
      </p:sp>
      <p:sp>
        <p:nvSpPr>
          <p:cNvPr id="6" name="concept-41-formula-0">
            <a:extLst xmlns:a="http://schemas.openxmlformats.org/drawingml/2006/main">
              <a:ext uri="{FF2B5EF4-FFF2-40B4-BE49-F238E27FC236}">
                <a16:creationId xmlns:a16="http://schemas.microsoft.com/office/drawing/2014/main" id="{6F42E823-6D96-48A7-87D0-580859DCF1C5}"/>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generalization gap = test error − training error</a:t>
            </a:r>
          </a:p>
        </p:txBody>
      </p:sp>
      <p:sp>
        <p:nvSpPr>
          <p:cNvPr id="7" name="concept-41-example-label-0">
            <a:extLst xmlns:a="http://schemas.openxmlformats.org/drawingml/2006/main">
              <a:ext uri="{FF2B5EF4-FFF2-40B4-BE49-F238E27FC236}">
                <a16:creationId xmlns:a16="http://schemas.microsoft.com/office/drawing/2014/main" id="{ED536D2F-A8FF-46A2-AE34-668E16B6C967}"/>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41-example-0">
            <a:extLst xmlns:a="http://schemas.openxmlformats.org/drawingml/2006/main">
              <a:ext uri="{FF2B5EF4-FFF2-40B4-BE49-F238E27FC236}">
                <a16:creationId xmlns:a16="http://schemas.microsoft.com/office/drawing/2014/main" id="{60D4AA1B-453E-42E9-9C50-47AAF49C0D24}"/>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model has 1% training error but 20% test error. Its measured</a:t>
            </a:r>
          </a:p>
        </p:txBody>
      </p:sp>
      <p:sp>
        <p:nvSpPr>
          <p:cNvPr id="9" name="concept-41-example-1">
            <a:extLst xmlns:a="http://schemas.openxmlformats.org/drawingml/2006/main">
              <a:ext uri="{FF2B5EF4-FFF2-40B4-BE49-F238E27FC236}">
                <a16:creationId xmlns:a16="http://schemas.microsoft.com/office/drawing/2014/main" id="{6751499E-68FF-46EA-995E-A3CCD050409C}"/>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gap is 19 percentage points.</a:t>
            </a:r>
          </a:p>
        </p:txBody>
      </p:sp>
      <p:sp>
        <p:nvSpPr>
          <p:cNvPr id="10" name="concept-41-metaphor-label-0">
            <a:extLst xmlns:a="http://schemas.openxmlformats.org/drawingml/2006/main">
              <a:ext uri="{FF2B5EF4-FFF2-40B4-BE49-F238E27FC236}">
                <a16:creationId xmlns:a16="http://schemas.microsoft.com/office/drawing/2014/main" id="{9139F054-CFF6-4D91-9294-BEFCF8B61088}"/>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41-metaphor-0">
            <a:extLst xmlns:a="http://schemas.openxmlformats.org/drawingml/2006/main">
              <a:ext uri="{FF2B5EF4-FFF2-40B4-BE49-F238E27FC236}">
                <a16:creationId xmlns:a16="http://schemas.microsoft.com/office/drawing/2014/main" id="{C007E6C6-41BE-44D4-B621-5119D0982D13}"/>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Memorizing the practice exam can look like understanding until</a:t>
            </a:r>
          </a:p>
        </p:txBody>
      </p:sp>
      <p:sp>
        <p:nvSpPr>
          <p:cNvPr id="12" name="concept-41-metaphor-1">
            <a:extLst xmlns:a="http://schemas.openxmlformats.org/drawingml/2006/main">
              <a:ext uri="{FF2B5EF4-FFF2-40B4-BE49-F238E27FC236}">
                <a16:creationId xmlns:a16="http://schemas.microsoft.com/office/drawing/2014/main" id="{EB9193DE-D1E7-43AD-A5C8-DAFB6744D639}"/>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questions change.</a:t>
            </a:r>
          </a:p>
        </p:txBody>
      </p:sp>
      <p:sp>
        <p:nvSpPr>
          <p:cNvPr id="13" name="concept-41-footer-0">
            <a:extLst xmlns:a="http://schemas.openxmlformats.org/drawingml/2006/main">
              <a:ext uri="{FF2B5EF4-FFF2-40B4-BE49-F238E27FC236}">
                <a16:creationId xmlns:a16="http://schemas.microsoft.com/office/drawing/2014/main" id="{9A0001BD-B599-4E98-B6B9-0B1D6B05D526}"/>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Regularization</a:t>
            </a:r>
          </a:p>
        </p:txBody>
      </p:sp>
    </p:spTree>
    <p:extLst>
      <p:ext uri="{BB962C8B-B14F-4D97-AF65-F5344CB8AC3E}">
        <p14:creationId xmlns:p14="http://schemas.microsoft.com/office/powerpoint/2010/main" val="191577980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42-chapter-0">
            <a:extLst xmlns:a="http://schemas.openxmlformats.org/drawingml/2006/main">
              <a:ext uri="{FF2B5EF4-FFF2-40B4-BE49-F238E27FC236}">
                <a16:creationId xmlns:a16="http://schemas.microsoft.com/office/drawing/2014/main" id="{024F6AD3-5252-4EAA-A804-F96376C4E963}"/>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042 / 100 · LEARNING FROM DATA</a:t>
            </a:r>
          </a:p>
        </p:txBody>
      </p:sp>
      <p:sp>
        <p:nvSpPr>
          <p:cNvPr id="2" name="concept-42-title-0">
            <a:extLst xmlns:a="http://schemas.openxmlformats.org/drawingml/2006/main">
              <a:ext uri="{FF2B5EF4-FFF2-40B4-BE49-F238E27FC236}">
                <a16:creationId xmlns:a16="http://schemas.microsoft.com/office/drawing/2014/main" id="{A8C9CDFD-4148-499A-B1B2-BE174A0F75E0}"/>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Regularization</a:t>
            </a:r>
          </a:p>
        </p:txBody>
      </p:sp>
      <p:sp>
        <p:nvSpPr>
          <p:cNvPr id="3" name="concept-42-definition-label-0">
            <a:extLst xmlns:a="http://schemas.openxmlformats.org/drawingml/2006/main">
              <a:ext uri="{FF2B5EF4-FFF2-40B4-BE49-F238E27FC236}">
                <a16:creationId xmlns:a16="http://schemas.microsoft.com/office/drawing/2014/main" id="{D82ECC15-119C-4857-9895-826D4A83CF45}"/>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42-definition-0">
            <a:extLst xmlns:a="http://schemas.openxmlformats.org/drawingml/2006/main">
              <a:ext uri="{FF2B5EF4-FFF2-40B4-BE49-F238E27FC236}">
                <a16:creationId xmlns:a16="http://schemas.microsoft.com/office/drawing/2014/main" id="{D7411C8D-8F21-4C5E-857A-C4F0349C7D85}"/>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Regularization limits how a model fits its training data to help it</a:t>
            </a:r>
          </a:p>
        </p:txBody>
      </p:sp>
      <p:sp>
        <p:nvSpPr>
          <p:cNvPr id="5" name="concept-42-definition-1">
            <a:extLst xmlns:a="http://schemas.openxmlformats.org/drawingml/2006/main">
              <a:ext uri="{FF2B5EF4-FFF2-40B4-BE49-F238E27FC236}">
                <a16:creationId xmlns:a16="http://schemas.microsoft.com/office/drawing/2014/main" id="{AC81258F-5C49-434D-8038-825DE2679A23}"/>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generalize. L2 regularization adds a penalty for large weights to</a:t>
            </a:r>
          </a:p>
        </p:txBody>
      </p:sp>
      <p:sp>
        <p:nvSpPr>
          <p:cNvPr id="6" name="concept-42-definition-2">
            <a:extLst xmlns:a="http://schemas.openxmlformats.org/drawingml/2006/main">
              <a:ext uri="{FF2B5EF4-FFF2-40B4-BE49-F238E27FC236}">
                <a16:creationId xmlns:a16="http://schemas.microsoft.com/office/drawing/2014/main" id="{EA9F11FE-377C-4E61-A5E3-35AAF88FAE8E}"/>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prediction loss.</a:t>
            </a:r>
          </a:p>
        </p:txBody>
      </p:sp>
      <p:sp>
        <p:nvSpPr>
          <p:cNvPr id="7" name="concept-42-formula-0">
            <a:extLst xmlns:a="http://schemas.openxmlformats.org/drawingml/2006/main">
              <a:ext uri="{FF2B5EF4-FFF2-40B4-BE49-F238E27FC236}">
                <a16:creationId xmlns:a16="http://schemas.microsoft.com/office/drawing/2014/main" id="{FC85D9B6-4586-479C-929C-959559989B6C}"/>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Lₜₒₜₐₗ = Ldata + λ‖w‖₂², λ ≥ 0</a:t>
            </a:r>
          </a:p>
        </p:txBody>
      </p:sp>
      <p:sp>
        <p:nvSpPr>
          <p:cNvPr id="8" name="concept-42-example-label-0">
            <a:extLst xmlns:a="http://schemas.openxmlformats.org/drawingml/2006/main">
              <a:ext uri="{FF2B5EF4-FFF2-40B4-BE49-F238E27FC236}">
                <a16:creationId xmlns:a16="http://schemas.microsoft.com/office/drawing/2014/main" id="{7C4DB0A7-E52A-45AC-8228-0AEC1F414D87}"/>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42-example-0">
            <a:extLst xmlns:a="http://schemas.openxmlformats.org/drawingml/2006/main">
              <a:ext uri="{FF2B5EF4-FFF2-40B4-BE49-F238E27FC236}">
                <a16:creationId xmlns:a16="http://schemas.microsoft.com/office/drawing/2014/main" id="{C5FC3A95-439A-42C5-9FCE-DFEFD5AD7C99}"/>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If Ldata = 2, w = (3, 4), and λ = 0.1, total loss = 2 + 0.1 × 25</a:t>
            </a:r>
          </a:p>
        </p:txBody>
      </p:sp>
      <p:sp>
        <p:nvSpPr>
          <p:cNvPr id="10" name="concept-42-example-1">
            <a:extLst xmlns:a="http://schemas.openxmlformats.org/drawingml/2006/main">
              <a:ext uri="{FF2B5EF4-FFF2-40B4-BE49-F238E27FC236}">
                <a16:creationId xmlns:a16="http://schemas.microsoft.com/office/drawing/2014/main" id="{217CD9D5-E204-4B97-8D15-6FD4F99D0439}"/>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 4.5.</a:t>
            </a:r>
          </a:p>
        </p:txBody>
      </p:sp>
      <p:sp>
        <p:nvSpPr>
          <p:cNvPr id="11" name="concept-42-metaphor-label-0">
            <a:extLst xmlns:a="http://schemas.openxmlformats.org/drawingml/2006/main">
              <a:ext uri="{FF2B5EF4-FFF2-40B4-BE49-F238E27FC236}">
                <a16:creationId xmlns:a16="http://schemas.microsoft.com/office/drawing/2014/main" id="{AC489E9A-D6C7-4936-B277-27D29B0BD3DB}"/>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42-metaphor-0">
            <a:extLst xmlns:a="http://schemas.openxmlformats.org/drawingml/2006/main">
              <a:ext uri="{FF2B5EF4-FFF2-40B4-BE49-F238E27FC236}">
                <a16:creationId xmlns:a16="http://schemas.microsoft.com/office/drawing/2014/main" id="{D16F13E3-4F27-4DB4-A965-AE7442508F66}"/>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Charge rent for very large knobs so the model needs a good</a:t>
            </a:r>
          </a:p>
        </p:txBody>
      </p:sp>
      <p:sp>
        <p:nvSpPr>
          <p:cNvPr id="13" name="concept-42-metaphor-1">
            <a:extLst xmlns:a="http://schemas.openxmlformats.org/drawingml/2006/main">
              <a:ext uri="{FF2B5EF4-FFF2-40B4-BE49-F238E27FC236}">
                <a16:creationId xmlns:a16="http://schemas.microsoft.com/office/drawing/2014/main" id="{BC86C38A-C4CE-4F60-BDD4-AAE61C989BFD}"/>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reason to turn them far.</a:t>
            </a:r>
          </a:p>
        </p:txBody>
      </p:sp>
      <p:sp>
        <p:nvSpPr>
          <p:cNvPr id="14" name="concept-42-footer-0">
            <a:extLst xmlns:a="http://schemas.openxmlformats.org/drawingml/2006/main">
              <a:ext uri="{FF2B5EF4-FFF2-40B4-BE49-F238E27FC236}">
                <a16:creationId xmlns:a16="http://schemas.microsoft.com/office/drawing/2014/main" id="{4BB0FC28-A063-4789-B8D1-A4EE21573D7F}"/>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Softmax</a:t>
            </a:r>
          </a:p>
        </p:txBody>
      </p:sp>
    </p:spTree>
    <p:extLst>
      <p:ext uri="{BB962C8B-B14F-4D97-AF65-F5344CB8AC3E}">
        <p14:creationId xmlns:p14="http://schemas.microsoft.com/office/powerpoint/2010/main" val="210841882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concept-43-chapter-0">
            <a:extLst xmlns:a="http://schemas.openxmlformats.org/drawingml/2006/main">
              <a:ext uri="{FF2B5EF4-FFF2-40B4-BE49-F238E27FC236}">
                <a16:creationId xmlns:a16="http://schemas.microsoft.com/office/drawing/2014/main" id="{2A828EC0-AB24-4A64-982B-79691A4E96D2}"/>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043 / 100 · LEARNING FROM DATA</a:t>
            </a:r>
          </a:p>
        </p:txBody>
      </p:sp>
      <p:sp>
        <p:nvSpPr>
          <p:cNvPr id="2" name="concept-43-title-0">
            <a:extLst xmlns:a="http://schemas.openxmlformats.org/drawingml/2006/main">
              <a:ext uri="{FF2B5EF4-FFF2-40B4-BE49-F238E27FC236}">
                <a16:creationId xmlns:a16="http://schemas.microsoft.com/office/drawing/2014/main" id="{2F7C4FFA-6576-451A-9A23-4D61782F9E11}"/>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Softmax</a:t>
            </a:r>
          </a:p>
        </p:txBody>
      </p:sp>
      <p:sp>
        <p:nvSpPr>
          <p:cNvPr id="3" name="concept-43-definition-label-0">
            <a:extLst xmlns:a="http://schemas.openxmlformats.org/drawingml/2006/main">
              <a:ext uri="{FF2B5EF4-FFF2-40B4-BE49-F238E27FC236}">
                <a16:creationId xmlns:a16="http://schemas.microsoft.com/office/drawing/2014/main" id="{C6860DD9-3075-41E4-878F-4C1C6C5B8479}"/>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43-definition-0">
            <a:extLst xmlns:a="http://schemas.openxmlformats.org/drawingml/2006/main">
              <a:ext uri="{FF2B5EF4-FFF2-40B4-BE49-F238E27FC236}">
                <a16:creationId xmlns:a16="http://schemas.microsoft.com/office/drawing/2014/main" id="{0A7C1693-0532-4B2F-AF00-91CA578F314D}"/>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Softmax converts a vector of real scores, called logits, into</a:t>
            </a:r>
          </a:p>
        </p:txBody>
      </p:sp>
      <p:sp>
        <p:nvSpPr>
          <p:cNvPr id="5" name="concept-43-definition-1">
            <a:extLst xmlns:a="http://schemas.openxmlformats.org/drawingml/2006/main">
              <a:ext uri="{FF2B5EF4-FFF2-40B4-BE49-F238E27FC236}">
                <a16:creationId xmlns:a16="http://schemas.microsoft.com/office/drawing/2014/main" id="{4F3D030E-5E97-43DC-8C9B-D5490EF5E062}"/>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positive numbers that sum to one.</a:t>
            </a:r>
          </a:p>
        </p:txBody>
      </p:sp>
      <p:sp>
        <p:nvSpPr>
          <p:cNvPr id="6" name="concept-43-formula-0">
            <a:extLst xmlns:a="http://schemas.openxmlformats.org/drawingml/2006/main">
              <a:ext uri="{FF2B5EF4-FFF2-40B4-BE49-F238E27FC236}">
                <a16:creationId xmlns:a16="http://schemas.microsoft.com/office/drawing/2014/main" id="{6CDB92FB-5DAC-4AB5-8160-A2B9C2D66EDB}"/>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pᵢ = exp(zᵢ) / Σⱼ exp(zⱼ)</a:t>
            </a:r>
          </a:p>
        </p:txBody>
      </p:sp>
      <p:sp>
        <p:nvSpPr>
          <p:cNvPr id="7" name="concept-43-example-label-0">
            <a:extLst xmlns:a="http://schemas.openxmlformats.org/drawingml/2006/main">
              <a:ext uri="{FF2B5EF4-FFF2-40B4-BE49-F238E27FC236}">
                <a16:creationId xmlns:a16="http://schemas.microsoft.com/office/drawing/2014/main" id="{4EC62F17-46D2-4B87-B8F1-E848822654CA}"/>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43-example-0">
            <a:extLst xmlns:a="http://schemas.openxmlformats.org/drawingml/2006/main">
              <a:ext uri="{FF2B5EF4-FFF2-40B4-BE49-F238E27FC236}">
                <a16:creationId xmlns:a16="http://schemas.microsoft.com/office/drawing/2014/main" id="{35014055-07BF-4215-9941-D5EAEB471E80}"/>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Logits (0, ln 3) give exponentials (1, 3), so probabilities are</a:t>
            </a:r>
          </a:p>
        </p:txBody>
      </p:sp>
      <p:sp>
        <p:nvSpPr>
          <p:cNvPr id="9" name="concept-43-example-1">
            <a:extLst xmlns:a="http://schemas.openxmlformats.org/drawingml/2006/main">
              <a:ext uri="{FF2B5EF4-FFF2-40B4-BE49-F238E27FC236}">
                <a16:creationId xmlns:a16="http://schemas.microsoft.com/office/drawing/2014/main" id="{000A0E82-1AA5-49CB-8D57-FCCE82AC0337}"/>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(0.25, 0.75).</a:t>
            </a:r>
          </a:p>
        </p:txBody>
      </p:sp>
      <p:sp>
        <p:nvSpPr>
          <p:cNvPr id="10" name="concept-43-metaphor-label-0">
            <a:extLst xmlns:a="http://schemas.openxmlformats.org/drawingml/2006/main">
              <a:ext uri="{FF2B5EF4-FFF2-40B4-BE49-F238E27FC236}">
                <a16:creationId xmlns:a16="http://schemas.microsoft.com/office/drawing/2014/main" id="{34077ECB-BA83-4E68-BF54-922D117D4E30}"/>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43-metaphor-0">
            <a:extLst xmlns:a="http://schemas.openxmlformats.org/drawingml/2006/main">
              <a:ext uri="{FF2B5EF4-FFF2-40B4-BE49-F238E27FC236}">
                <a16:creationId xmlns:a16="http://schemas.microsoft.com/office/drawing/2014/main" id="{7BC65EB1-F775-494E-8B16-A31E7ADBD1BB}"/>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Convert competing bids into shares of one whole budget.</a:t>
            </a:r>
          </a:p>
        </p:txBody>
      </p:sp>
      <p:sp>
        <p:nvSpPr>
          <p:cNvPr id="12" name="concept-43-footer-0">
            <a:extLst xmlns:a="http://schemas.openxmlformats.org/drawingml/2006/main">
              <a:ext uri="{FF2B5EF4-FFF2-40B4-BE49-F238E27FC236}">
                <a16:creationId xmlns:a16="http://schemas.microsoft.com/office/drawing/2014/main" id="{1DDEA158-662D-4F3C-8CB5-F55D9631ED70}"/>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Cross-entropy</a:t>
            </a:r>
          </a:p>
        </p:txBody>
      </p:sp>
    </p:spTree>
    <p:extLst>
      <p:ext uri="{BB962C8B-B14F-4D97-AF65-F5344CB8AC3E}">
        <p14:creationId xmlns:p14="http://schemas.microsoft.com/office/powerpoint/2010/main" val="30366748"/>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44-chapter-0">
            <a:extLst xmlns:a="http://schemas.openxmlformats.org/drawingml/2006/main">
              <a:ext uri="{FF2B5EF4-FFF2-40B4-BE49-F238E27FC236}">
                <a16:creationId xmlns:a16="http://schemas.microsoft.com/office/drawing/2014/main" id="{FD4F856E-50CC-4DB1-8A81-B137BCBF2816}"/>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044 / 100 · LEARNING FROM DATA</a:t>
            </a:r>
          </a:p>
        </p:txBody>
      </p:sp>
      <p:sp>
        <p:nvSpPr>
          <p:cNvPr id="2" name="concept-44-title-0">
            <a:extLst xmlns:a="http://schemas.openxmlformats.org/drawingml/2006/main">
              <a:ext uri="{FF2B5EF4-FFF2-40B4-BE49-F238E27FC236}">
                <a16:creationId xmlns:a16="http://schemas.microsoft.com/office/drawing/2014/main" id="{3D31EBE0-1ED3-4C5D-9F48-FFED03B23B17}"/>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Cross-entropy</a:t>
            </a:r>
          </a:p>
        </p:txBody>
      </p:sp>
      <p:sp>
        <p:nvSpPr>
          <p:cNvPr id="3" name="concept-44-definition-label-0">
            <a:extLst xmlns:a="http://schemas.openxmlformats.org/drawingml/2006/main">
              <a:ext uri="{FF2B5EF4-FFF2-40B4-BE49-F238E27FC236}">
                <a16:creationId xmlns:a16="http://schemas.microsoft.com/office/drawing/2014/main" id="{286BDDFB-05DC-46A8-9D06-CAF61A3B9913}"/>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44-definition-0">
            <a:extLst xmlns:a="http://schemas.openxmlformats.org/drawingml/2006/main">
              <a:ext uri="{FF2B5EF4-FFF2-40B4-BE49-F238E27FC236}">
                <a16:creationId xmlns:a16="http://schemas.microsoft.com/office/drawing/2014/main" id="{48B64BE8-FB83-4B3F-A4B8-888F6C73E2E3}"/>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Cross-entropy scores predicted probabilities against target</a:t>
            </a:r>
          </a:p>
        </p:txBody>
      </p:sp>
      <p:sp>
        <p:nvSpPr>
          <p:cNvPr id="5" name="concept-44-definition-1">
            <a:extLst xmlns:a="http://schemas.openxmlformats.org/drawingml/2006/main">
              <a:ext uri="{FF2B5EF4-FFF2-40B4-BE49-F238E27FC236}">
                <a16:creationId xmlns:a16="http://schemas.microsoft.com/office/drawing/2014/main" id="{DE1393A1-57B4-4373-B4D7-C244B0C01FB2}"/>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probabilities. It is the average negative log probability of the</a:t>
            </a:r>
          </a:p>
        </p:txBody>
      </p:sp>
      <p:sp>
        <p:nvSpPr>
          <p:cNvPr id="6" name="concept-44-definition-2">
            <a:extLst xmlns:a="http://schemas.openxmlformats.org/drawingml/2006/main">
              <a:ext uri="{FF2B5EF4-FFF2-40B4-BE49-F238E27FC236}">
                <a16:creationId xmlns:a16="http://schemas.microsoft.com/office/drawing/2014/main" id="{D0E24B12-54EC-4A70-8806-340D0A287C91}"/>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target outcomes. Lower scores reward better predictions.</a:t>
            </a:r>
          </a:p>
        </p:txBody>
      </p:sp>
      <p:sp>
        <p:nvSpPr>
          <p:cNvPr id="7" name="concept-44-formula-0">
            <a:extLst xmlns:a="http://schemas.openxmlformats.org/drawingml/2006/main">
              <a:ext uri="{FF2B5EF4-FFF2-40B4-BE49-F238E27FC236}">
                <a16:creationId xmlns:a16="http://schemas.microsoft.com/office/drawing/2014/main" id="{99BC086D-C56B-487A-9627-0179879FB775}"/>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H(q, p) = −Σᵢ qᵢ ln pᵢ</a:t>
            </a:r>
          </a:p>
        </p:txBody>
      </p:sp>
      <p:sp>
        <p:nvSpPr>
          <p:cNvPr id="8" name="concept-44-example-label-0">
            <a:extLst xmlns:a="http://schemas.openxmlformats.org/drawingml/2006/main">
              <a:ext uri="{FF2B5EF4-FFF2-40B4-BE49-F238E27FC236}">
                <a16:creationId xmlns:a16="http://schemas.microsoft.com/office/drawing/2014/main" id="{45BA7052-B78A-49CC-8308-291C64C9A170}"/>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44-example-0">
            <a:extLst xmlns:a="http://schemas.openxmlformats.org/drawingml/2006/main">
              <a:ext uri="{FF2B5EF4-FFF2-40B4-BE49-F238E27FC236}">
                <a16:creationId xmlns:a16="http://schemas.microsoft.com/office/drawing/2014/main" id="{3239A3E0-2022-4D0A-8B61-C393F3AB9213}"/>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correct class is cat. Predicting p(cat) = 0.9 gives −ln(0.9) ≈</a:t>
            </a:r>
          </a:p>
        </p:txBody>
      </p:sp>
      <p:sp>
        <p:nvSpPr>
          <p:cNvPr id="10" name="concept-44-example-1">
            <a:extLst xmlns:a="http://schemas.openxmlformats.org/drawingml/2006/main">
              <a:ext uri="{FF2B5EF4-FFF2-40B4-BE49-F238E27FC236}">
                <a16:creationId xmlns:a16="http://schemas.microsoft.com/office/drawing/2014/main" id="{4C181D59-E780-4DAB-8200-1B6E47045DAE}"/>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0.105. Predicting 0.1 gives −ln(0.1) ≈ 2.303, a much larger</a:t>
            </a:r>
          </a:p>
        </p:txBody>
      </p:sp>
      <p:sp>
        <p:nvSpPr>
          <p:cNvPr id="15" name="concept-44-example-2">
            <a:extLst xmlns:a="http://schemas.openxmlformats.org/drawingml/2006/main">
              <a:ext uri="{FF2B5EF4-FFF2-40B4-BE49-F238E27FC236}">
                <a16:creationId xmlns:a16="http://schemas.microsoft.com/office/drawing/2014/main" id="{1D48D758-17C2-424B-BD18-28859E10F0CF}"/>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loss.</a:t>
            </a:r>
          </a:p>
        </p:txBody>
      </p:sp>
      <p:sp>
        <p:nvSpPr>
          <p:cNvPr id="11" name="concept-44-metaphor-label-0">
            <a:extLst xmlns:a="http://schemas.openxmlformats.org/drawingml/2006/main">
              <a:ext uri="{FF2B5EF4-FFF2-40B4-BE49-F238E27FC236}">
                <a16:creationId xmlns:a16="http://schemas.microsoft.com/office/drawing/2014/main" id="{ADDEB8A3-89CB-4ABB-A907-835B6F913F19}"/>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44-metaphor-0">
            <a:extLst xmlns:a="http://schemas.openxmlformats.org/drawingml/2006/main">
              <a:ext uri="{FF2B5EF4-FFF2-40B4-BE49-F238E27FC236}">
                <a16:creationId xmlns:a16="http://schemas.microsoft.com/office/drawing/2014/main" id="{D30A176C-22A7-4962-83C2-8EFD73301470}"/>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confident wrong answer pays a much bigger surprise bill than</a:t>
            </a:r>
          </a:p>
        </p:txBody>
      </p:sp>
      <p:sp>
        <p:nvSpPr>
          <p:cNvPr id="13" name="concept-44-metaphor-1">
            <a:extLst xmlns:a="http://schemas.openxmlformats.org/drawingml/2006/main">
              <a:ext uri="{FF2B5EF4-FFF2-40B4-BE49-F238E27FC236}">
                <a16:creationId xmlns:a16="http://schemas.microsoft.com/office/drawing/2014/main" id="{FEC5C089-BEE8-4C10-A88F-C79EE8BA8274}"/>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cautious one.</a:t>
            </a:r>
          </a:p>
        </p:txBody>
      </p:sp>
      <p:sp>
        <p:nvSpPr>
          <p:cNvPr id="14" name="concept-44-footer-0">
            <a:extLst xmlns:a="http://schemas.openxmlformats.org/drawingml/2006/main">
              <a:ext uri="{FF2B5EF4-FFF2-40B4-BE49-F238E27FC236}">
                <a16:creationId xmlns:a16="http://schemas.microsoft.com/office/drawing/2014/main" id="{6F4D70E1-D21A-4D8E-8FA7-AE651BF6041B}"/>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Self-supervised learning</a:t>
            </a:r>
          </a:p>
        </p:txBody>
      </p:sp>
    </p:spTree>
    <p:extLst>
      <p:ext uri="{BB962C8B-B14F-4D97-AF65-F5344CB8AC3E}">
        <p14:creationId xmlns:p14="http://schemas.microsoft.com/office/powerpoint/2010/main" val="63387973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45-chapter-0">
            <a:extLst xmlns:a="http://schemas.openxmlformats.org/drawingml/2006/main">
              <a:ext uri="{FF2B5EF4-FFF2-40B4-BE49-F238E27FC236}">
                <a16:creationId xmlns:a16="http://schemas.microsoft.com/office/drawing/2014/main" id="{320DB934-83F0-45DE-9F54-816FD675C3D9}"/>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045 / 100 · LEARNING FROM DATA</a:t>
            </a:r>
          </a:p>
        </p:txBody>
      </p:sp>
      <p:sp>
        <p:nvSpPr>
          <p:cNvPr id="2" name="concept-45-title-0">
            <a:extLst xmlns:a="http://schemas.openxmlformats.org/drawingml/2006/main">
              <a:ext uri="{FF2B5EF4-FFF2-40B4-BE49-F238E27FC236}">
                <a16:creationId xmlns:a16="http://schemas.microsoft.com/office/drawing/2014/main" id="{517756D3-99C5-43C4-88BB-6AC67A665C33}"/>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Self-supervised learning</a:t>
            </a:r>
          </a:p>
        </p:txBody>
      </p:sp>
      <p:sp>
        <p:nvSpPr>
          <p:cNvPr id="3" name="concept-45-definition-label-0">
            <a:extLst xmlns:a="http://schemas.openxmlformats.org/drawingml/2006/main">
              <a:ext uri="{FF2B5EF4-FFF2-40B4-BE49-F238E27FC236}">
                <a16:creationId xmlns:a16="http://schemas.microsoft.com/office/drawing/2014/main" id="{355CB442-9FE7-4527-A47A-A1CDE8898CAD}"/>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45-definition-0">
            <a:extLst xmlns:a="http://schemas.openxmlformats.org/drawingml/2006/main">
              <a:ext uri="{FF2B5EF4-FFF2-40B4-BE49-F238E27FC236}">
                <a16:creationId xmlns:a16="http://schemas.microsoft.com/office/drawing/2014/main" id="{A196BAAA-3754-411A-A7B3-E88F2390AD3A}"/>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Self-supervised learning constructs prediction targets from the</a:t>
            </a:r>
          </a:p>
        </p:txBody>
      </p:sp>
      <p:sp>
        <p:nvSpPr>
          <p:cNvPr id="5" name="concept-45-definition-1">
            <a:extLst xmlns:a="http://schemas.openxmlformats.org/drawingml/2006/main">
              <a:ext uri="{FF2B5EF4-FFF2-40B4-BE49-F238E27FC236}">
                <a16:creationId xmlns:a16="http://schemas.microsoft.com/office/drawing/2014/main" id="{7ED4A431-861D-416B-B8F1-B44E979B3ACF}"/>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data themselves, without requiring a separately supplied label</a:t>
            </a:r>
          </a:p>
        </p:txBody>
      </p:sp>
      <p:sp>
        <p:nvSpPr>
          <p:cNvPr id="6" name="concept-45-definition-2">
            <a:extLst xmlns:a="http://schemas.openxmlformats.org/drawingml/2006/main">
              <a:ext uri="{FF2B5EF4-FFF2-40B4-BE49-F238E27FC236}">
                <a16:creationId xmlns:a16="http://schemas.microsoft.com/office/drawing/2014/main" id="{2B87139E-D409-4BE9-B1C5-527B741BBC2B}"/>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every example.</a:t>
            </a:r>
          </a:p>
        </p:txBody>
      </p:sp>
      <p:sp>
        <p:nvSpPr>
          <p:cNvPr id="7" name="concept-45-formula-0">
            <a:extLst xmlns:a="http://schemas.openxmlformats.org/drawingml/2006/main">
              <a:ext uri="{FF2B5EF4-FFF2-40B4-BE49-F238E27FC236}">
                <a16:creationId xmlns:a16="http://schemas.microsoft.com/office/drawing/2014/main" id="{2A4F88BA-6563-4F2A-AE70-DC12B88E0D01}"/>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L = ℓ(f_θ(mask(x)), xhidden)</a:t>
            </a:r>
          </a:p>
        </p:txBody>
      </p:sp>
      <p:sp>
        <p:nvSpPr>
          <p:cNvPr id="8" name="concept-45-example-label-0">
            <a:extLst xmlns:a="http://schemas.openxmlformats.org/drawingml/2006/main">
              <a:ext uri="{FF2B5EF4-FFF2-40B4-BE49-F238E27FC236}">
                <a16:creationId xmlns:a16="http://schemas.microsoft.com/office/drawing/2014/main" id="{506C6C63-BC8B-401B-9AE4-E47075422B90}"/>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45-example-0">
            <a:extLst xmlns:a="http://schemas.openxmlformats.org/drawingml/2006/main">
              <a:ext uri="{FF2B5EF4-FFF2-40B4-BE49-F238E27FC236}">
                <a16:creationId xmlns:a16="http://schemas.microsoft.com/office/drawing/2014/main" id="{8431E789-A47F-4E03-8B1D-0381B906504A}"/>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Hide the middle value in (2, 4, 6). The model sees (2, ?, 6) and</a:t>
            </a:r>
          </a:p>
        </p:txBody>
      </p:sp>
      <p:sp>
        <p:nvSpPr>
          <p:cNvPr id="10" name="concept-45-example-1">
            <a:extLst xmlns:a="http://schemas.openxmlformats.org/drawingml/2006/main">
              <a:ext uri="{FF2B5EF4-FFF2-40B4-BE49-F238E27FC236}">
                <a16:creationId xmlns:a16="http://schemas.microsoft.com/office/drawing/2014/main" id="{A5D4F437-C41E-4AA3-8F88-3E07ACF59CC0}"/>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predicts 5. The hidden target is 4, so squared error = (5−4)² =</a:t>
            </a:r>
          </a:p>
        </p:txBody>
      </p:sp>
      <p:sp>
        <p:nvSpPr>
          <p:cNvPr id="15" name="concept-45-example-2">
            <a:extLst xmlns:a="http://schemas.openxmlformats.org/drawingml/2006/main">
              <a:ext uri="{FF2B5EF4-FFF2-40B4-BE49-F238E27FC236}">
                <a16:creationId xmlns:a16="http://schemas.microsoft.com/office/drawing/2014/main" id="{D8D24AD4-0E3B-439F-8E43-BC3C17F72EAA}"/>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1.</a:t>
            </a:r>
          </a:p>
        </p:txBody>
      </p:sp>
      <p:sp>
        <p:nvSpPr>
          <p:cNvPr id="11" name="concept-45-metaphor-label-0">
            <a:extLst xmlns:a="http://schemas.openxmlformats.org/drawingml/2006/main">
              <a:ext uri="{FF2B5EF4-FFF2-40B4-BE49-F238E27FC236}">
                <a16:creationId xmlns:a16="http://schemas.microsoft.com/office/drawing/2014/main" id="{56EE0AB3-93BB-4B5D-B201-AFDB977A70D7}"/>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45-metaphor-0">
            <a:extLst xmlns:a="http://schemas.openxmlformats.org/drawingml/2006/main">
              <a:ext uri="{FF2B5EF4-FFF2-40B4-BE49-F238E27FC236}">
                <a16:creationId xmlns:a16="http://schemas.microsoft.com/office/drawing/2014/main" id="{3E9A9560-D100-4270-A26F-C97928947250}"/>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Cover a word in your own book, guess it, then uncover the</a:t>
            </a:r>
          </a:p>
        </p:txBody>
      </p:sp>
      <p:sp>
        <p:nvSpPr>
          <p:cNvPr id="13" name="concept-45-metaphor-1">
            <a:extLst xmlns:a="http://schemas.openxmlformats.org/drawingml/2006/main">
              <a:ext uri="{FF2B5EF4-FFF2-40B4-BE49-F238E27FC236}">
                <a16:creationId xmlns:a16="http://schemas.microsoft.com/office/drawing/2014/main" id="{66E74B47-F677-40A5-BCDE-0DAD6B7E3889}"/>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answer.</a:t>
            </a:r>
          </a:p>
        </p:txBody>
      </p:sp>
      <p:sp>
        <p:nvSpPr>
          <p:cNvPr id="14" name="concept-45-footer-0">
            <a:extLst xmlns:a="http://schemas.openxmlformats.org/drawingml/2006/main">
              <a:ext uri="{FF2B5EF4-FFF2-40B4-BE49-F238E27FC236}">
                <a16:creationId xmlns:a16="http://schemas.microsoft.com/office/drawing/2014/main" id="{907DF7D1-5FB6-465B-BEF4-07A44660FD06}"/>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Embedding</a:t>
            </a:r>
          </a:p>
        </p:txBody>
      </p:sp>
    </p:spTree>
    <p:extLst>
      <p:ext uri="{BB962C8B-B14F-4D97-AF65-F5344CB8AC3E}">
        <p14:creationId xmlns:p14="http://schemas.microsoft.com/office/powerpoint/2010/main" val="111303162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46-chapter-0">
            <a:extLst xmlns:a="http://schemas.openxmlformats.org/drawingml/2006/main">
              <a:ext uri="{FF2B5EF4-FFF2-40B4-BE49-F238E27FC236}">
                <a16:creationId xmlns:a16="http://schemas.microsoft.com/office/drawing/2014/main" id="{BE0EFF9D-977B-4D13-BA86-768284C09D77}"/>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046 / 100 · REPRESENTATIONS AND LANGUAGE</a:t>
            </a:r>
          </a:p>
        </p:txBody>
      </p:sp>
      <p:sp>
        <p:nvSpPr>
          <p:cNvPr id="2" name="concept-46-title-0">
            <a:extLst xmlns:a="http://schemas.openxmlformats.org/drawingml/2006/main">
              <a:ext uri="{FF2B5EF4-FFF2-40B4-BE49-F238E27FC236}">
                <a16:creationId xmlns:a16="http://schemas.microsoft.com/office/drawing/2014/main" id="{94405826-31A7-488C-9186-7E2B07F39549}"/>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Embedding</a:t>
            </a:r>
          </a:p>
        </p:txBody>
      </p:sp>
      <p:sp>
        <p:nvSpPr>
          <p:cNvPr id="3" name="concept-46-definition-label-0">
            <a:extLst xmlns:a="http://schemas.openxmlformats.org/drawingml/2006/main">
              <a:ext uri="{FF2B5EF4-FFF2-40B4-BE49-F238E27FC236}">
                <a16:creationId xmlns:a16="http://schemas.microsoft.com/office/drawing/2014/main" id="{AAC39A20-D416-44EB-903C-98B1891D2985}"/>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46-definition-0">
            <a:extLst xmlns:a="http://schemas.openxmlformats.org/drawingml/2006/main">
              <a:ext uri="{FF2B5EF4-FFF2-40B4-BE49-F238E27FC236}">
                <a16:creationId xmlns:a16="http://schemas.microsoft.com/office/drawing/2014/main" id="{76322B31-BE0E-4D85-A329-9C68C0297D43}"/>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embedding represents an object as a vector. Learned</a:t>
            </a:r>
          </a:p>
        </p:txBody>
      </p:sp>
      <p:sp>
        <p:nvSpPr>
          <p:cNvPr id="5" name="concept-46-definition-1">
            <a:extLst xmlns:a="http://schemas.openxmlformats.org/drawingml/2006/main">
              <a:ext uri="{FF2B5EF4-FFF2-40B4-BE49-F238E27FC236}">
                <a16:creationId xmlns:a16="http://schemas.microsoft.com/office/drawing/2014/main" id="{4DC33DFA-D43D-4451-BB90-2B84ED673D76}"/>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embeddings adjust these coordinates so distances or directions</a:t>
            </a:r>
          </a:p>
        </p:txBody>
      </p:sp>
      <p:sp>
        <p:nvSpPr>
          <p:cNvPr id="14" name="concept-46-definition-2">
            <a:extLst xmlns:a="http://schemas.openxmlformats.org/drawingml/2006/main">
              <a:ext uri="{FF2B5EF4-FFF2-40B4-BE49-F238E27FC236}">
                <a16:creationId xmlns:a16="http://schemas.microsoft.com/office/drawing/2014/main" id="{7E1317B7-1258-46C2-B172-4C8F7DCFDB97}"/>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can capture relationships useful to a task.</a:t>
            </a:r>
          </a:p>
        </p:txBody>
      </p:sp>
      <p:sp>
        <p:nvSpPr>
          <p:cNvPr id="6" name="concept-46-formula-0">
            <a:extLst xmlns:a="http://schemas.openxmlformats.org/drawingml/2006/main">
              <a:ext uri="{FF2B5EF4-FFF2-40B4-BE49-F238E27FC236}">
                <a16:creationId xmlns:a16="http://schemas.microsoft.com/office/drawing/2014/main" id="{FDBDC148-9171-45AB-B77D-EDFC80AE10C7}"/>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f: objects → ℝᵈ; z = f(x)</a:t>
            </a:r>
          </a:p>
        </p:txBody>
      </p:sp>
      <p:sp>
        <p:nvSpPr>
          <p:cNvPr id="7" name="concept-46-example-label-0">
            <a:extLst xmlns:a="http://schemas.openxmlformats.org/drawingml/2006/main">
              <a:ext uri="{FF2B5EF4-FFF2-40B4-BE49-F238E27FC236}">
                <a16:creationId xmlns:a16="http://schemas.microsoft.com/office/drawing/2014/main" id="{704C731B-CDA0-4488-B493-AC5630CD09F4}"/>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46-example-0">
            <a:extLst xmlns:a="http://schemas.openxmlformats.org/drawingml/2006/main">
              <a:ext uri="{FF2B5EF4-FFF2-40B4-BE49-F238E27FC236}">
                <a16:creationId xmlns:a16="http://schemas.microsoft.com/office/drawing/2014/main" id="{0856B274-20E4-4402-9421-513281429761}"/>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Toy word vectors: cat = (1, 0), dog = (0.9, 0.1), rock = (0, 1).</a:t>
            </a:r>
          </a:p>
        </p:txBody>
      </p:sp>
      <p:sp>
        <p:nvSpPr>
          <p:cNvPr id="9" name="concept-46-example-1">
            <a:extLst xmlns:a="http://schemas.openxmlformats.org/drawingml/2006/main">
              <a:ext uri="{FF2B5EF4-FFF2-40B4-BE49-F238E27FC236}">
                <a16:creationId xmlns:a16="http://schemas.microsoft.com/office/drawing/2014/main" id="{C7B15931-C6B8-4664-B7BF-4FB820084CDA}"/>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Cat is closer to dog (distance ≈ 0.14) than rock (≈ 1.41).</a:t>
            </a:r>
          </a:p>
        </p:txBody>
      </p:sp>
      <p:sp>
        <p:nvSpPr>
          <p:cNvPr id="10" name="concept-46-metaphor-label-0">
            <a:extLst xmlns:a="http://schemas.openxmlformats.org/drawingml/2006/main">
              <a:ext uri="{FF2B5EF4-FFF2-40B4-BE49-F238E27FC236}">
                <a16:creationId xmlns:a16="http://schemas.microsoft.com/office/drawing/2014/main" id="{E82162A6-F72E-468C-90AA-395148EEA6DD}"/>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46-metaphor-0">
            <a:extLst xmlns:a="http://schemas.openxmlformats.org/drawingml/2006/main">
              <a:ext uri="{FF2B5EF4-FFF2-40B4-BE49-F238E27FC236}">
                <a16:creationId xmlns:a16="http://schemas.microsoft.com/office/drawing/2014/main" id="{D84A44B0-8B01-4706-BEEA-67181C168A1A}"/>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map gives complicated places compact coordinates, while</a:t>
            </a:r>
          </a:p>
        </p:txBody>
      </p:sp>
      <p:sp>
        <p:nvSpPr>
          <p:cNvPr id="12" name="concept-46-metaphor-1">
            <a:extLst xmlns:a="http://schemas.openxmlformats.org/drawingml/2006/main">
              <a:ext uri="{FF2B5EF4-FFF2-40B4-BE49-F238E27FC236}">
                <a16:creationId xmlns:a16="http://schemas.microsoft.com/office/drawing/2014/main" id="{5DDD7A6D-CB77-4A5E-A32E-9D058AC69688}"/>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preserving only some relationships.</a:t>
            </a:r>
          </a:p>
        </p:txBody>
      </p:sp>
      <p:sp>
        <p:nvSpPr>
          <p:cNvPr id="13" name="concept-46-footer-0">
            <a:extLst xmlns:a="http://schemas.openxmlformats.org/drawingml/2006/main">
              <a:ext uri="{FF2B5EF4-FFF2-40B4-BE49-F238E27FC236}">
                <a16:creationId xmlns:a16="http://schemas.microsoft.com/office/drawing/2014/main" id="{09B63EEE-59D2-451D-A34A-F1A6DFEBD90D}"/>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Cosine similarity</a:t>
            </a:r>
          </a:p>
        </p:txBody>
      </p:sp>
    </p:spTree>
    <p:extLst>
      <p:ext uri="{BB962C8B-B14F-4D97-AF65-F5344CB8AC3E}">
        <p14:creationId xmlns:p14="http://schemas.microsoft.com/office/powerpoint/2010/main" val="165028250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47-chapter-0">
            <a:extLst xmlns:a="http://schemas.openxmlformats.org/drawingml/2006/main">
              <a:ext uri="{FF2B5EF4-FFF2-40B4-BE49-F238E27FC236}">
                <a16:creationId xmlns:a16="http://schemas.microsoft.com/office/drawing/2014/main" id="{1A3B9D14-EDCE-40EC-AAFD-12C9B84E0537}"/>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047 / 100 · REPRESENTATIONS AND LANGUAGE</a:t>
            </a:r>
          </a:p>
        </p:txBody>
      </p:sp>
      <p:sp>
        <p:nvSpPr>
          <p:cNvPr id="2" name="concept-47-title-0">
            <a:extLst xmlns:a="http://schemas.openxmlformats.org/drawingml/2006/main">
              <a:ext uri="{FF2B5EF4-FFF2-40B4-BE49-F238E27FC236}">
                <a16:creationId xmlns:a16="http://schemas.microsoft.com/office/drawing/2014/main" id="{B5E18D82-5757-4FBE-9DAA-298104022549}"/>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Cosine similarity</a:t>
            </a:r>
          </a:p>
        </p:txBody>
      </p:sp>
      <p:sp>
        <p:nvSpPr>
          <p:cNvPr id="3" name="concept-47-definition-label-0">
            <a:extLst xmlns:a="http://schemas.openxmlformats.org/drawingml/2006/main">
              <a:ext uri="{FF2B5EF4-FFF2-40B4-BE49-F238E27FC236}">
                <a16:creationId xmlns:a16="http://schemas.microsoft.com/office/drawing/2014/main" id="{2B18A2AD-9BE5-4D07-8EE2-F1174D4BF05C}"/>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47-definition-0">
            <a:extLst xmlns:a="http://schemas.openxmlformats.org/drawingml/2006/main">
              <a:ext uri="{FF2B5EF4-FFF2-40B4-BE49-F238E27FC236}">
                <a16:creationId xmlns:a16="http://schemas.microsoft.com/office/drawing/2014/main" id="{43F0B3E2-2F45-4FE7-94B1-6AD9160708A0}"/>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Cosine similarity compares directions of two nonzero vectors by</a:t>
            </a:r>
          </a:p>
        </p:txBody>
      </p:sp>
      <p:sp>
        <p:nvSpPr>
          <p:cNvPr id="5" name="concept-47-definition-1">
            <a:extLst xmlns:a="http://schemas.openxmlformats.org/drawingml/2006/main">
              <a:ext uri="{FF2B5EF4-FFF2-40B4-BE49-F238E27FC236}">
                <a16:creationId xmlns:a16="http://schemas.microsoft.com/office/drawing/2014/main" id="{7E9316D2-4509-4631-A54D-7D5F0C131945}"/>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dividing their dot product by their lengths.</a:t>
            </a:r>
          </a:p>
        </p:txBody>
      </p:sp>
      <p:sp>
        <p:nvSpPr>
          <p:cNvPr id="6" name="concept-47-formula-0">
            <a:extLst xmlns:a="http://schemas.openxmlformats.org/drawingml/2006/main">
              <a:ext uri="{FF2B5EF4-FFF2-40B4-BE49-F238E27FC236}">
                <a16:creationId xmlns:a16="http://schemas.microsoft.com/office/drawing/2014/main" id="{073C7EED-853A-41B9-919D-0590AFD3047C}"/>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cos(x, y) = (x · y)/(‖x‖₂‖y‖₂)</a:t>
            </a:r>
          </a:p>
        </p:txBody>
      </p:sp>
      <p:sp>
        <p:nvSpPr>
          <p:cNvPr id="7" name="concept-47-example-label-0">
            <a:extLst xmlns:a="http://schemas.openxmlformats.org/drawingml/2006/main">
              <a:ext uri="{FF2B5EF4-FFF2-40B4-BE49-F238E27FC236}">
                <a16:creationId xmlns:a16="http://schemas.microsoft.com/office/drawing/2014/main" id="{24789D3B-A726-4D7B-AEC7-9A694A44B7C7}"/>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47-example-0">
            <a:extLst xmlns:a="http://schemas.openxmlformats.org/drawingml/2006/main">
              <a:ext uri="{FF2B5EF4-FFF2-40B4-BE49-F238E27FC236}">
                <a16:creationId xmlns:a16="http://schemas.microsoft.com/office/drawing/2014/main" id="{45CEEDD7-43A9-4FCA-ABD0-99EA4531AAE5}"/>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x = (1, 0), y = (2, 0), similarity = 2/(1 × 2) = 1, despite</a:t>
            </a:r>
          </a:p>
        </p:txBody>
      </p:sp>
      <p:sp>
        <p:nvSpPr>
          <p:cNvPr id="9" name="concept-47-example-1">
            <a:extLst xmlns:a="http://schemas.openxmlformats.org/drawingml/2006/main">
              <a:ext uri="{FF2B5EF4-FFF2-40B4-BE49-F238E27FC236}">
                <a16:creationId xmlns:a16="http://schemas.microsoft.com/office/drawing/2014/main" id="{F254C0B0-7C03-40BB-927B-B2A81D3AE3B3}"/>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different lengths.</a:t>
            </a:r>
          </a:p>
        </p:txBody>
      </p:sp>
      <p:sp>
        <p:nvSpPr>
          <p:cNvPr id="10" name="concept-47-metaphor-label-0">
            <a:extLst xmlns:a="http://schemas.openxmlformats.org/drawingml/2006/main">
              <a:ext uri="{FF2B5EF4-FFF2-40B4-BE49-F238E27FC236}">
                <a16:creationId xmlns:a16="http://schemas.microsoft.com/office/drawing/2014/main" id="{557734C2-6FD7-42C0-8F52-825330A5F1FF}"/>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47-metaphor-0">
            <a:extLst xmlns:a="http://schemas.openxmlformats.org/drawingml/2006/main">
              <a:ext uri="{FF2B5EF4-FFF2-40B4-BE49-F238E27FC236}">
                <a16:creationId xmlns:a16="http://schemas.microsoft.com/office/drawing/2014/main" id="{72DAD240-7AC5-47CC-9295-62A9DE9F1DB9}"/>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Two arrows can point the same way even when one is twice as</a:t>
            </a:r>
          </a:p>
        </p:txBody>
      </p:sp>
      <p:sp>
        <p:nvSpPr>
          <p:cNvPr id="12" name="concept-47-metaphor-1">
            <a:extLst xmlns:a="http://schemas.openxmlformats.org/drawingml/2006/main">
              <a:ext uri="{FF2B5EF4-FFF2-40B4-BE49-F238E27FC236}">
                <a16:creationId xmlns:a16="http://schemas.microsoft.com/office/drawing/2014/main" id="{7C77C5F0-1957-471A-ACFC-6A958E45ABE4}"/>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long.</a:t>
            </a:r>
          </a:p>
        </p:txBody>
      </p:sp>
      <p:sp>
        <p:nvSpPr>
          <p:cNvPr id="13" name="concept-47-footer-0">
            <a:extLst xmlns:a="http://schemas.openxmlformats.org/drawingml/2006/main">
              <a:ext uri="{FF2B5EF4-FFF2-40B4-BE49-F238E27FC236}">
                <a16:creationId xmlns:a16="http://schemas.microsoft.com/office/drawing/2014/main" id="{BF396FCA-14FA-41FD-8E8D-0D4638495636}"/>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Principal component analysis</a:t>
            </a:r>
          </a:p>
        </p:txBody>
      </p:sp>
    </p:spTree>
    <p:extLst>
      <p:ext uri="{BB962C8B-B14F-4D97-AF65-F5344CB8AC3E}">
        <p14:creationId xmlns:p14="http://schemas.microsoft.com/office/powerpoint/2010/main" val="199424887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48-chapter-0">
            <a:extLst xmlns:a="http://schemas.openxmlformats.org/drawingml/2006/main">
              <a:ext uri="{FF2B5EF4-FFF2-40B4-BE49-F238E27FC236}">
                <a16:creationId xmlns:a16="http://schemas.microsoft.com/office/drawing/2014/main" id="{73D99EDA-E0DA-4751-A008-48039A06E12B}"/>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048 / 100 · REPRESENTATIONS AND LANGUAGE</a:t>
            </a:r>
          </a:p>
        </p:txBody>
      </p:sp>
      <p:sp>
        <p:nvSpPr>
          <p:cNvPr id="2" name="concept-48-title-0">
            <a:extLst xmlns:a="http://schemas.openxmlformats.org/drawingml/2006/main">
              <a:ext uri="{FF2B5EF4-FFF2-40B4-BE49-F238E27FC236}">
                <a16:creationId xmlns:a16="http://schemas.microsoft.com/office/drawing/2014/main" id="{08D00B58-DC90-4CFC-87CA-321D8C1C4DD0}"/>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Principal component analysis</a:t>
            </a:r>
          </a:p>
        </p:txBody>
      </p:sp>
      <p:sp>
        <p:nvSpPr>
          <p:cNvPr id="3" name="concept-48-definition-label-0">
            <a:extLst xmlns:a="http://schemas.openxmlformats.org/drawingml/2006/main">
              <a:ext uri="{FF2B5EF4-FFF2-40B4-BE49-F238E27FC236}">
                <a16:creationId xmlns:a16="http://schemas.microsoft.com/office/drawing/2014/main" id="{C4095F0F-5BD2-4CFE-B76C-D8B250922EFC}"/>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48-definition-0">
            <a:extLst xmlns:a="http://schemas.openxmlformats.org/drawingml/2006/main">
              <a:ext uri="{FF2B5EF4-FFF2-40B4-BE49-F238E27FC236}">
                <a16:creationId xmlns:a16="http://schemas.microsoft.com/office/drawing/2014/main" id="{D6F41627-D4C3-47BD-8D23-5C4E91614310}"/>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PCA subtracts the data’s mean, then finds perpendicular</a:t>
            </a:r>
          </a:p>
        </p:txBody>
      </p:sp>
      <p:sp>
        <p:nvSpPr>
          <p:cNvPr id="5" name="concept-48-definition-1">
            <a:extLst xmlns:a="http://schemas.openxmlformats.org/drawingml/2006/main">
              <a:ext uri="{FF2B5EF4-FFF2-40B4-BE49-F238E27FC236}">
                <a16:creationId xmlns:a16="http://schemas.microsoft.com/office/drawing/2014/main" id="{197BFD77-7E4D-4C8A-AD22-5E8D8D4F9A3D}"/>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directions that preserve the most variance. Projecting onto the</a:t>
            </a:r>
          </a:p>
        </p:txBody>
      </p:sp>
      <p:sp>
        <p:nvSpPr>
          <p:cNvPr id="14" name="concept-48-definition-2">
            <a:extLst xmlns:a="http://schemas.openxmlformats.org/drawingml/2006/main">
              <a:ext uri="{FF2B5EF4-FFF2-40B4-BE49-F238E27FC236}">
                <a16:creationId xmlns:a16="http://schemas.microsoft.com/office/drawing/2014/main" id="{6CE3ED46-B78D-4B4B-98B7-0E47052168BA}"/>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leading directions gives fewer coordinates per example.</a:t>
            </a:r>
          </a:p>
        </p:txBody>
      </p:sp>
      <p:sp>
        <p:nvSpPr>
          <p:cNvPr id="6" name="concept-48-formula-0">
            <a:extLst xmlns:a="http://schemas.openxmlformats.org/drawingml/2006/main">
              <a:ext uri="{FF2B5EF4-FFF2-40B4-BE49-F238E27FC236}">
                <a16:creationId xmlns:a16="http://schemas.microsoft.com/office/drawing/2014/main" id="{93BCF573-E4FB-41DF-A2FB-2BFC4BAE4BB0}"/>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First direction: maximize E[(u · x)²], with ‖u‖₂ = 1</a:t>
            </a:r>
          </a:p>
        </p:txBody>
      </p:sp>
      <p:sp>
        <p:nvSpPr>
          <p:cNvPr id="15" name="concept-48-formula-1">
            <a:extLst xmlns:a="http://schemas.openxmlformats.org/drawingml/2006/main">
              <a:ext uri="{FF2B5EF4-FFF2-40B4-BE49-F238E27FC236}">
                <a16:creationId xmlns:a16="http://schemas.microsoft.com/office/drawing/2014/main" id="{2E8EA85C-D840-4FB0-94B3-DBD5987962A0}"/>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x is centered: its mean is zero</a:t>
            </a:r>
          </a:p>
        </p:txBody>
      </p:sp>
      <p:sp>
        <p:nvSpPr>
          <p:cNvPr id="7" name="concept-48-example-label-0">
            <a:extLst xmlns:a="http://schemas.openxmlformats.org/drawingml/2006/main">
              <a:ext uri="{FF2B5EF4-FFF2-40B4-BE49-F238E27FC236}">
                <a16:creationId xmlns:a16="http://schemas.microsoft.com/office/drawing/2014/main" id="{BE2359AD-486E-4715-A781-D24CA8E9803E}"/>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48-example-0">
            <a:extLst xmlns:a="http://schemas.openxmlformats.org/drawingml/2006/main">
              <a:ext uri="{FF2B5EF4-FFF2-40B4-BE49-F238E27FC236}">
                <a16:creationId xmlns:a16="http://schemas.microsoft.com/office/drawing/2014/main" id="{F00196CC-4ACE-4B14-B479-F8B97546BF02}"/>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Points (−1, −1) and (1, 1) lie on a diagonal. Projecting onto u =</a:t>
            </a:r>
          </a:p>
        </p:txBody>
      </p:sp>
      <p:sp>
        <p:nvSpPr>
          <p:cNvPr id="9" name="concept-48-example-1">
            <a:extLst xmlns:a="http://schemas.openxmlformats.org/drawingml/2006/main">
              <a:ext uri="{FF2B5EF4-FFF2-40B4-BE49-F238E27FC236}">
                <a16:creationId xmlns:a16="http://schemas.microsoft.com/office/drawing/2014/main" id="{727C2555-FE19-4DF6-86C6-55CA18923B8D}"/>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(1, 1)/√2 gives −√2 and √2. One coordinate locates each point.</a:t>
            </a:r>
          </a:p>
        </p:txBody>
      </p:sp>
      <p:sp>
        <p:nvSpPr>
          <p:cNvPr id="10" name="concept-48-metaphor-label-0">
            <a:extLst xmlns:a="http://schemas.openxmlformats.org/drawingml/2006/main">
              <a:ext uri="{FF2B5EF4-FFF2-40B4-BE49-F238E27FC236}">
                <a16:creationId xmlns:a16="http://schemas.microsoft.com/office/drawing/2014/main" id="{72436486-0B28-41E9-A9CB-2E5F51D4910F}"/>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48-metaphor-0">
            <a:extLst xmlns:a="http://schemas.openxmlformats.org/drawingml/2006/main">
              <a:ext uri="{FF2B5EF4-FFF2-40B4-BE49-F238E27FC236}">
                <a16:creationId xmlns:a16="http://schemas.microsoft.com/office/drawing/2014/main" id="{1DC701C6-0E0B-48AD-8795-52FD16DCDF96}"/>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Rotate a flashlight until a one-dimensional shadow preserves</a:t>
            </a:r>
          </a:p>
        </p:txBody>
      </p:sp>
      <p:sp>
        <p:nvSpPr>
          <p:cNvPr id="12" name="concept-48-metaphor-1">
            <a:extLst xmlns:a="http://schemas.openxmlformats.org/drawingml/2006/main">
              <a:ext uri="{FF2B5EF4-FFF2-40B4-BE49-F238E27FC236}">
                <a16:creationId xmlns:a16="http://schemas.microsoft.com/office/drawing/2014/main" id="{BEE5045C-067C-4628-936E-2E8A15071927}"/>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object's greatest spread.</a:t>
            </a:r>
          </a:p>
        </p:txBody>
      </p:sp>
      <p:sp>
        <p:nvSpPr>
          <p:cNvPr id="13" name="concept-48-footer-0">
            <a:extLst xmlns:a="http://schemas.openxmlformats.org/drawingml/2006/main">
              <a:ext uri="{FF2B5EF4-FFF2-40B4-BE49-F238E27FC236}">
                <a16:creationId xmlns:a16="http://schemas.microsoft.com/office/drawing/2014/main" id="{273216BD-BEE6-456E-922F-6FE882BB999D}"/>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Autoencoder</a:t>
            </a:r>
          </a:p>
        </p:txBody>
      </p:sp>
    </p:spTree>
    <p:extLst>
      <p:ext uri="{BB962C8B-B14F-4D97-AF65-F5344CB8AC3E}">
        <p14:creationId xmlns:p14="http://schemas.microsoft.com/office/powerpoint/2010/main" val="1452097923"/>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49-chapter-0">
            <a:extLst xmlns:a="http://schemas.openxmlformats.org/drawingml/2006/main">
              <a:ext uri="{FF2B5EF4-FFF2-40B4-BE49-F238E27FC236}">
                <a16:creationId xmlns:a16="http://schemas.microsoft.com/office/drawing/2014/main" id="{BF8096FA-273E-4C96-B00D-760922AAD642}"/>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049 / 100 · REPRESENTATIONS AND LANGUAGE</a:t>
            </a:r>
          </a:p>
        </p:txBody>
      </p:sp>
      <p:sp>
        <p:nvSpPr>
          <p:cNvPr id="2" name="concept-49-title-0">
            <a:extLst xmlns:a="http://schemas.openxmlformats.org/drawingml/2006/main">
              <a:ext uri="{FF2B5EF4-FFF2-40B4-BE49-F238E27FC236}">
                <a16:creationId xmlns:a16="http://schemas.microsoft.com/office/drawing/2014/main" id="{38744A20-3738-41A1-87AF-CE980D0F62B9}"/>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Autoencoder</a:t>
            </a:r>
          </a:p>
        </p:txBody>
      </p:sp>
      <p:sp>
        <p:nvSpPr>
          <p:cNvPr id="3" name="concept-49-definition-label-0">
            <a:extLst xmlns:a="http://schemas.openxmlformats.org/drawingml/2006/main">
              <a:ext uri="{FF2B5EF4-FFF2-40B4-BE49-F238E27FC236}">
                <a16:creationId xmlns:a16="http://schemas.microsoft.com/office/drawing/2014/main" id="{B9D100AC-5357-46A3-BAB5-3EE09DEB5B8E}"/>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49-definition-0">
            <a:extLst xmlns:a="http://schemas.openxmlformats.org/drawingml/2006/main">
              <a:ext uri="{FF2B5EF4-FFF2-40B4-BE49-F238E27FC236}">
                <a16:creationId xmlns:a16="http://schemas.microsoft.com/office/drawing/2014/main" id="{3FB677DA-0AB0-441C-9D08-C4AE4CE4A9BC}"/>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autoencoder learns to reconstruct its input. Its encoder</a:t>
            </a:r>
          </a:p>
        </p:txBody>
      </p:sp>
      <p:sp>
        <p:nvSpPr>
          <p:cNvPr id="5" name="concept-49-definition-1">
            <a:extLst xmlns:a="http://schemas.openxmlformats.org/drawingml/2006/main">
              <a:ext uri="{FF2B5EF4-FFF2-40B4-BE49-F238E27FC236}">
                <a16:creationId xmlns:a16="http://schemas.microsoft.com/office/drawing/2014/main" id="{90D8173E-9831-4658-8D34-3B609B961075}"/>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produces a code z; its decoder rebuilds the input from z.</a:t>
            </a:r>
          </a:p>
        </p:txBody>
      </p:sp>
      <p:sp>
        <p:nvSpPr>
          <p:cNvPr id="14" name="concept-49-definition-2">
            <a:extLst xmlns:a="http://schemas.openxmlformats.org/drawingml/2006/main">
              <a:ext uri="{FF2B5EF4-FFF2-40B4-BE49-F238E27FC236}">
                <a16:creationId xmlns:a16="http://schemas.microsoft.com/office/drawing/2014/main" id="{39A03E53-48BD-46E3-901C-AB86A2AAA40B}"/>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Training reduces the reconstruction error.</a:t>
            </a:r>
          </a:p>
        </p:txBody>
      </p:sp>
      <p:sp>
        <p:nvSpPr>
          <p:cNvPr id="6" name="concept-49-formula-0">
            <a:extLst xmlns:a="http://schemas.openxmlformats.org/drawingml/2006/main">
              <a:ext uri="{FF2B5EF4-FFF2-40B4-BE49-F238E27FC236}">
                <a16:creationId xmlns:a16="http://schemas.microsoft.com/office/drawing/2014/main" id="{7C2EE08B-03D2-4E92-9CD2-260363271040}"/>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z = f_θ(x); x̂ = g_φ(z); L = MSE(x, x̂)</a:t>
            </a:r>
          </a:p>
        </p:txBody>
      </p:sp>
      <p:sp>
        <p:nvSpPr>
          <p:cNvPr id="15" name="concept-49-formula-1">
            <a:extLst xmlns:a="http://schemas.openxmlformats.org/drawingml/2006/main">
              <a:ext uri="{FF2B5EF4-FFF2-40B4-BE49-F238E27FC236}">
                <a16:creationId xmlns:a16="http://schemas.microsoft.com/office/drawing/2014/main" id="{D27D2BA2-01FB-4A8E-BED3-E433F7261D98}"/>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Training adjusts encoder weights θ and decoder weights φ.</a:t>
            </a:r>
          </a:p>
        </p:txBody>
      </p:sp>
      <p:sp>
        <p:nvSpPr>
          <p:cNvPr id="7" name="concept-49-example-label-0">
            <a:extLst xmlns:a="http://schemas.openxmlformats.org/drawingml/2006/main">
              <a:ext uri="{FF2B5EF4-FFF2-40B4-BE49-F238E27FC236}">
                <a16:creationId xmlns:a16="http://schemas.microsoft.com/office/drawing/2014/main" id="{845EAB8E-15C9-4F62-A480-145EFA5B7479}"/>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49-example-0">
            <a:extLst xmlns:a="http://schemas.openxmlformats.org/drawingml/2006/main">
              <a:ext uri="{FF2B5EF4-FFF2-40B4-BE49-F238E27FC236}">
                <a16:creationId xmlns:a16="http://schemas.microsoft.com/office/drawing/2014/main" id="{41A89916-8CED-47A3-9210-3BC2145CA265}"/>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With toy weights: x = (2, 5), encoder z = x₁ = 2, decoder x̂ =</a:t>
            </a:r>
          </a:p>
        </p:txBody>
      </p:sp>
      <p:sp>
        <p:nvSpPr>
          <p:cNvPr id="9" name="concept-49-example-1">
            <a:extLst xmlns:a="http://schemas.openxmlformats.org/drawingml/2006/main">
              <a:ext uri="{FF2B5EF4-FFF2-40B4-BE49-F238E27FC236}">
                <a16:creationId xmlns:a16="http://schemas.microsoft.com/office/drawing/2014/main" id="{56E07CA3-3B86-469C-B76F-2B62D3BA28B2}"/>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(z, 2z) = (2, 4). Reconstruction loss = (0² + 1²)/2 = 0.5.</a:t>
            </a:r>
          </a:p>
        </p:txBody>
      </p:sp>
      <p:sp>
        <p:nvSpPr>
          <p:cNvPr id="10" name="concept-49-metaphor-label-0">
            <a:extLst xmlns:a="http://schemas.openxmlformats.org/drawingml/2006/main">
              <a:ext uri="{FF2B5EF4-FFF2-40B4-BE49-F238E27FC236}">
                <a16:creationId xmlns:a16="http://schemas.microsoft.com/office/drawing/2014/main" id="{0EDD6BAE-E151-4D5E-A1E6-9F0A1959D758}"/>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49-metaphor-0">
            <a:extLst xmlns:a="http://schemas.openxmlformats.org/drawingml/2006/main">
              <a:ext uri="{FF2B5EF4-FFF2-40B4-BE49-F238E27FC236}">
                <a16:creationId xmlns:a16="http://schemas.microsoft.com/office/drawing/2014/main" id="{E01FA135-7430-4896-8CEA-ABC3EE76DA07}"/>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Pack a suitcase, then unpack it and check which belongings</a:t>
            </a:r>
          </a:p>
        </p:txBody>
      </p:sp>
      <p:sp>
        <p:nvSpPr>
          <p:cNvPr id="12" name="concept-49-metaphor-1">
            <a:extLst xmlns:a="http://schemas.openxmlformats.org/drawingml/2006/main">
              <a:ext uri="{FF2B5EF4-FFF2-40B4-BE49-F238E27FC236}">
                <a16:creationId xmlns:a16="http://schemas.microsoft.com/office/drawing/2014/main" id="{D2077774-B80E-4FB8-8A2E-5489EF5FBDDB}"/>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survived.</a:t>
            </a:r>
          </a:p>
        </p:txBody>
      </p:sp>
      <p:sp>
        <p:nvSpPr>
          <p:cNvPr id="13" name="concept-49-footer-0">
            <a:extLst xmlns:a="http://schemas.openxmlformats.org/drawingml/2006/main">
              <a:ext uri="{FF2B5EF4-FFF2-40B4-BE49-F238E27FC236}">
                <a16:creationId xmlns:a16="http://schemas.microsoft.com/office/drawing/2014/main" id="{D355EB15-610D-45C4-948E-BA90B7E54F15}"/>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Latent space and bottleneck</a:t>
            </a:r>
          </a:p>
        </p:txBody>
      </p:sp>
    </p:spTree>
    <p:extLst>
      <p:ext uri="{BB962C8B-B14F-4D97-AF65-F5344CB8AC3E}">
        <p14:creationId xmlns:p14="http://schemas.microsoft.com/office/powerpoint/2010/main" val="1015559737"/>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50-chapter-0">
            <a:extLst xmlns:a="http://schemas.openxmlformats.org/drawingml/2006/main">
              <a:ext uri="{FF2B5EF4-FFF2-40B4-BE49-F238E27FC236}">
                <a16:creationId xmlns:a16="http://schemas.microsoft.com/office/drawing/2014/main" id="{4F57B32E-46FE-43FB-A335-8BEDAF408308}"/>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050 / 100 · REPRESENTATIONS AND LANGUAGE</a:t>
            </a:r>
          </a:p>
        </p:txBody>
      </p:sp>
      <p:sp>
        <p:nvSpPr>
          <p:cNvPr id="2" name="concept-50-title-0">
            <a:extLst xmlns:a="http://schemas.openxmlformats.org/drawingml/2006/main">
              <a:ext uri="{FF2B5EF4-FFF2-40B4-BE49-F238E27FC236}">
                <a16:creationId xmlns:a16="http://schemas.microsoft.com/office/drawing/2014/main" id="{00AF6E62-FED9-4FD2-A6E8-97A26A012763}"/>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Latent space and bottleneck</a:t>
            </a:r>
          </a:p>
        </p:txBody>
      </p:sp>
      <p:sp>
        <p:nvSpPr>
          <p:cNvPr id="3" name="concept-50-definition-label-0">
            <a:extLst xmlns:a="http://schemas.openxmlformats.org/drawingml/2006/main">
              <a:ext uri="{FF2B5EF4-FFF2-40B4-BE49-F238E27FC236}">
                <a16:creationId xmlns:a16="http://schemas.microsoft.com/office/drawing/2014/main" id="{68239106-B771-4A33-A014-380D4C4561AD}"/>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50-definition-0">
            <a:extLst xmlns:a="http://schemas.openxmlformats.org/drawingml/2006/main">
              <a:ext uri="{FF2B5EF4-FFF2-40B4-BE49-F238E27FC236}">
                <a16:creationId xmlns:a16="http://schemas.microsoft.com/office/drawing/2014/main" id="{3BD0036B-D182-4196-AA59-432BFAD89E94}"/>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latent vector encodes an input inside a model. Latent space</a:t>
            </a:r>
          </a:p>
        </p:txBody>
      </p:sp>
      <p:sp>
        <p:nvSpPr>
          <p:cNvPr id="5" name="concept-50-definition-1">
            <a:extLst xmlns:a="http://schemas.openxmlformats.org/drawingml/2006/main">
              <a:ext uri="{FF2B5EF4-FFF2-40B4-BE49-F238E27FC236}">
                <a16:creationId xmlns:a16="http://schemas.microsoft.com/office/drawing/2014/main" id="{9567BE4F-B595-49D4-8F95-F127FCE83F50}"/>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contains its possible codes. A bottleneck limits the size or</a:t>
            </a:r>
          </a:p>
        </p:txBody>
      </p:sp>
      <p:sp>
        <p:nvSpPr>
          <p:cNvPr id="6" name="concept-50-definition-2">
            <a:extLst xmlns:a="http://schemas.openxmlformats.org/drawingml/2006/main">
              <a:ext uri="{FF2B5EF4-FFF2-40B4-BE49-F238E27FC236}">
                <a16:creationId xmlns:a16="http://schemas.microsoft.com/office/drawing/2014/main" id="{C69C3FB5-E765-4C4D-A36D-353C7A24023E}"/>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information capacity of that representation.</a:t>
            </a:r>
          </a:p>
        </p:txBody>
      </p:sp>
      <p:sp>
        <p:nvSpPr>
          <p:cNvPr id="7" name="concept-50-formula-0">
            <a:extLst xmlns:a="http://schemas.openxmlformats.org/drawingml/2006/main">
              <a:ext uri="{FF2B5EF4-FFF2-40B4-BE49-F238E27FC236}">
                <a16:creationId xmlns:a16="http://schemas.microsoft.com/office/drawing/2014/main" id="{E00B9F91-0129-4CA3-A035-CC26F23EE182}"/>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Undercomplete bottleneck: x ∈ ℝⁿ → z ∈ ℝᵈ, d &lt; n</a:t>
            </a:r>
          </a:p>
        </p:txBody>
      </p:sp>
      <p:sp>
        <p:nvSpPr>
          <p:cNvPr id="8" name="concept-50-example-label-0">
            <a:extLst xmlns:a="http://schemas.openxmlformats.org/drawingml/2006/main">
              <a:ext uri="{FF2B5EF4-FFF2-40B4-BE49-F238E27FC236}">
                <a16:creationId xmlns:a16="http://schemas.microsoft.com/office/drawing/2014/main" id="{7FAC1DBE-D9B2-4D60-BA64-F40E1A1980D2}"/>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50-example-0">
            <a:extLst xmlns:a="http://schemas.openxmlformats.org/drawingml/2006/main">
              <a:ext uri="{FF2B5EF4-FFF2-40B4-BE49-F238E27FC236}">
                <a16:creationId xmlns:a16="http://schemas.microsoft.com/office/drawing/2014/main" id="{004FB1E2-A8C6-4F36-92F2-CA3DC73E34CE}"/>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Pairs (2, 4), (3, 6), (5, 10) can use one-number codes 2, 3, 5.</a:t>
            </a:r>
          </a:p>
        </p:txBody>
      </p:sp>
      <p:sp>
        <p:nvSpPr>
          <p:cNvPr id="10" name="concept-50-example-1">
            <a:extLst xmlns:a="http://schemas.openxmlformats.org/drawingml/2006/main">
              <a:ext uri="{FF2B5EF4-FFF2-40B4-BE49-F238E27FC236}">
                <a16:creationId xmlns:a16="http://schemas.microsoft.com/office/drawing/2014/main" id="{06888488-AFD7-415B-992A-2ADC9F0B471C}"/>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Decoder (z, 2z) restores every pair. Input (2, 5) breaks that</a:t>
            </a:r>
          </a:p>
        </p:txBody>
      </p:sp>
      <p:sp>
        <p:nvSpPr>
          <p:cNvPr id="15" name="concept-50-example-2">
            <a:extLst xmlns:a="http://schemas.openxmlformats.org/drawingml/2006/main">
              <a:ext uri="{FF2B5EF4-FFF2-40B4-BE49-F238E27FC236}">
                <a16:creationId xmlns:a16="http://schemas.microsoft.com/office/drawing/2014/main" id="{9D81C878-553F-48B7-B778-B8E464704A55}"/>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pattern.</a:t>
            </a:r>
          </a:p>
        </p:txBody>
      </p:sp>
      <p:sp>
        <p:nvSpPr>
          <p:cNvPr id="11" name="concept-50-metaphor-label-0">
            <a:extLst xmlns:a="http://schemas.openxmlformats.org/drawingml/2006/main">
              <a:ext uri="{FF2B5EF4-FFF2-40B4-BE49-F238E27FC236}">
                <a16:creationId xmlns:a16="http://schemas.microsoft.com/office/drawing/2014/main" id="{53F2B5B5-2373-46AB-B1C2-71FBC00054DC}"/>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50-metaphor-0">
            <a:extLst xmlns:a="http://schemas.openxmlformats.org/drawingml/2006/main">
              <a:ext uri="{FF2B5EF4-FFF2-40B4-BE49-F238E27FC236}">
                <a16:creationId xmlns:a16="http://schemas.microsoft.com/office/drawing/2014/main" id="{18E16550-5EBA-4AD4-8567-FECA99F5844F}"/>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narrow doorway forces a traveler to choose what to carry</a:t>
            </a:r>
          </a:p>
        </p:txBody>
      </p:sp>
      <p:sp>
        <p:nvSpPr>
          <p:cNvPr id="13" name="concept-50-metaphor-1">
            <a:extLst xmlns:a="http://schemas.openxmlformats.org/drawingml/2006/main">
              <a:ext uri="{FF2B5EF4-FFF2-40B4-BE49-F238E27FC236}">
                <a16:creationId xmlns:a16="http://schemas.microsoft.com/office/drawing/2014/main" id="{A7D24705-6FDD-4D77-ACC1-4254BBB0F5CB}"/>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through.</a:t>
            </a:r>
          </a:p>
        </p:txBody>
      </p:sp>
      <p:sp>
        <p:nvSpPr>
          <p:cNvPr id="14" name="concept-50-footer-0">
            <a:extLst xmlns:a="http://schemas.openxmlformats.org/drawingml/2006/main">
              <a:ext uri="{FF2B5EF4-FFF2-40B4-BE49-F238E27FC236}">
                <a16:creationId xmlns:a16="http://schemas.microsoft.com/office/drawing/2014/main" id="{5A1792F3-89F0-470B-A603-103FA2953BD3}"/>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Bit and byte</a:t>
            </a:r>
          </a:p>
        </p:txBody>
      </p:sp>
    </p:spTree>
    <p:extLst>
      <p:ext uri="{BB962C8B-B14F-4D97-AF65-F5344CB8AC3E}">
        <p14:creationId xmlns:p14="http://schemas.microsoft.com/office/powerpoint/2010/main" val="210853585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51-chapter-0">
            <a:extLst xmlns:a="http://schemas.openxmlformats.org/drawingml/2006/main">
              <a:ext uri="{FF2B5EF4-FFF2-40B4-BE49-F238E27FC236}">
                <a16:creationId xmlns:a16="http://schemas.microsoft.com/office/drawing/2014/main" id="{666D60E0-712F-49F7-B2F2-8B633708DB39}"/>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051 / 100 · REPRESENTATIONS AND LANGUAGE</a:t>
            </a:r>
          </a:p>
        </p:txBody>
      </p:sp>
      <p:sp>
        <p:nvSpPr>
          <p:cNvPr id="2" name="concept-51-title-0">
            <a:extLst xmlns:a="http://schemas.openxmlformats.org/drawingml/2006/main">
              <a:ext uri="{FF2B5EF4-FFF2-40B4-BE49-F238E27FC236}">
                <a16:creationId xmlns:a16="http://schemas.microsoft.com/office/drawing/2014/main" id="{87F4AA80-0617-4391-B8C4-499448EC24B4}"/>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Bit and byte</a:t>
            </a:r>
          </a:p>
        </p:txBody>
      </p:sp>
      <p:sp>
        <p:nvSpPr>
          <p:cNvPr id="3" name="concept-51-definition-label-0">
            <a:extLst xmlns:a="http://schemas.openxmlformats.org/drawingml/2006/main">
              <a:ext uri="{FF2B5EF4-FFF2-40B4-BE49-F238E27FC236}">
                <a16:creationId xmlns:a16="http://schemas.microsoft.com/office/drawing/2014/main" id="{45A83684-DD39-42A0-AB4A-4E76B4E12AF5}"/>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51-definition-0">
            <a:extLst xmlns:a="http://schemas.openxmlformats.org/drawingml/2006/main">
              <a:ext uri="{FF2B5EF4-FFF2-40B4-BE49-F238E27FC236}">
                <a16:creationId xmlns:a16="http://schemas.microsoft.com/office/drawing/2014/main" id="{FAB5A05B-D4F7-4BB8-B6B2-E8DF56C98FAB}"/>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bit has two possible values, 0 or 1. A byte contains eight bits</a:t>
            </a:r>
          </a:p>
        </p:txBody>
      </p:sp>
      <p:sp>
        <p:nvSpPr>
          <p:cNvPr id="5" name="concept-51-definition-1">
            <a:extLst xmlns:a="http://schemas.openxmlformats.org/drawingml/2006/main">
              <a:ext uri="{FF2B5EF4-FFF2-40B4-BE49-F238E27FC236}">
                <a16:creationId xmlns:a16="http://schemas.microsoft.com/office/drawing/2014/main" id="{E581D7DB-3EBF-4950-95C4-E63BFD87E575}"/>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and can encode 256 different bit patterns.</a:t>
            </a:r>
          </a:p>
        </p:txBody>
      </p:sp>
      <p:sp>
        <p:nvSpPr>
          <p:cNvPr id="6" name="concept-51-formula-0">
            <a:extLst xmlns:a="http://schemas.openxmlformats.org/drawingml/2006/main">
              <a:ext uri="{FF2B5EF4-FFF2-40B4-BE49-F238E27FC236}">
                <a16:creationId xmlns:a16="http://schemas.microsoft.com/office/drawing/2014/main" id="{7E884FD0-2AB4-46C8-B6A5-14C237059470}"/>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n bits encode 2ⁿ patterns; 1 byte = 8 bits</a:t>
            </a:r>
          </a:p>
        </p:txBody>
      </p:sp>
      <p:sp>
        <p:nvSpPr>
          <p:cNvPr id="7" name="concept-51-example-label-0">
            <a:extLst xmlns:a="http://schemas.openxmlformats.org/drawingml/2006/main">
              <a:ext uri="{FF2B5EF4-FFF2-40B4-BE49-F238E27FC236}">
                <a16:creationId xmlns:a16="http://schemas.microsoft.com/office/drawing/2014/main" id="{AC1B8F91-BC11-400F-992E-C114AC1AF077}"/>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51-example-0">
            <a:extLst xmlns:a="http://schemas.openxmlformats.org/drawingml/2006/main">
              <a:ext uri="{FF2B5EF4-FFF2-40B4-BE49-F238E27FC236}">
                <a16:creationId xmlns:a16="http://schemas.microsoft.com/office/drawing/2014/main" id="{096A39B4-99FE-49E6-B54A-195010534ABB}"/>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Two bits have four patterns: 00, 01, 10, 11. An agreed binary</a:t>
            </a:r>
          </a:p>
        </p:txBody>
      </p:sp>
      <p:sp>
        <p:nvSpPr>
          <p:cNvPr id="9" name="concept-51-example-1">
            <a:extLst xmlns:a="http://schemas.openxmlformats.org/drawingml/2006/main">
              <a:ext uri="{FF2B5EF4-FFF2-40B4-BE49-F238E27FC236}">
                <a16:creationId xmlns:a16="http://schemas.microsoft.com/office/drawing/2014/main" id="{C4C22639-DF55-4E91-ABD4-467161DCC5E2}"/>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encoding maps them to 0, 1, 2, 3. Eight bits give 2⁸ = 256</a:t>
            </a:r>
          </a:p>
        </p:txBody>
      </p:sp>
      <p:sp>
        <p:nvSpPr>
          <p:cNvPr id="14" name="concept-51-example-2">
            <a:extLst xmlns:a="http://schemas.openxmlformats.org/drawingml/2006/main">
              <a:ext uri="{FF2B5EF4-FFF2-40B4-BE49-F238E27FC236}">
                <a16:creationId xmlns:a16="http://schemas.microsoft.com/office/drawing/2014/main" id="{A7D21682-A9E8-48A9-909C-37DEC604EBF8}"/>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patterns.</a:t>
            </a:r>
          </a:p>
        </p:txBody>
      </p:sp>
      <p:sp>
        <p:nvSpPr>
          <p:cNvPr id="10" name="concept-51-metaphor-label-0">
            <a:extLst xmlns:a="http://schemas.openxmlformats.org/drawingml/2006/main">
              <a:ext uri="{FF2B5EF4-FFF2-40B4-BE49-F238E27FC236}">
                <a16:creationId xmlns:a16="http://schemas.microsoft.com/office/drawing/2014/main" id="{651BF306-45E8-46C5-8B67-02E2C21F4A92}"/>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51-metaphor-0">
            <a:extLst xmlns:a="http://schemas.openxmlformats.org/drawingml/2006/main">
              <a:ext uri="{FF2B5EF4-FFF2-40B4-BE49-F238E27FC236}">
                <a16:creationId xmlns:a16="http://schemas.microsoft.com/office/drawing/2014/main" id="{A12C8BFE-6D10-4D08-B9B0-E5718789143C}"/>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Bits are tiny switches; eight switches form a byte-sized</a:t>
            </a:r>
          </a:p>
        </p:txBody>
      </p:sp>
      <p:sp>
        <p:nvSpPr>
          <p:cNvPr id="12" name="concept-51-metaphor-1">
            <a:extLst xmlns:a="http://schemas.openxmlformats.org/drawingml/2006/main">
              <a:ext uri="{FF2B5EF4-FFF2-40B4-BE49-F238E27FC236}">
                <a16:creationId xmlns:a16="http://schemas.microsoft.com/office/drawing/2014/main" id="{578E4647-0103-42B1-9DFB-18DE187D6D3C}"/>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combination lock.</a:t>
            </a:r>
          </a:p>
        </p:txBody>
      </p:sp>
      <p:sp>
        <p:nvSpPr>
          <p:cNvPr id="13" name="concept-51-footer-0">
            <a:extLst xmlns:a="http://schemas.openxmlformats.org/drawingml/2006/main">
              <a:ext uri="{FF2B5EF4-FFF2-40B4-BE49-F238E27FC236}">
                <a16:creationId xmlns:a16="http://schemas.microsoft.com/office/drawing/2014/main" id="{27B02CF6-B0B3-45BB-B539-448131F99228}"/>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Numerical precision</a:t>
            </a:r>
          </a:p>
        </p:txBody>
      </p:sp>
    </p:spTree>
    <p:extLst>
      <p:ext uri="{BB962C8B-B14F-4D97-AF65-F5344CB8AC3E}">
        <p14:creationId xmlns:p14="http://schemas.microsoft.com/office/powerpoint/2010/main" val="126327199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52-chapter-0">
            <a:extLst xmlns:a="http://schemas.openxmlformats.org/drawingml/2006/main">
              <a:ext uri="{FF2B5EF4-FFF2-40B4-BE49-F238E27FC236}">
                <a16:creationId xmlns:a16="http://schemas.microsoft.com/office/drawing/2014/main" id="{ED70A300-49FC-45D2-B365-7CBE6660178F}"/>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052 / 100 · REPRESENTATIONS AND LANGUAGE</a:t>
            </a:r>
          </a:p>
        </p:txBody>
      </p:sp>
      <p:sp>
        <p:nvSpPr>
          <p:cNvPr id="2" name="concept-52-title-0">
            <a:extLst xmlns:a="http://schemas.openxmlformats.org/drawingml/2006/main">
              <a:ext uri="{FF2B5EF4-FFF2-40B4-BE49-F238E27FC236}">
                <a16:creationId xmlns:a16="http://schemas.microsoft.com/office/drawing/2014/main" id="{276975BE-5778-4F12-B12C-5FA879FBC2E7}"/>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Numerical precision</a:t>
            </a:r>
          </a:p>
        </p:txBody>
      </p:sp>
      <p:sp>
        <p:nvSpPr>
          <p:cNvPr id="3" name="concept-52-definition-label-0">
            <a:extLst xmlns:a="http://schemas.openxmlformats.org/drawingml/2006/main">
              <a:ext uri="{FF2B5EF4-FFF2-40B4-BE49-F238E27FC236}">
                <a16:creationId xmlns:a16="http://schemas.microsoft.com/office/drawing/2014/main" id="{DFDF995D-3FFA-418D-A897-20168F8F9FB0}"/>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52-definition-0">
            <a:extLst xmlns:a="http://schemas.openxmlformats.org/drawingml/2006/main">
              <a:ext uri="{FF2B5EF4-FFF2-40B4-BE49-F238E27FC236}">
                <a16:creationId xmlns:a16="http://schemas.microsoft.com/office/drawing/2014/main" id="{CF9D8871-BDDB-4D5F-A8F0-B5855E4D7779}"/>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Numerical precision describes how finely a number format</a:t>
            </a:r>
          </a:p>
        </p:txBody>
      </p:sp>
      <p:sp>
        <p:nvSpPr>
          <p:cNvPr id="5" name="concept-52-definition-1">
            <a:extLst xmlns:a="http://schemas.openxmlformats.org/drawingml/2006/main">
              <a:ext uri="{FF2B5EF4-FFF2-40B4-BE49-F238E27FC236}">
                <a16:creationId xmlns:a16="http://schemas.microsoft.com/office/drawing/2014/main" id="{C135B6FF-3BA8-4B37-AAE9-C0C7239779C5}"/>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represents values. Limited bits require rounding and impose a</a:t>
            </a:r>
          </a:p>
        </p:txBody>
      </p:sp>
      <p:sp>
        <p:nvSpPr>
          <p:cNvPr id="6" name="concept-52-definition-2">
            <a:extLst xmlns:a="http://schemas.openxmlformats.org/drawingml/2006/main">
              <a:ext uri="{FF2B5EF4-FFF2-40B4-BE49-F238E27FC236}">
                <a16:creationId xmlns:a16="http://schemas.microsoft.com/office/drawing/2014/main" id="{B6A27115-7306-489B-B437-9AFF42A9D843}"/>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finite range.</a:t>
            </a:r>
          </a:p>
        </p:txBody>
      </p:sp>
      <p:sp>
        <p:nvSpPr>
          <p:cNvPr id="7" name="concept-52-formula-0">
            <a:extLst xmlns:a="http://schemas.openxmlformats.org/drawingml/2006/main">
              <a:ext uri="{FF2B5EF4-FFF2-40B4-BE49-F238E27FC236}">
                <a16:creationId xmlns:a16="http://schemas.microsoft.com/office/drawing/2014/main" id="{B801D877-DC11-4270-B166-DDB7AA8888C8}"/>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absolute rounding error = abs(x − rounded value)</a:t>
            </a:r>
          </a:p>
        </p:txBody>
      </p:sp>
      <p:sp>
        <p:nvSpPr>
          <p:cNvPr id="8" name="concept-52-example-label-0">
            <a:extLst xmlns:a="http://schemas.openxmlformats.org/drawingml/2006/main">
              <a:ext uri="{FF2B5EF4-FFF2-40B4-BE49-F238E27FC236}">
                <a16:creationId xmlns:a16="http://schemas.microsoft.com/office/drawing/2014/main" id="{20CF9F06-52EE-4569-ADDB-4A93E2314100}"/>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52-example-0">
            <a:extLst xmlns:a="http://schemas.openxmlformats.org/drawingml/2006/main">
              <a:ext uri="{FF2B5EF4-FFF2-40B4-BE49-F238E27FC236}">
                <a16:creationId xmlns:a16="http://schemas.microsoft.com/office/drawing/2014/main" id="{E9D18FAB-6C50-47EA-9521-7F0C8841833F}"/>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Rounding 1.234 to two decimal places gives 1.23, an error of</a:t>
            </a:r>
          </a:p>
        </p:txBody>
      </p:sp>
      <p:sp>
        <p:nvSpPr>
          <p:cNvPr id="10" name="concept-52-example-1">
            <a:extLst xmlns:a="http://schemas.openxmlformats.org/drawingml/2006/main">
              <a:ext uri="{FF2B5EF4-FFF2-40B4-BE49-F238E27FC236}">
                <a16:creationId xmlns:a16="http://schemas.microsoft.com/office/drawing/2014/main" id="{7FDF9D2A-C719-4EFC-9EC6-EBE22BD738EF}"/>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0.004.</a:t>
            </a:r>
          </a:p>
        </p:txBody>
      </p:sp>
      <p:sp>
        <p:nvSpPr>
          <p:cNvPr id="11" name="concept-52-metaphor-label-0">
            <a:extLst xmlns:a="http://schemas.openxmlformats.org/drawingml/2006/main">
              <a:ext uri="{FF2B5EF4-FFF2-40B4-BE49-F238E27FC236}">
                <a16:creationId xmlns:a16="http://schemas.microsoft.com/office/drawing/2014/main" id="{6DDDE79E-AF3B-4D21-A9D8-1D8EFAE8E939}"/>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52-metaphor-0">
            <a:extLst xmlns:a="http://schemas.openxmlformats.org/drawingml/2006/main">
              <a:ext uri="{FF2B5EF4-FFF2-40B4-BE49-F238E27FC236}">
                <a16:creationId xmlns:a16="http://schemas.microsoft.com/office/drawing/2014/main" id="{F64363B3-04DE-46DC-BB62-878B92369ED2}"/>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ruler marked only in centimetres cannot record every</a:t>
            </a:r>
          </a:p>
        </p:txBody>
      </p:sp>
      <p:sp>
        <p:nvSpPr>
          <p:cNvPr id="13" name="concept-52-metaphor-1">
            <a:extLst xmlns:a="http://schemas.openxmlformats.org/drawingml/2006/main">
              <a:ext uri="{FF2B5EF4-FFF2-40B4-BE49-F238E27FC236}">
                <a16:creationId xmlns:a16="http://schemas.microsoft.com/office/drawing/2014/main" id="{A90F7003-0CA8-4496-A662-5E4C9392F62A}"/>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millimetre exactly.</a:t>
            </a:r>
          </a:p>
        </p:txBody>
      </p:sp>
      <p:sp>
        <p:nvSpPr>
          <p:cNvPr id="14" name="concept-52-footer-0">
            <a:extLst xmlns:a="http://schemas.openxmlformats.org/drawingml/2006/main">
              <a:ext uri="{FF2B5EF4-FFF2-40B4-BE49-F238E27FC236}">
                <a16:creationId xmlns:a16="http://schemas.microsoft.com/office/drawing/2014/main" id="{72098FC2-B15D-49BB-9DAE-535A328E9F8E}"/>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Rate-distortion tradeoff</a:t>
            </a:r>
          </a:p>
        </p:txBody>
      </p:sp>
    </p:spTree>
    <p:extLst>
      <p:ext uri="{BB962C8B-B14F-4D97-AF65-F5344CB8AC3E}">
        <p14:creationId xmlns:p14="http://schemas.microsoft.com/office/powerpoint/2010/main" val="1999863684"/>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53-chapter-0">
            <a:extLst xmlns:a="http://schemas.openxmlformats.org/drawingml/2006/main">
              <a:ext uri="{FF2B5EF4-FFF2-40B4-BE49-F238E27FC236}">
                <a16:creationId xmlns:a16="http://schemas.microsoft.com/office/drawing/2014/main" id="{0C1CC59C-5E8D-4FAB-B1E6-1DDCF9882EAD}"/>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053 / 100 · REPRESENTATIONS AND LANGUAGE</a:t>
            </a:r>
          </a:p>
        </p:txBody>
      </p:sp>
      <p:sp>
        <p:nvSpPr>
          <p:cNvPr id="2" name="concept-53-title-0">
            <a:extLst xmlns:a="http://schemas.openxmlformats.org/drawingml/2006/main">
              <a:ext uri="{FF2B5EF4-FFF2-40B4-BE49-F238E27FC236}">
                <a16:creationId xmlns:a16="http://schemas.microsoft.com/office/drawing/2014/main" id="{CB20B1B6-64C8-49E9-8328-757521C50ACB}"/>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Rate-distortion tradeoff</a:t>
            </a:r>
          </a:p>
        </p:txBody>
      </p:sp>
      <p:sp>
        <p:nvSpPr>
          <p:cNvPr id="3" name="concept-53-definition-label-0">
            <a:extLst xmlns:a="http://schemas.openxmlformats.org/drawingml/2006/main">
              <a:ext uri="{FF2B5EF4-FFF2-40B4-BE49-F238E27FC236}">
                <a16:creationId xmlns:a16="http://schemas.microsoft.com/office/drawing/2014/main" id="{4F378489-734C-4E1D-8A03-B67662B5B5DC}"/>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53-definition-0">
            <a:extLst xmlns:a="http://schemas.openxmlformats.org/drawingml/2006/main">
              <a:ext uri="{FF2B5EF4-FFF2-40B4-BE49-F238E27FC236}">
                <a16:creationId xmlns:a16="http://schemas.microsoft.com/office/drawing/2014/main" id="{DA337557-576F-4D32-A016-733D632BDF64}"/>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Lossy compression balances representation size, or rate R,</a:t>
            </a:r>
          </a:p>
        </p:txBody>
      </p:sp>
      <p:sp>
        <p:nvSpPr>
          <p:cNvPr id="5" name="concept-53-definition-1">
            <a:extLst xmlns:a="http://schemas.openxmlformats.org/drawingml/2006/main">
              <a:ext uri="{FF2B5EF4-FFF2-40B4-BE49-F238E27FC236}">
                <a16:creationId xmlns:a16="http://schemas.microsoft.com/office/drawing/2014/main" id="{9F1D4C64-EF7F-4E06-B24A-C23DDC1FFBCF}"/>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against reconstruction error, or distortion D.</a:t>
            </a:r>
          </a:p>
        </p:txBody>
      </p:sp>
      <p:sp>
        <p:nvSpPr>
          <p:cNvPr id="6" name="concept-53-formula-0">
            <a:extLst xmlns:a="http://schemas.openxmlformats.org/drawingml/2006/main">
              <a:ext uri="{FF2B5EF4-FFF2-40B4-BE49-F238E27FC236}">
                <a16:creationId xmlns:a16="http://schemas.microsoft.com/office/drawing/2014/main" id="{CC055CE2-12B7-4B31-9A0D-7A3BECC1B377}"/>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Choose a code to minimize D + λR</a:t>
            </a:r>
          </a:p>
        </p:txBody>
      </p:sp>
      <p:sp>
        <p:nvSpPr>
          <p:cNvPr id="14" name="concept-53-formula-1">
            <a:extLst xmlns:a="http://schemas.openxmlformats.org/drawingml/2006/main">
              <a:ext uri="{FF2B5EF4-FFF2-40B4-BE49-F238E27FC236}">
                <a16:creationId xmlns:a16="http://schemas.microsoft.com/office/drawing/2014/main" id="{91F91B73-2ABC-457B-9336-D11B634861FF}"/>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D = reconstruction error; R = bits per input</a:t>
            </a:r>
          </a:p>
        </p:txBody>
      </p:sp>
      <p:sp>
        <p:nvSpPr>
          <p:cNvPr id="7" name="concept-53-example-label-0">
            <a:extLst xmlns:a="http://schemas.openxmlformats.org/drawingml/2006/main">
              <a:ext uri="{FF2B5EF4-FFF2-40B4-BE49-F238E27FC236}">
                <a16:creationId xmlns:a16="http://schemas.microsoft.com/office/drawing/2014/main" id="{AA44B1D1-CDBA-405A-9619-CCCB578D1C3F}"/>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53-example-0">
            <a:extLst xmlns:a="http://schemas.openxmlformats.org/drawingml/2006/main">
              <a:ext uri="{FF2B5EF4-FFF2-40B4-BE49-F238E27FC236}">
                <a16:creationId xmlns:a16="http://schemas.microsoft.com/office/drawing/2014/main" id="{6D63EB8D-5AE0-4350-B88A-947EAB5AEEF4}"/>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Code A: D = 1, R = 20 bits. Code B: D = 2, R = 5 bits. At λ =</a:t>
            </a:r>
          </a:p>
        </p:txBody>
      </p:sp>
      <p:sp>
        <p:nvSpPr>
          <p:cNvPr id="9" name="concept-53-example-1">
            <a:extLst xmlns:a="http://schemas.openxmlformats.org/drawingml/2006/main">
              <a:ext uri="{FF2B5EF4-FFF2-40B4-BE49-F238E27FC236}">
                <a16:creationId xmlns:a16="http://schemas.microsoft.com/office/drawing/2014/main" id="{939B3D0A-4DB9-4F38-B710-F687D35B87DA}"/>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0.1, scores are 3 and 2.5. B wins by accepting more error for</a:t>
            </a:r>
          </a:p>
        </p:txBody>
      </p:sp>
      <p:sp>
        <p:nvSpPr>
          <p:cNvPr id="15" name="concept-53-example-2">
            <a:extLst xmlns:a="http://schemas.openxmlformats.org/drawingml/2006/main">
              <a:ext uri="{FF2B5EF4-FFF2-40B4-BE49-F238E27FC236}">
                <a16:creationId xmlns:a16="http://schemas.microsoft.com/office/drawing/2014/main" id="{F8A6178E-ADB7-4EB9-8FA0-9BBFE5BFFAEA}"/>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fewer bits.</a:t>
            </a:r>
          </a:p>
        </p:txBody>
      </p:sp>
      <p:sp>
        <p:nvSpPr>
          <p:cNvPr id="10" name="concept-53-metaphor-label-0">
            <a:extLst xmlns:a="http://schemas.openxmlformats.org/drawingml/2006/main">
              <a:ext uri="{FF2B5EF4-FFF2-40B4-BE49-F238E27FC236}">
                <a16:creationId xmlns:a16="http://schemas.microsoft.com/office/drawing/2014/main" id="{4D04A836-A491-46DF-8FC2-7389ABAAD178}"/>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53-metaphor-0">
            <a:extLst xmlns:a="http://schemas.openxmlformats.org/drawingml/2006/main">
              <a:ext uri="{FF2B5EF4-FFF2-40B4-BE49-F238E27FC236}">
                <a16:creationId xmlns:a16="http://schemas.microsoft.com/office/drawing/2014/main" id="{1CFA9361-146E-457E-9F18-AB8AFF7CEBA2}"/>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Packing lighter is useful only if the missing items are worth the</a:t>
            </a:r>
          </a:p>
        </p:txBody>
      </p:sp>
      <p:sp>
        <p:nvSpPr>
          <p:cNvPr id="12" name="concept-53-metaphor-1">
            <a:extLst xmlns:a="http://schemas.openxmlformats.org/drawingml/2006/main">
              <a:ext uri="{FF2B5EF4-FFF2-40B4-BE49-F238E27FC236}">
                <a16:creationId xmlns:a16="http://schemas.microsoft.com/office/drawing/2014/main" id="{38A230EF-B859-427F-A22E-B82646CD36A3}"/>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saved luggage space.</a:t>
            </a:r>
          </a:p>
        </p:txBody>
      </p:sp>
      <p:sp>
        <p:nvSpPr>
          <p:cNvPr id="13" name="concept-53-footer-0">
            <a:extLst xmlns:a="http://schemas.openxmlformats.org/drawingml/2006/main">
              <a:ext uri="{FF2B5EF4-FFF2-40B4-BE49-F238E27FC236}">
                <a16:creationId xmlns:a16="http://schemas.microsoft.com/office/drawing/2014/main" id="{FB85D6C2-101F-4F82-BFC7-2EE1E5C86711}"/>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Vector quantization</a:t>
            </a:r>
          </a:p>
        </p:txBody>
      </p:sp>
    </p:spTree>
    <p:extLst>
      <p:ext uri="{BB962C8B-B14F-4D97-AF65-F5344CB8AC3E}">
        <p14:creationId xmlns:p14="http://schemas.microsoft.com/office/powerpoint/2010/main" val="2087072121"/>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54-chapter-0">
            <a:extLst xmlns:a="http://schemas.openxmlformats.org/drawingml/2006/main">
              <a:ext uri="{FF2B5EF4-FFF2-40B4-BE49-F238E27FC236}">
                <a16:creationId xmlns:a16="http://schemas.microsoft.com/office/drawing/2014/main" id="{8D8D57E9-C6E5-4C94-880A-26D7F7E5A9AD}"/>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054 / 100 · REPRESENTATIONS AND LANGUAGE</a:t>
            </a:r>
          </a:p>
        </p:txBody>
      </p:sp>
      <p:sp>
        <p:nvSpPr>
          <p:cNvPr id="2" name="concept-54-title-0">
            <a:extLst xmlns:a="http://schemas.openxmlformats.org/drawingml/2006/main">
              <a:ext uri="{FF2B5EF4-FFF2-40B4-BE49-F238E27FC236}">
                <a16:creationId xmlns:a16="http://schemas.microsoft.com/office/drawing/2014/main" id="{67F0C579-4680-4853-AF00-B6BBF4BA0B4A}"/>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Vector quantization</a:t>
            </a:r>
          </a:p>
        </p:txBody>
      </p:sp>
      <p:sp>
        <p:nvSpPr>
          <p:cNvPr id="3" name="concept-54-definition-label-0">
            <a:extLst xmlns:a="http://schemas.openxmlformats.org/drawingml/2006/main">
              <a:ext uri="{FF2B5EF4-FFF2-40B4-BE49-F238E27FC236}">
                <a16:creationId xmlns:a16="http://schemas.microsoft.com/office/drawing/2014/main" id="{1F8D85B7-6A99-4718-9A64-65CB14994E45}"/>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54-definition-0">
            <a:extLst xmlns:a="http://schemas.openxmlformats.org/drawingml/2006/main">
              <a:ext uri="{FF2B5EF4-FFF2-40B4-BE49-F238E27FC236}">
                <a16:creationId xmlns:a16="http://schemas.microsoft.com/office/drawing/2014/main" id="{674A8543-8284-45D9-B3FC-99BB12A63731}"/>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Vector quantization maps a vector to one of a finite set of</a:t>
            </a:r>
          </a:p>
        </p:txBody>
      </p:sp>
      <p:sp>
        <p:nvSpPr>
          <p:cNvPr id="5" name="concept-54-definition-1">
            <a:extLst xmlns:a="http://schemas.openxmlformats.org/drawingml/2006/main">
              <a:ext uri="{FF2B5EF4-FFF2-40B4-BE49-F238E27FC236}">
                <a16:creationId xmlns:a16="http://schemas.microsoft.com/office/drawing/2014/main" id="{8D63DC8A-2A46-4439-B485-93E673D14238}"/>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codebook vectors. Nearest-neighbor quantization chooses the</a:t>
            </a:r>
          </a:p>
        </p:txBody>
      </p:sp>
      <p:sp>
        <p:nvSpPr>
          <p:cNvPr id="14" name="concept-54-definition-2">
            <a:extLst xmlns:a="http://schemas.openxmlformats.org/drawingml/2006/main">
              <a:ext uri="{FF2B5EF4-FFF2-40B4-BE49-F238E27FC236}">
                <a16:creationId xmlns:a16="http://schemas.microsoft.com/office/drawing/2014/main" id="{8535BA8B-D8AA-4109-9B46-9257D5C57557}"/>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closest entry.</a:t>
            </a:r>
          </a:p>
        </p:txBody>
      </p:sp>
      <p:sp>
        <p:nvSpPr>
          <p:cNvPr id="6" name="concept-54-formula-0">
            <a:extLst xmlns:a="http://schemas.openxmlformats.org/drawingml/2006/main">
              <a:ext uri="{FF2B5EF4-FFF2-40B4-BE49-F238E27FC236}">
                <a16:creationId xmlns:a16="http://schemas.microsoft.com/office/drawing/2014/main" id="{39E87851-AFA2-4D53-82C3-032B435BDD13}"/>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k* = arg minₖ ‖z − eₖ‖₂²; zq = eₖ*</a:t>
            </a:r>
          </a:p>
        </p:txBody>
      </p:sp>
      <p:sp>
        <p:nvSpPr>
          <p:cNvPr id="7" name="concept-54-example-label-0">
            <a:extLst xmlns:a="http://schemas.openxmlformats.org/drawingml/2006/main">
              <a:ext uri="{FF2B5EF4-FFF2-40B4-BE49-F238E27FC236}">
                <a16:creationId xmlns:a16="http://schemas.microsoft.com/office/drawing/2014/main" id="{E983D3CC-94C4-45A3-B93D-5899F05CF598}"/>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54-example-0">
            <a:extLst xmlns:a="http://schemas.openxmlformats.org/drawingml/2006/main">
              <a:ext uri="{FF2B5EF4-FFF2-40B4-BE49-F238E27FC236}">
                <a16:creationId xmlns:a16="http://schemas.microsoft.com/office/drawing/2014/main" id="{5F4634C0-472E-4DA3-80E5-ED66371862C4}"/>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z = (1, 2), codebook entries e₁ = (0, 2) and e₂ = (3, 2) are 1</a:t>
            </a:r>
          </a:p>
        </p:txBody>
      </p:sp>
      <p:sp>
        <p:nvSpPr>
          <p:cNvPr id="9" name="concept-54-example-1">
            <a:extLst xmlns:a="http://schemas.openxmlformats.org/drawingml/2006/main">
              <a:ext uri="{FF2B5EF4-FFF2-40B4-BE49-F238E27FC236}">
                <a16:creationId xmlns:a16="http://schemas.microsoft.com/office/drawing/2014/main" id="{173D9907-41BF-49E9-B31D-50E19ADE33A3}"/>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and 2 units away. Choose e₁, and store its index 1.</a:t>
            </a:r>
          </a:p>
        </p:txBody>
      </p:sp>
      <p:sp>
        <p:nvSpPr>
          <p:cNvPr id="10" name="concept-54-metaphor-label-0">
            <a:extLst xmlns:a="http://schemas.openxmlformats.org/drawingml/2006/main">
              <a:ext uri="{FF2B5EF4-FFF2-40B4-BE49-F238E27FC236}">
                <a16:creationId xmlns:a16="http://schemas.microsoft.com/office/drawing/2014/main" id="{EE52DE98-B811-4AD1-BCC0-92D66B4AD3B7}"/>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54-metaphor-0">
            <a:extLst xmlns:a="http://schemas.openxmlformats.org/drawingml/2006/main">
              <a:ext uri="{FF2B5EF4-FFF2-40B4-BE49-F238E27FC236}">
                <a16:creationId xmlns:a16="http://schemas.microsoft.com/office/drawing/2014/main" id="{8340A910-A847-4106-BFE2-C934683227D5}"/>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Choose the nearest paint swatch instead of describing an</a:t>
            </a:r>
          </a:p>
        </p:txBody>
      </p:sp>
      <p:sp>
        <p:nvSpPr>
          <p:cNvPr id="12" name="concept-54-metaphor-1">
            <a:extLst xmlns:a="http://schemas.openxmlformats.org/drawingml/2006/main">
              <a:ext uri="{FF2B5EF4-FFF2-40B4-BE49-F238E27FC236}">
                <a16:creationId xmlns:a16="http://schemas.microsoft.com/office/drawing/2014/main" id="{045DED53-A17D-4FE1-9ABD-E53778EB918D}"/>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infinitely precise color.</a:t>
            </a:r>
          </a:p>
        </p:txBody>
      </p:sp>
      <p:sp>
        <p:nvSpPr>
          <p:cNvPr id="13" name="concept-54-footer-0">
            <a:extLst xmlns:a="http://schemas.openxmlformats.org/drawingml/2006/main">
              <a:ext uri="{FF2B5EF4-FFF2-40B4-BE49-F238E27FC236}">
                <a16:creationId xmlns:a16="http://schemas.microsoft.com/office/drawing/2014/main" id="{22E30EA6-3FB9-4C9E-B757-B3FA159C2946}"/>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Token and vocabulary</a:t>
            </a:r>
          </a:p>
        </p:txBody>
      </p:sp>
    </p:spTree>
    <p:extLst>
      <p:ext uri="{BB962C8B-B14F-4D97-AF65-F5344CB8AC3E}">
        <p14:creationId xmlns:p14="http://schemas.microsoft.com/office/powerpoint/2010/main" val="520482109"/>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55-chapter-0">
            <a:extLst xmlns:a="http://schemas.openxmlformats.org/drawingml/2006/main">
              <a:ext uri="{FF2B5EF4-FFF2-40B4-BE49-F238E27FC236}">
                <a16:creationId xmlns:a16="http://schemas.microsoft.com/office/drawing/2014/main" id="{DCCB828B-44BD-487A-9A57-BCF51722A60E}"/>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055 / 100 · REPRESENTATIONS AND LANGUAGE</a:t>
            </a:r>
          </a:p>
        </p:txBody>
      </p:sp>
      <p:sp>
        <p:nvSpPr>
          <p:cNvPr id="2" name="concept-55-title-0">
            <a:extLst xmlns:a="http://schemas.openxmlformats.org/drawingml/2006/main">
              <a:ext uri="{FF2B5EF4-FFF2-40B4-BE49-F238E27FC236}">
                <a16:creationId xmlns:a16="http://schemas.microsoft.com/office/drawing/2014/main" id="{F977BBF2-D9F7-41FF-9C73-0AF44469F2F9}"/>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Token and vocabulary</a:t>
            </a:r>
          </a:p>
        </p:txBody>
      </p:sp>
      <p:sp>
        <p:nvSpPr>
          <p:cNvPr id="3" name="concept-55-definition-label-0">
            <a:extLst xmlns:a="http://schemas.openxmlformats.org/drawingml/2006/main">
              <a:ext uri="{FF2B5EF4-FFF2-40B4-BE49-F238E27FC236}">
                <a16:creationId xmlns:a16="http://schemas.microsoft.com/office/drawing/2014/main" id="{3325793E-0864-416F-A480-2A19E3D0A9FA}"/>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55-definition-0">
            <a:extLst xmlns:a="http://schemas.openxmlformats.org/drawingml/2006/main">
              <a:ext uri="{FF2B5EF4-FFF2-40B4-BE49-F238E27FC236}">
                <a16:creationId xmlns:a16="http://schemas.microsoft.com/office/drawing/2014/main" id="{8B8EE6CD-269C-48F7-A08A-3107D1F8A196}"/>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token is a discrete symbol identified within a vocabulary, a</a:t>
            </a:r>
          </a:p>
        </p:txBody>
      </p:sp>
      <p:sp>
        <p:nvSpPr>
          <p:cNvPr id="5" name="concept-55-definition-1">
            <a:extLst xmlns:a="http://schemas.openxmlformats.org/drawingml/2006/main">
              <a:ext uri="{FF2B5EF4-FFF2-40B4-BE49-F238E27FC236}">
                <a16:creationId xmlns:a16="http://schemas.microsoft.com/office/drawing/2014/main" id="{539F7A37-3775-480E-BAB1-44B2A8596CAC}"/>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finite set of allowed symbols. It need not be a word.</a:t>
            </a:r>
          </a:p>
        </p:txBody>
      </p:sp>
      <p:sp>
        <p:nvSpPr>
          <p:cNvPr id="6" name="concept-55-formula-0">
            <a:extLst xmlns:a="http://schemas.openxmlformats.org/drawingml/2006/main">
              <a:ext uri="{FF2B5EF4-FFF2-40B4-BE49-F238E27FC236}">
                <a16:creationId xmlns:a16="http://schemas.microsoft.com/office/drawing/2014/main" id="{4A07F554-FC15-4FD7-B08E-292F99C1FAB9}"/>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token k ∈ V = {1, …, K}; embedding = E[k]</a:t>
            </a:r>
          </a:p>
        </p:txBody>
      </p:sp>
      <p:sp>
        <p:nvSpPr>
          <p:cNvPr id="7" name="concept-55-example-label-0">
            <a:extLst xmlns:a="http://schemas.openxmlformats.org/drawingml/2006/main">
              <a:ext uri="{FF2B5EF4-FFF2-40B4-BE49-F238E27FC236}">
                <a16:creationId xmlns:a16="http://schemas.microsoft.com/office/drawing/2014/main" id="{45CD84EE-A826-4966-B44E-5D47C1E85C8A}"/>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55-example-0">
            <a:extLst xmlns:a="http://schemas.openxmlformats.org/drawingml/2006/main">
              <a:ext uri="{FF2B5EF4-FFF2-40B4-BE49-F238E27FC236}">
                <a16:creationId xmlns:a16="http://schemas.microsoft.com/office/drawing/2014/main" id="{53AA10ED-A415-4C81-9371-666D78B82E87}"/>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Codebook entry 6 is the vector (1, 2). Token 6 identifies that</a:t>
            </a:r>
          </a:p>
        </p:txBody>
      </p:sp>
      <p:sp>
        <p:nvSpPr>
          <p:cNvPr id="9" name="concept-55-example-1">
            <a:extLst xmlns:a="http://schemas.openxmlformats.org/drawingml/2006/main">
              <a:ext uri="{FF2B5EF4-FFF2-40B4-BE49-F238E27FC236}">
                <a16:creationId xmlns:a16="http://schemas.microsoft.com/office/drawing/2014/main" id="{E31443E6-969C-42A3-B92C-208FDC5EEE3E}"/>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entry; a lookup retrieves (1, 2). A vocabulary of 8 entries needs</a:t>
            </a:r>
          </a:p>
        </p:txBody>
      </p:sp>
      <p:sp>
        <p:nvSpPr>
          <p:cNvPr id="14" name="concept-55-example-2">
            <a:extLst xmlns:a="http://schemas.openxmlformats.org/drawingml/2006/main">
              <a:ext uri="{FF2B5EF4-FFF2-40B4-BE49-F238E27FC236}">
                <a16:creationId xmlns:a16="http://schemas.microsoft.com/office/drawing/2014/main" id="{B7507BF5-2053-49E6-BE46-2D70E5DA8E10}"/>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3 bits per fixed-length ID.</a:t>
            </a:r>
          </a:p>
        </p:txBody>
      </p:sp>
      <p:sp>
        <p:nvSpPr>
          <p:cNvPr id="10" name="concept-55-metaphor-label-0">
            <a:extLst xmlns:a="http://schemas.openxmlformats.org/drawingml/2006/main">
              <a:ext uri="{FF2B5EF4-FFF2-40B4-BE49-F238E27FC236}">
                <a16:creationId xmlns:a16="http://schemas.microsoft.com/office/drawing/2014/main" id="{2C78E4B1-BB38-4A37-9257-9D88439685C4}"/>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55-metaphor-0">
            <a:extLst xmlns:a="http://schemas.openxmlformats.org/drawingml/2006/main">
              <a:ext uri="{FF2B5EF4-FFF2-40B4-BE49-F238E27FC236}">
                <a16:creationId xmlns:a16="http://schemas.microsoft.com/office/drawing/2014/main" id="{A9CC3BDA-5C19-4AE8-A807-E5A42E4B9C1F}"/>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coat-check ticket is a discrete ID; the numbered ticket is not</a:t>
            </a:r>
          </a:p>
        </p:txBody>
      </p:sp>
      <p:sp>
        <p:nvSpPr>
          <p:cNvPr id="12" name="concept-55-metaphor-1">
            <a:extLst xmlns:a="http://schemas.openxmlformats.org/drawingml/2006/main">
              <a:ext uri="{FF2B5EF4-FFF2-40B4-BE49-F238E27FC236}">
                <a16:creationId xmlns:a16="http://schemas.microsoft.com/office/drawing/2014/main" id="{9A419216-3B95-480D-96AF-19CA3561A97A}"/>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coat itself.</a:t>
            </a:r>
          </a:p>
        </p:txBody>
      </p:sp>
      <p:sp>
        <p:nvSpPr>
          <p:cNvPr id="13" name="concept-55-footer-0">
            <a:extLst xmlns:a="http://schemas.openxmlformats.org/drawingml/2006/main">
              <a:ext uri="{FF2B5EF4-FFF2-40B4-BE49-F238E27FC236}">
                <a16:creationId xmlns:a16="http://schemas.microsoft.com/office/drawing/2014/main" id="{E78B6A8C-C4E9-40BC-9DA8-9BD0707F629F}"/>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Vector-quantized autoencoder</a:t>
            </a:r>
          </a:p>
        </p:txBody>
      </p:sp>
    </p:spTree>
    <p:extLst>
      <p:ext uri="{BB962C8B-B14F-4D97-AF65-F5344CB8AC3E}">
        <p14:creationId xmlns:p14="http://schemas.microsoft.com/office/powerpoint/2010/main" val="6213800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oncept-56-chapter-0">
            <a:extLst xmlns:a="http://schemas.openxmlformats.org/drawingml/2006/main">
              <a:ext uri="{FF2B5EF4-FFF2-40B4-BE49-F238E27FC236}">
                <a16:creationId xmlns:a16="http://schemas.microsoft.com/office/drawing/2014/main" id="{3DD002B3-309B-462F-BDCB-70DF53114A99}"/>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056 / 100 · REPRESENTATIONS AND LANGUAGE</a:t>
            </a:r>
          </a:p>
        </p:txBody>
      </p:sp>
      <p:sp>
        <p:nvSpPr>
          <p:cNvPr id="2" name="concept-56-title-0">
            <a:extLst xmlns:a="http://schemas.openxmlformats.org/drawingml/2006/main">
              <a:ext uri="{FF2B5EF4-FFF2-40B4-BE49-F238E27FC236}">
                <a16:creationId xmlns:a16="http://schemas.microsoft.com/office/drawing/2014/main" id="{CA18009D-5E60-4605-A756-0DBDAA4E4A6C}"/>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Vector-quantized autoencoder</a:t>
            </a:r>
          </a:p>
        </p:txBody>
      </p:sp>
      <p:sp>
        <p:nvSpPr>
          <p:cNvPr id="3" name="concept-56-definition-label-0">
            <a:extLst xmlns:a="http://schemas.openxmlformats.org/drawingml/2006/main">
              <a:ext uri="{FF2B5EF4-FFF2-40B4-BE49-F238E27FC236}">
                <a16:creationId xmlns:a16="http://schemas.microsoft.com/office/drawing/2014/main" id="{46DE4A60-835F-43BC-BA67-4720661A613D}"/>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56-definition-0">
            <a:extLst xmlns:a="http://schemas.openxmlformats.org/drawingml/2006/main">
              <a:ext uri="{FF2B5EF4-FFF2-40B4-BE49-F238E27FC236}">
                <a16:creationId xmlns:a16="http://schemas.microsoft.com/office/drawing/2014/main" id="{7B71DD93-20E0-47BA-B7A1-1FEC77A2B1AE}"/>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VQ-VAE is an autoencoder whose decoder receives vectors</a:t>
            </a:r>
          </a:p>
        </p:txBody>
      </p:sp>
      <p:sp>
        <p:nvSpPr>
          <p:cNvPr id="5" name="concept-56-definition-1">
            <a:extLst xmlns:a="http://schemas.openxmlformats.org/drawingml/2006/main">
              <a:ext uri="{FF2B5EF4-FFF2-40B4-BE49-F238E27FC236}">
                <a16:creationId xmlns:a16="http://schemas.microsoft.com/office/drawing/2014/main" id="{1A002E54-F56A-4F41-A17D-CF07304AE6B8}"/>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selected from a learned codebook. Each continuous encoder</a:t>
            </a:r>
          </a:p>
        </p:txBody>
      </p:sp>
      <p:sp>
        <p:nvSpPr>
          <p:cNvPr id="6" name="concept-56-definition-2">
            <a:extLst xmlns:a="http://schemas.openxmlformats.org/drawingml/2006/main">
              <a:ext uri="{FF2B5EF4-FFF2-40B4-BE49-F238E27FC236}">
                <a16:creationId xmlns:a16="http://schemas.microsoft.com/office/drawing/2014/main" id="{C711E03A-FAA7-4EFC-9C6C-4403AD08D3B6}"/>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output is replaced by its nearest codebook entry.</a:t>
            </a:r>
          </a:p>
        </p:txBody>
      </p:sp>
      <p:sp>
        <p:nvSpPr>
          <p:cNvPr id="7" name="concept-56-formula-0">
            <a:extLst xmlns:a="http://schemas.openxmlformats.org/drawingml/2006/main">
              <a:ext uri="{FF2B5EF4-FFF2-40B4-BE49-F238E27FC236}">
                <a16:creationId xmlns:a16="http://schemas.microsoft.com/office/drawing/2014/main" id="{F76990F4-4A5A-4170-9F7E-8D68F9729FFE}"/>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x → z → nearest code zq → x̂</a:t>
            </a:r>
          </a:p>
        </p:txBody>
      </p:sp>
      <p:sp>
        <p:nvSpPr>
          <p:cNvPr id="15" name="concept-56-formula-1">
            <a:extLst xmlns:a="http://schemas.openxmlformats.org/drawingml/2006/main">
              <a:ext uri="{FF2B5EF4-FFF2-40B4-BE49-F238E27FC236}">
                <a16:creationId xmlns:a16="http://schemas.microsoft.com/office/drawing/2014/main" id="{47EFA879-24F8-4056-B679-5FC4BB876A8D}"/>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Straight-through estimate: ∂L/∂z ≈ ∂L/∂zq</a:t>
            </a:r>
          </a:p>
        </p:txBody>
      </p:sp>
      <p:sp>
        <p:nvSpPr>
          <p:cNvPr id="8" name="concept-56-example-label-0">
            <a:extLst xmlns:a="http://schemas.openxmlformats.org/drawingml/2006/main">
              <a:ext uri="{FF2B5EF4-FFF2-40B4-BE49-F238E27FC236}">
                <a16:creationId xmlns:a16="http://schemas.microsoft.com/office/drawing/2014/main" id="{AD100F53-076F-4CC2-A206-78B62FC87C9B}"/>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56-example-0">
            <a:extLst xmlns:a="http://schemas.openxmlformats.org/drawingml/2006/main">
              <a:ext uri="{FF2B5EF4-FFF2-40B4-BE49-F238E27FC236}">
                <a16:creationId xmlns:a16="http://schemas.microsoft.com/office/drawing/2014/main" id="{229718E8-FBDF-406B-B355-20A0E7ECAF0E}"/>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x = (2, 5), the encoder gives z = 1.9. Codebook {0, 2}</a:t>
            </a:r>
          </a:p>
        </p:txBody>
      </p:sp>
      <p:sp>
        <p:nvSpPr>
          <p:cNvPr id="10" name="concept-56-example-1">
            <a:extLst xmlns:a="http://schemas.openxmlformats.org/drawingml/2006/main">
              <a:ext uri="{FF2B5EF4-FFF2-40B4-BE49-F238E27FC236}">
                <a16:creationId xmlns:a16="http://schemas.microsoft.com/office/drawing/2014/main" id="{49ADED0C-A1CD-4B56-9105-E59B7722B850}"/>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selects 2. Decoder (zq, 2zq) gives (2, 4), with MSE = (0+1)/2 =</a:t>
            </a:r>
          </a:p>
        </p:txBody>
      </p:sp>
      <p:sp>
        <p:nvSpPr>
          <p:cNvPr id="16" name="concept-56-example-2">
            <a:extLst xmlns:a="http://schemas.openxmlformats.org/drawingml/2006/main">
              <a:ext uri="{FF2B5EF4-FFF2-40B4-BE49-F238E27FC236}">
                <a16:creationId xmlns:a16="http://schemas.microsoft.com/office/drawing/2014/main" id="{04E8B025-80C0-47A1-937C-2C8ED6F6DD3C}"/>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0.5.</a:t>
            </a:r>
          </a:p>
        </p:txBody>
      </p:sp>
      <p:sp>
        <p:nvSpPr>
          <p:cNvPr id="11" name="concept-56-metaphor-label-0">
            <a:extLst xmlns:a="http://schemas.openxmlformats.org/drawingml/2006/main">
              <a:ext uri="{FF2B5EF4-FFF2-40B4-BE49-F238E27FC236}">
                <a16:creationId xmlns:a16="http://schemas.microsoft.com/office/drawing/2014/main" id="{8CBB6288-01E3-4E5F-8677-5F743858C347}"/>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56-metaphor-0">
            <a:extLst xmlns:a="http://schemas.openxmlformats.org/drawingml/2006/main">
              <a:ext uri="{FF2B5EF4-FFF2-40B4-BE49-F238E27FC236}">
                <a16:creationId xmlns:a16="http://schemas.microsoft.com/office/drawing/2014/main" id="{947588D8-C814-408C-B78C-7E2415FC63BE}"/>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Pack with a catalog of standard boxes, and improve both the</a:t>
            </a:r>
          </a:p>
        </p:txBody>
      </p:sp>
      <p:sp>
        <p:nvSpPr>
          <p:cNvPr id="13" name="concept-56-metaphor-1">
            <a:extLst xmlns:a="http://schemas.openxmlformats.org/drawingml/2006/main">
              <a:ext uri="{FF2B5EF4-FFF2-40B4-BE49-F238E27FC236}">
                <a16:creationId xmlns:a16="http://schemas.microsoft.com/office/drawing/2014/main" id="{FFEA099B-E3C1-4B44-8E51-4964F55389EE}"/>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packing method and box catalog.</a:t>
            </a:r>
          </a:p>
        </p:txBody>
      </p:sp>
      <p:sp>
        <p:nvSpPr>
          <p:cNvPr id="14" name="concept-56-footer-0">
            <a:extLst xmlns:a="http://schemas.openxmlformats.org/drawingml/2006/main">
              <a:ext uri="{FF2B5EF4-FFF2-40B4-BE49-F238E27FC236}">
                <a16:creationId xmlns:a16="http://schemas.microsoft.com/office/drawing/2014/main" id="{ADB495C5-4543-48C6-8D12-D81DB7755429}"/>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Sequence and autocorrelation</a:t>
            </a:r>
          </a:p>
        </p:txBody>
      </p:sp>
    </p:spTree>
    <p:extLst>
      <p:ext uri="{BB962C8B-B14F-4D97-AF65-F5344CB8AC3E}">
        <p14:creationId xmlns:p14="http://schemas.microsoft.com/office/powerpoint/2010/main" val="1409603438"/>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oncept-57-chapter-0">
            <a:extLst xmlns:a="http://schemas.openxmlformats.org/drawingml/2006/main">
              <a:ext uri="{FF2B5EF4-FFF2-40B4-BE49-F238E27FC236}">
                <a16:creationId xmlns:a16="http://schemas.microsoft.com/office/drawing/2014/main" id="{DFF99741-FA56-490B-8F1A-E3DB8AD45D10}"/>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057 / 100 · REPRESENTATIONS AND LANGUAGE</a:t>
            </a:r>
          </a:p>
        </p:txBody>
      </p:sp>
      <p:sp>
        <p:nvSpPr>
          <p:cNvPr id="2" name="concept-57-title-0">
            <a:extLst xmlns:a="http://schemas.openxmlformats.org/drawingml/2006/main">
              <a:ext uri="{FF2B5EF4-FFF2-40B4-BE49-F238E27FC236}">
                <a16:creationId xmlns:a16="http://schemas.microsoft.com/office/drawing/2014/main" id="{311864AD-6353-4390-8356-15E70475F760}"/>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Sequence and autocorrelation</a:t>
            </a:r>
          </a:p>
        </p:txBody>
      </p:sp>
      <p:sp>
        <p:nvSpPr>
          <p:cNvPr id="3" name="concept-57-definition-label-0">
            <a:extLst xmlns:a="http://schemas.openxmlformats.org/drawingml/2006/main">
              <a:ext uri="{FF2B5EF4-FFF2-40B4-BE49-F238E27FC236}">
                <a16:creationId xmlns:a16="http://schemas.microsoft.com/office/drawing/2014/main" id="{CF1EC8B7-2F79-4949-AAF4-3FF8871AA3FA}"/>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57-definition-0">
            <a:extLst xmlns:a="http://schemas.openxmlformats.org/drawingml/2006/main">
              <a:ext uri="{FF2B5EF4-FFF2-40B4-BE49-F238E27FC236}">
                <a16:creationId xmlns:a16="http://schemas.microsoft.com/office/drawing/2014/main" id="{3B493770-CA44-46AC-8B93-BCBBED1B91A5}"/>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sequence is an ordered list. Autocorrelation compares its</a:t>
            </a:r>
          </a:p>
        </p:txBody>
      </p:sp>
      <p:sp>
        <p:nvSpPr>
          <p:cNvPr id="5" name="concept-57-definition-1">
            <a:extLst xmlns:a="http://schemas.openxmlformats.org/drawingml/2006/main">
              <a:ext uri="{FF2B5EF4-FFF2-40B4-BE49-F238E27FC236}">
                <a16:creationId xmlns:a16="http://schemas.microsoft.com/office/drawing/2014/main" id="{8224C0CE-DA44-4DAA-A681-8F78515B6043}"/>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values with the same sequence shifted by k positions, called</a:t>
            </a:r>
          </a:p>
        </p:txBody>
      </p:sp>
      <p:sp>
        <p:nvSpPr>
          <p:cNvPr id="6" name="concept-57-definition-2">
            <a:extLst xmlns:a="http://schemas.openxmlformats.org/drawingml/2006/main">
              <a:ext uri="{FF2B5EF4-FFF2-40B4-BE49-F238E27FC236}">
                <a16:creationId xmlns:a16="http://schemas.microsoft.com/office/drawing/2014/main" id="{2265FC4A-CA39-44B1-952E-315B90E22E6E}"/>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lag. It measures how values vary together across that gap.</a:t>
            </a:r>
          </a:p>
        </p:txBody>
      </p:sp>
      <p:sp>
        <p:nvSpPr>
          <p:cNvPr id="7" name="concept-57-formula-0">
            <a:extLst xmlns:a="http://schemas.openxmlformats.org/drawingml/2006/main">
              <a:ext uri="{FF2B5EF4-FFF2-40B4-BE49-F238E27FC236}">
                <a16:creationId xmlns:a16="http://schemas.microsoft.com/office/drawing/2014/main" id="{A3D33F28-7049-4A3F-8A84-D16FD901165E}"/>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rₖ = Σᵢ₌₁ⁿ⁻ᵏ (xᵢ−μ)(xᵢ₊ₖ−μ) / Σᵢ₌₁ⁿ (xᵢ−μ)²</a:t>
            </a:r>
          </a:p>
        </p:txBody>
      </p:sp>
      <p:sp>
        <p:nvSpPr>
          <p:cNvPr id="15" name="concept-57-formula-1">
            <a:extLst xmlns:a="http://schemas.openxmlformats.org/drawingml/2006/main">
              <a:ext uri="{FF2B5EF4-FFF2-40B4-BE49-F238E27FC236}">
                <a16:creationId xmlns:a16="http://schemas.microsoft.com/office/drawing/2014/main" id="{0E55D053-8D33-4EAC-8D74-D9E346467545}"/>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μ = sample mean; rₖ is a finite-sample estimate</a:t>
            </a:r>
          </a:p>
        </p:txBody>
      </p:sp>
      <p:sp>
        <p:nvSpPr>
          <p:cNvPr id="8" name="concept-57-example-label-0">
            <a:extLst xmlns:a="http://schemas.openxmlformats.org/drawingml/2006/main">
              <a:ext uri="{FF2B5EF4-FFF2-40B4-BE49-F238E27FC236}">
                <a16:creationId xmlns:a16="http://schemas.microsoft.com/office/drawing/2014/main" id="{4DC17A13-380B-49B3-B59F-F9459A63762E}"/>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57-example-0">
            <a:extLst xmlns:a="http://schemas.openxmlformats.org/drawingml/2006/main">
              <a:ext uri="{FF2B5EF4-FFF2-40B4-BE49-F238E27FC236}">
                <a16:creationId xmlns:a16="http://schemas.microsoft.com/office/drawing/2014/main" id="{568311C9-5522-4728-BC10-8CF9A8F62044}"/>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(1, 3, 1, 3), mean = 2 and deviations = (−1, 1, −1, 1). At</a:t>
            </a:r>
          </a:p>
        </p:txBody>
      </p:sp>
      <p:sp>
        <p:nvSpPr>
          <p:cNvPr id="10" name="concept-57-example-1">
            <a:extLst xmlns:a="http://schemas.openxmlformats.org/drawingml/2006/main">
              <a:ext uri="{FF2B5EF4-FFF2-40B4-BE49-F238E27FC236}">
                <a16:creationId xmlns:a16="http://schemas.microsoft.com/office/drawing/2014/main" id="{45A451BB-9692-45CE-AC6E-9FD636C72327}"/>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lag 1: r₁ = (−1−1−1)/(1+1+1+1) = −0.75. Neighbors</a:t>
            </a:r>
          </a:p>
        </p:txBody>
      </p:sp>
      <p:sp>
        <p:nvSpPr>
          <p:cNvPr id="16" name="concept-57-example-2">
            <a:extLst xmlns:a="http://schemas.openxmlformats.org/drawingml/2006/main">
              <a:ext uri="{FF2B5EF4-FFF2-40B4-BE49-F238E27FC236}">
                <a16:creationId xmlns:a16="http://schemas.microsoft.com/office/drawing/2014/main" id="{BA8E9CBE-39ED-47DF-A6B1-F69FC181BD89}"/>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alternate.</a:t>
            </a:r>
          </a:p>
        </p:txBody>
      </p:sp>
      <p:sp>
        <p:nvSpPr>
          <p:cNvPr id="11" name="concept-57-metaphor-label-0">
            <a:extLst xmlns:a="http://schemas.openxmlformats.org/drawingml/2006/main">
              <a:ext uri="{FF2B5EF4-FFF2-40B4-BE49-F238E27FC236}">
                <a16:creationId xmlns:a16="http://schemas.microsoft.com/office/drawing/2014/main" id="{54EC7543-DC17-47F9-AF4E-624EEA76E3B1}"/>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57-metaphor-0">
            <a:extLst xmlns:a="http://schemas.openxmlformats.org/drawingml/2006/main">
              <a:ext uri="{FF2B5EF4-FFF2-40B4-BE49-F238E27FC236}">
                <a16:creationId xmlns:a16="http://schemas.microsoft.com/office/drawing/2014/main" id="{A0BEC106-5153-40BB-8CC8-9BA44B6012CC}"/>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Loud, soft, loud, soft: shift the rhythm by one beat and loud</a:t>
            </a:r>
          </a:p>
        </p:txBody>
      </p:sp>
      <p:sp>
        <p:nvSpPr>
          <p:cNvPr id="13" name="concept-57-metaphor-1">
            <a:extLst xmlns:a="http://schemas.openxmlformats.org/drawingml/2006/main">
              <a:ext uri="{FF2B5EF4-FFF2-40B4-BE49-F238E27FC236}">
                <a16:creationId xmlns:a16="http://schemas.microsoft.com/office/drawing/2014/main" id="{C21625BA-2AC6-4A68-AD90-D237DC046477}"/>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lines up with soft.</a:t>
            </a:r>
          </a:p>
        </p:txBody>
      </p:sp>
      <p:sp>
        <p:nvSpPr>
          <p:cNvPr id="14" name="concept-57-footer-0">
            <a:extLst xmlns:a="http://schemas.openxmlformats.org/drawingml/2006/main">
              <a:ext uri="{FF2B5EF4-FFF2-40B4-BE49-F238E27FC236}">
                <a16:creationId xmlns:a16="http://schemas.microsoft.com/office/drawing/2014/main" id="{694B9079-5805-432A-AD44-E405BB87E654}"/>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Autoregressive language model</a:t>
            </a:r>
          </a:p>
        </p:txBody>
      </p:sp>
    </p:spTree>
    <p:extLst>
      <p:ext uri="{BB962C8B-B14F-4D97-AF65-F5344CB8AC3E}">
        <p14:creationId xmlns:p14="http://schemas.microsoft.com/office/powerpoint/2010/main" val="765318387"/>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58-chapter-0">
            <a:extLst xmlns:a="http://schemas.openxmlformats.org/drawingml/2006/main">
              <a:ext uri="{FF2B5EF4-FFF2-40B4-BE49-F238E27FC236}">
                <a16:creationId xmlns:a16="http://schemas.microsoft.com/office/drawing/2014/main" id="{789C2670-EF66-4190-AD8D-B9DE191D59E7}"/>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058 / 100 · REPRESENTATIONS AND LANGUAGE</a:t>
            </a:r>
          </a:p>
        </p:txBody>
      </p:sp>
      <p:sp>
        <p:nvSpPr>
          <p:cNvPr id="2" name="concept-58-title-0">
            <a:extLst xmlns:a="http://schemas.openxmlformats.org/drawingml/2006/main">
              <a:ext uri="{FF2B5EF4-FFF2-40B4-BE49-F238E27FC236}">
                <a16:creationId xmlns:a16="http://schemas.microsoft.com/office/drawing/2014/main" id="{F5EF2492-4FA2-4004-806E-E8C5AC8A0609}"/>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Autoregressive language model</a:t>
            </a:r>
          </a:p>
        </p:txBody>
      </p:sp>
      <p:sp>
        <p:nvSpPr>
          <p:cNvPr id="3" name="concept-58-definition-label-0">
            <a:extLst xmlns:a="http://schemas.openxmlformats.org/drawingml/2006/main">
              <a:ext uri="{FF2B5EF4-FFF2-40B4-BE49-F238E27FC236}">
                <a16:creationId xmlns:a16="http://schemas.microsoft.com/office/drawing/2014/main" id="{B75BB5A7-EBF2-4060-9165-337EC59EBA02}"/>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58-definition-0">
            <a:extLst xmlns:a="http://schemas.openxmlformats.org/drawingml/2006/main">
              <a:ext uri="{FF2B5EF4-FFF2-40B4-BE49-F238E27FC236}">
                <a16:creationId xmlns:a16="http://schemas.microsoft.com/office/drawing/2014/main" id="{C2E52115-650D-4781-956D-98CF697BCB1A}"/>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autoregressive language model assigns a sequence</a:t>
            </a:r>
          </a:p>
        </p:txBody>
      </p:sp>
      <p:sp>
        <p:nvSpPr>
          <p:cNvPr id="5" name="concept-58-definition-1">
            <a:extLst xmlns:a="http://schemas.openxmlformats.org/drawingml/2006/main">
              <a:ext uri="{FF2B5EF4-FFF2-40B4-BE49-F238E27FC236}">
                <a16:creationId xmlns:a16="http://schemas.microsoft.com/office/drawing/2014/main" id="{BB285802-12AB-4496-B141-DC102F8EFC3F}"/>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probability by predicting each next token conditioned on the</a:t>
            </a:r>
          </a:p>
        </p:txBody>
      </p:sp>
      <p:sp>
        <p:nvSpPr>
          <p:cNvPr id="6" name="concept-58-definition-2">
            <a:extLst xmlns:a="http://schemas.openxmlformats.org/drawingml/2006/main">
              <a:ext uri="{FF2B5EF4-FFF2-40B4-BE49-F238E27FC236}">
                <a16:creationId xmlns:a16="http://schemas.microsoft.com/office/drawing/2014/main" id="{F89B6016-E201-41AF-B55B-9DE4FA96D503}"/>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previous tokens.</a:t>
            </a:r>
          </a:p>
        </p:txBody>
      </p:sp>
      <p:sp>
        <p:nvSpPr>
          <p:cNvPr id="7" name="concept-58-formula-0">
            <a:extLst xmlns:a="http://schemas.openxmlformats.org/drawingml/2006/main">
              <a:ext uri="{FF2B5EF4-FFF2-40B4-BE49-F238E27FC236}">
                <a16:creationId xmlns:a16="http://schemas.microsoft.com/office/drawing/2014/main" id="{9BD0B007-9145-49FE-AA7D-05DA560884F4}"/>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P(t₁, …, tₙ) = Πᵢ P(tᵢ ∣ t₁, …, tᵢ₋₁)</a:t>
            </a:r>
          </a:p>
        </p:txBody>
      </p:sp>
      <p:sp>
        <p:nvSpPr>
          <p:cNvPr id="8" name="concept-58-example-label-0">
            <a:extLst xmlns:a="http://schemas.openxmlformats.org/drawingml/2006/main">
              <a:ext uri="{FF2B5EF4-FFF2-40B4-BE49-F238E27FC236}">
                <a16:creationId xmlns:a16="http://schemas.microsoft.com/office/drawing/2014/main" id="{D7322362-CC92-4235-A8EF-E47961699592}"/>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58-example-0">
            <a:extLst xmlns:a="http://schemas.openxmlformats.org/drawingml/2006/main">
              <a:ext uri="{FF2B5EF4-FFF2-40B4-BE49-F238E27FC236}">
                <a16:creationId xmlns:a16="http://schemas.microsoft.com/office/drawing/2014/main" id="{F5E3CD73-FD23-4D39-9630-B94568496FF4}"/>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If P(A) = 0.5 and P(B given A) = 0.2, then P(A, B) = 0.1.</a:t>
            </a:r>
          </a:p>
        </p:txBody>
      </p:sp>
      <p:sp>
        <p:nvSpPr>
          <p:cNvPr id="10" name="concept-58-metaphor-label-0">
            <a:extLst xmlns:a="http://schemas.openxmlformats.org/drawingml/2006/main">
              <a:ext uri="{FF2B5EF4-FFF2-40B4-BE49-F238E27FC236}">
                <a16:creationId xmlns:a16="http://schemas.microsoft.com/office/drawing/2014/main" id="{10190B9C-2119-4BA5-9559-305E93F188E7}"/>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58-metaphor-0">
            <a:extLst xmlns:a="http://schemas.openxmlformats.org/drawingml/2006/main">
              <a:ext uri="{FF2B5EF4-FFF2-40B4-BE49-F238E27FC236}">
                <a16:creationId xmlns:a16="http://schemas.microsoft.com/office/drawing/2014/main" id="{8C881D66-FE27-42BD-91C6-BA279EE9DB17}"/>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Write a sentence one tile at a time, choosing each tile from the</a:t>
            </a:r>
          </a:p>
        </p:txBody>
      </p:sp>
      <p:sp>
        <p:nvSpPr>
          <p:cNvPr id="12" name="concept-58-metaphor-1">
            <a:extLst xmlns:a="http://schemas.openxmlformats.org/drawingml/2006/main">
              <a:ext uri="{FF2B5EF4-FFF2-40B4-BE49-F238E27FC236}">
                <a16:creationId xmlns:a16="http://schemas.microsoft.com/office/drawing/2014/main" id="{AF132ADB-97B5-4C01-8B14-240CB191EFBB}"/>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tiles already placed.</a:t>
            </a:r>
          </a:p>
        </p:txBody>
      </p:sp>
      <p:sp>
        <p:nvSpPr>
          <p:cNvPr id="13" name="concept-58-footer-0">
            <a:extLst xmlns:a="http://schemas.openxmlformats.org/drawingml/2006/main">
              <a:ext uri="{FF2B5EF4-FFF2-40B4-BE49-F238E27FC236}">
                <a16:creationId xmlns:a16="http://schemas.microsoft.com/office/drawing/2014/main" id="{D5B58457-210D-41B8-918B-A50AE229251E}"/>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Positional encoding</a:t>
            </a:r>
          </a:p>
        </p:txBody>
      </p:sp>
    </p:spTree>
    <p:extLst>
      <p:ext uri="{BB962C8B-B14F-4D97-AF65-F5344CB8AC3E}">
        <p14:creationId xmlns:p14="http://schemas.microsoft.com/office/powerpoint/2010/main" val="2054444335"/>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59-chapter-0">
            <a:extLst xmlns:a="http://schemas.openxmlformats.org/drawingml/2006/main">
              <a:ext uri="{FF2B5EF4-FFF2-40B4-BE49-F238E27FC236}">
                <a16:creationId xmlns:a16="http://schemas.microsoft.com/office/drawing/2014/main" id="{1F1E06C0-EFD4-4292-A12B-A3EE03E3FCD2}"/>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059 / 100 · REPRESENTATIONS AND LANGUAGE</a:t>
            </a:r>
          </a:p>
        </p:txBody>
      </p:sp>
      <p:sp>
        <p:nvSpPr>
          <p:cNvPr id="2" name="concept-59-title-0">
            <a:extLst xmlns:a="http://schemas.openxmlformats.org/drawingml/2006/main">
              <a:ext uri="{FF2B5EF4-FFF2-40B4-BE49-F238E27FC236}">
                <a16:creationId xmlns:a16="http://schemas.microsoft.com/office/drawing/2014/main" id="{0EBCFE68-FE51-40E1-9AAB-E05808E54F41}"/>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Positional encoding</a:t>
            </a:r>
          </a:p>
        </p:txBody>
      </p:sp>
      <p:sp>
        <p:nvSpPr>
          <p:cNvPr id="3" name="concept-59-definition-label-0">
            <a:extLst xmlns:a="http://schemas.openxmlformats.org/drawingml/2006/main">
              <a:ext uri="{FF2B5EF4-FFF2-40B4-BE49-F238E27FC236}">
                <a16:creationId xmlns:a16="http://schemas.microsoft.com/office/drawing/2014/main" id="{58A37BD9-5D5D-47C3-AF97-4BD23CF07544}"/>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59-definition-0">
            <a:extLst xmlns:a="http://schemas.openxmlformats.org/drawingml/2006/main">
              <a:ext uri="{FF2B5EF4-FFF2-40B4-BE49-F238E27FC236}">
                <a16:creationId xmlns:a16="http://schemas.microsoft.com/office/drawing/2014/main" id="{7F0A606B-9F9F-49F7-8199-AC91F1A9F5FB}"/>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Positional encoding gives a model token order or location. The</a:t>
            </a:r>
          </a:p>
        </p:txBody>
      </p:sp>
      <p:sp>
        <p:nvSpPr>
          <p:cNvPr id="5" name="concept-59-definition-1">
            <a:extLst xmlns:a="http://schemas.openxmlformats.org/drawingml/2006/main">
              <a:ext uri="{FF2B5EF4-FFF2-40B4-BE49-F238E27FC236}">
                <a16:creationId xmlns:a16="http://schemas.microsoft.com/office/drawing/2014/main" id="{8F43D0BE-B83E-42FD-9595-27F7CD5834E4}"/>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additive method adds a position vector to each embedding.</a:t>
            </a:r>
          </a:p>
        </p:txBody>
      </p:sp>
      <p:sp>
        <p:nvSpPr>
          <p:cNvPr id="6" name="concept-59-definition-2">
            <a:extLst xmlns:a="http://schemas.openxmlformats.org/drawingml/2006/main">
              <a:ext uri="{FF2B5EF4-FFF2-40B4-BE49-F238E27FC236}">
                <a16:creationId xmlns:a16="http://schemas.microsoft.com/office/drawing/2014/main" id="{D518628C-41F0-49DA-9AFF-2D6700E6B83D}"/>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Other methods alter attention.</a:t>
            </a:r>
          </a:p>
        </p:txBody>
      </p:sp>
      <p:sp>
        <p:nvSpPr>
          <p:cNvPr id="7" name="concept-59-formula-0">
            <a:extLst xmlns:a="http://schemas.openxmlformats.org/drawingml/2006/main">
              <a:ext uri="{FF2B5EF4-FFF2-40B4-BE49-F238E27FC236}">
                <a16:creationId xmlns:a16="http://schemas.microsoft.com/office/drawing/2014/main" id="{AD37BBD9-3616-40C5-9256-E91BA633E82D}"/>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Additive version: hᵢ = E[tokenᵢ] + pᵢ</a:t>
            </a:r>
          </a:p>
        </p:txBody>
      </p:sp>
      <p:sp>
        <p:nvSpPr>
          <p:cNvPr id="8" name="concept-59-example-label-0">
            <a:extLst xmlns:a="http://schemas.openxmlformats.org/drawingml/2006/main">
              <a:ext uri="{FF2B5EF4-FFF2-40B4-BE49-F238E27FC236}">
                <a16:creationId xmlns:a16="http://schemas.microsoft.com/office/drawing/2014/main" id="{BE43DB0B-61E1-4C1D-BA4B-EDBF3C637207}"/>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59-example-0">
            <a:extLst xmlns:a="http://schemas.openxmlformats.org/drawingml/2006/main">
              <a:ext uri="{FF2B5EF4-FFF2-40B4-BE49-F238E27FC236}">
                <a16:creationId xmlns:a16="http://schemas.microsoft.com/office/drawing/2014/main" id="{E9A9B371-02AE-4399-A3AD-8CCD2F7A288D}"/>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same token has vector (1, 2). At position 1, add (0.1, 0):</a:t>
            </a:r>
          </a:p>
        </p:txBody>
      </p:sp>
      <p:sp>
        <p:nvSpPr>
          <p:cNvPr id="14" name="concept-59-example-1">
            <a:extLst xmlns:a="http://schemas.openxmlformats.org/drawingml/2006/main">
              <a:ext uri="{FF2B5EF4-FFF2-40B4-BE49-F238E27FC236}">
                <a16:creationId xmlns:a16="http://schemas.microsoft.com/office/drawing/2014/main" id="{9D08A97E-E64E-4205-8D7C-1EBCCF1B7D59}"/>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(1.1, 2). At position 2, add (0, 0.1): (1, 2.1). Its position now</a:t>
            </a:r>
          </a:p>
        </p:txBody>
      </p:sp>
      <p:sp>
        <p:nvSpPr>
          <p:cNvPr id="15" name="concept-59-example-2">
            <a:extLst xmlns:a="http://schemas.openxmlformats.org/drawingml/2006/main">
              <a:ext uri="{FF2B5EF4-FFF2-40B4-BE49-F238E27FC236}">
                <a16:creationId xmlns:a16="http://schemas.microsoft.com/office/drawing/2014/main" id="{F77DBB00-0A11-44E0-AECD-1D89561945AB}"/>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changes the input.</a:t>
            </a:r>
          </a:p>
        </p:txBody>
      </p:sp>
      <p:sp>
        <p:nvSpPr>
          <p:cNvPr id="10" name="concept-59-metaphor-label-0">
            <a:extLst xmlns:a="http://schemas.openxmlformats.org/drawingml/2006/main">
              <a:ext uri="{FF2B5EF4-FFF2-40B4-BE49-F238E27FC236}">
                <a16:creationId xmlns:a16="http://schemas.microsoft.com/office/drawing/2014/main" id="{354EF89E-3AF3-480D-817C-4112C06B6F0F}"/>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59-metaphor-0">
            <a:extLst xmlns:a="http://schemas.openxmlformats.org/drawingml/2006/main">
              <a:ext uri="{FF2B5EF4-FFF2-40B4-BE49-F238E27FC236}">
                <a16:creationId xmlns:a16="http://schemas.microsoft.com/office/drawing/2014/main" id="{CC12C08D-6AA4-4C57-9341-3708D9C34BB7}"/>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Page numbers let you distinguish repeated words appearing in</a:t>
            </a:r>
          </a:p>
        </p:txBody>
      </p:sp>
      <p:sp>
        <p:nvSpPr>
          <p:cNvPr id="12" name="concept-59-metaphor-1">
            <a:extLst xmlns:a="http://schemas.openxmlformats.org/drawingml/2006/main">
              <a:ext uri="{FF2B5EF4-FFF2-40B4-BE49-F238E27FC236}">
                <a16:creationId xmlns:a16="http://schemas.microsoft.com/office/drawing/2014/main" id="{2BF4F2D1-999F-443D-AC9E-527A357BDC65}"/>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different places in a book.</a:t>
            </a:r>
          </a:p>
        </p:txBody>
      </p:sp>
      <p:sp>
        <p:nvSpPr>
          <p:cNvPr id="13" name="concept-59-footer-0">
            <a:extLst xmlns:a="http://schemas.openxmlformats.org/drawingml/2006/main">
              <a:ext uri="{FF2B5EF4-FFF2-40B4-BE49-F238E27FC236}">
                <a16:creationId xmlns:a16="http://schemas.microsoft.com/office/drawing/2014/main" id="{B122AAC0-FF9A-4E7E-85BD-D9142765BF87}"/>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Scaled dot-product attention</a:t>
            </a:r>
          </a:p>
        </p:txBody>
      </p:sp>
    </p:spTree>
    <p:extLst>
      <p:ext uri="{BB962C8B-B14F-4D97-AF65-F5344CB8AC3E}">
        <p14:creationId xmlns:p14="http://schemas.microsoft.com/office/powerpoint/2010/main" val="1257141960"/>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60-chapter-0">
            <a:extLst xmlns:a="http://schemas.openxmlformats.org/drawingml/2006/main">
              <a:ext uri="{FF2B5EF4-FFF2-40B4-BE49-F238E27FC236}">
                <a16:creationId xmlns:a16="http://schemas.microsoft.com/office/drawing/2014/main" id="{37E49DB7-DA8B-4F8D-9E29-FD07D2E2D0EB}"/>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060 / 100 · REPRESENTATIONS AND LANGUAGE</a:t>
            </a:r>
          </a:p>
        </p:txBody>
      </p:sp>
      <p:sp>
        <p:nvSpPr>
          <p:cNvPr id="2" name="concept-60-title-0">
            <a:extLst xmlns:a="http://schemas.openxmlformats.org/drawingml/2006/main">
              <a:ext uri="{FF2B5EF4-FFF2-40B4-BE49-F238E27FC236}">
                <a16:creationId xmlns:a16="http://schemas.microsoft.com/office/drawing/2014/main" id="{287D758F-3FBF-465F-8ABF-7BEE14645699}"/>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Scaled dot-product attention</a:t>
            </a:r>
          </a:p>
        </p:txBody>
      </p:sp>
      <p:sp>
        <p:nvSpPr>
          <p:cNvPr id="3" name="concept-60-definition-label-0">
            <a:extLst xmlns:a="http://schemas.openxmlformats.org/drawingml/2006/main">
              <a:ext uri="{FF2B5EF4-FFF2-40B4-BE49-F238E27FC236}">
                <a16:creationId xmlns:a16="http://schemas.microsoft.com/office/drawing/2014/main" id="{9C8B4F07-34C6-4289-BBAC-B12D52D2D60A}"/>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60-definition-0">
            <a:extLst xmlns:a="http://schemas.openxmlformats.org/drawingml/2006/main">
              <a:ext uri="{FF2B5EF4-FFF2-40B4-BE49-F238E27FC236}">
                <a16:creationId xmlns:a16="http://schemas.microsoft.com/office/drawing/2014/main" id="{A906174D-A7F5-4B39-A4D4-77A382AB2269}"/>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Each query scores a set of keys. Softmax turns the scores into</a:t>
            </a:r>
          </a:p>
        </p:txBody>
      </p:sp>
      <p:sp>
        <p:nvSpPr>
          <p:cNvPr id="5" name="concept-60-definition-1">
            <a:extLst xmlns:a="http://schemas.openxmlformats.org/drawingml/2006/main">
              <a:ext uri="{FF2B5EF4-FFF2-40B4-BE49-F238E27FC236}">
                <a16:creationId xmlns:a16="http://schemas.microsoft.com/office/drawing/2014/main" id="{752625DC-8C9D-4FA9-97A9-7D12AE5B606D}"/>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weights. Attention returns a weighted sum of the corresponding</a:t>
            </a:r>
          </a:p>
        </p:txBody>
      </p:sp>
      <p:sp>
        <p:nvSpPr>
          <p:cNvPr id="6" name="concept-60-definition-2">
            <a:extLst xmlns:a="http://schemas.openxmlformats.org/drawingml/2006/main">
              <a:ext uri="{FF2B5EF4-FFF2-40B4-BE49-F238E27FC236}">
                <a16:creationId xmlns:a16="http://schemas.microsoft.com/office/drawing/2014/main" id="{6302EC68-B381-422A-8C13-61188254C487}"/>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values, letting a token use information from other tokens.</a:t>
            </a:r>
          </a:p>
        </p:txBody>
      </p:sp>
      <p:sp>
        <p:nvSpPr>
          <p:cNvPr id="7" name="concept-60-formula-0">
            <a:extLst xmlns:a="http://schemas.openxmlformats.org/drawingml/2006/main">
              <a:ext uri="{FF2B5EF4-FFF2-40B4-BE49-F238E27FC236}">
                <a16:creationId xmlns:a16="http://schemas.microsoft.com/office/drawing/2014/main" id="{0B019CCC-937A-4009-9996-615176745929}"/>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Attention(Q, K, V) = softmax(QKᵀ/√dₖ)V</a:t>
            </a:r>
          </a:p>
        </p:txBody>
      </p:sp>
      <p:sp>
        <p:nvSpPr>
          <p:cNvPr id="8" name="concept-60-example-label-0">
            <a:extLst xmlns:a="http://schemas.openxmlformats.org/drawingml/2006/main">
              <a:ext uri="{FF2B5EF4-FFF2-40B4-BE49-F238E27FC236}">
                <a16:creationId xmlns:a16="http://schemas.microsoft.com/office/drawing/2014/main" id="{DFF17D7F-5125-4ABE-9EFE-10B7A9E79AC1}"/>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60-example-0">
            <a:extLst xmlns:a="http://schemas.openxmlformats.org/drawingml/2006/main">
              <a:ext uri="{FF2B5EF4-FFF2-40B4-BE49-F238E27FC236}">
                <a16:creationId xmlns:a16="http://schemas.microsoft.com/office/drawing/2014/main" id="{0AC91B9E-2F4A-4351-A6A6-48476AE9DF03}"/>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q = 1, keys = (0, ln 3), values = (2, 6), dₖ = 1. Scores (0, ln 3)</a:t>
            </a:r>
          </a:p>
        </p:txBody>
      </p:sp>
      <p:sp>
        <p:nvSpPr>
          <p:cNvPr id="10" name="concept-60-example-1">
            <a:extLst xmlns:a="http://schemas.openxmlformats.org/drawingml/2006/main">
              <a:ext uri="{FF2B5EF4-FFF2-40B4-BE49-F238E27FC236}">
                <a16:creationId xmlns:a16="http://schemas.microsoft.com/office/drawing/2014/main" id="{29503E33-C493-4361-A80E-4BA0DAAF08E1}"/>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give weights (0.25, 0.75). Output = 0.25×2 + 0.75×6 = 5.</a:t>
            </a:r>
          </a:p>
        </p:txBody>
      </p:sp>
      <p:sp>
        <p:nvSpPr>
          <p:cNvPr id="11" name="concept-60-metaphor-label-0">
            <a:extLst xmlns:a="http://schemas.openxmlformats.org/drawingml/2006/main">
              <a:ext uri="{FF2B5EF4-FFF2-40B4-BE49-F238E27FC236}">
                <a16:creationId xmlns:a16="http://schemas.microsoft.com/office/drawing/2014/main" id="{2C552356-688F-484B-B587-96425C6D362A}"/>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60-metaphor-0">
            <a:extLst xmlns:a="http://schemas.openxmlformats.org/drawingml/2006/main">
              <a:ext uri="{FF2B5EF4-FFF2-40B4-BE49-F238E27FC236}">
                <a16:creationId xmlns:a16="http://schemas.microsoft.com/office/drawing/2014/main" id="{919772C8-C237-413E-943D-752B56108954}"/>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question asks several reference cards how relevant they are,</a:t>
            </a:r>
          </a:p>
        </p:txBody>
      </p:sp>
      <p:sp>
        <p:nvSpPr>
          <p:cNvPr id="13" name="concept-60-metaphor-1">
            <a:extLst xmlns:a="http://schemas.openxmlformats.org/drawingml/2006/main">
              <a:ext uri="{FF2B5EF4-FFF2-40B4-BE49-F238E27FC236}">
                <a16:creationId xmlns:a16="http://schemas.microsoft.com/office/drawing/2014/main" id="{293111B1-8E74-4661-BB0E-30D5581EA4C0}"/>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then blends their answers.</a:t>
            </a:r>
          </a:p>
        </p:txBody>
      </p:sp>
      <p:sp>
        <p:nvSpPr>
          <p:cNvPr id="14" name="concept-60-footer-0">
            <a:extLst xmlns:a="http://schemas.openxmlformats.org/drawingml/2006/main">
              <a:ext uri="{FF2B5EF4-FFF2-40B4-BE49-F238E27FC236}">
                <a16:creationId xmlns:a16="http://schemas.microsoft.com/office/drawing/2014/main" id="{DC24C41C-D262-4F48-A0C3-99E22A7F1689}"/>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Multi-head attention</a:t>
            </a:r>
          </a:p>
        </p:txBody>
      </p:sp>
    </p:spTree>
    <p:extLst>
      <p:ext uri="{BB962C8B-B14F-4D97-AF65-F5344CB8AC3E}">
        <p14:creationId xmlns:p14="http://schemas.microsoft.com/office/powerpoint/2010/main" val="610240390"/>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61-chapter-0">
            <a:extLst xmlns:a="http://schemas.openxmlformats.org/drawingml/2006/main">
              <a:ext uri="{FF2B5EF4-FFF2-40B4-BE49-F238E27FC236}">
                <a16:creationId xmlns:a16="http://schemas.microsoft.com/office/drawing/2014/main" id="{B471CDA4-C2C3-4E87-83E3-FB87AC6CCF75}"/>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061 / 100 · REPRESENTATIONS AND LANGUAGE</a:t>
            </a:r>
          </a:p>
        </p:txBody>
      </p:sp>
      <p:sp>
        <p:nvSpPr>
          <p:cNvPr id="2" name="concept-61-title-0">
            <a:extLst xmlns:a="http://schemas.openxmlformats.org/drawingml/2006/main">
              <a:ext uri="{FF2B5EF4-FFF2-40B4-BE49-F238E27FC236}">
                <a16:creationId xmlns:a16="http://schemas.microsoft.com/office/drawing/2014/main" id="{CFCA51BE-D6CA-4877-A8D2-8A5CD49D3247}"/>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Multi-head attention</a:t>
            </a:r>
          </a:p>
        </p:txBody>
      </p:sp>
      <p:sp>
        <p:nvSpPr>
          <p:cNvPr id="3" name="concept-61-definition-label-0">
            <a:extLst xmlns:a="http://schemas.openxmlformats.org/drawingml/2006/main">
              <a:ext uri="{FF2B5EF4-FFF2-40B4-BE49-F238E27FC236}">
                <a16:creationId xmlns:a16="http://schemas.microsoft.com/office/drawing/2014/main" id="{1EA02AE0-C6F1-44EB-B68E-0A4E10C0DA17}"/>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61-definition-0">
            <a:extLst xmlns:a="http://schemas.openxmlformats.org/drawingml/2006/main">
              <a:ext uri="{FF2B5EF4-FFF2-40B4-BE49-F238E27FC236}">
                <a16:creationId xmlns:a16="http://schemas.microsoft.com/office/drawing/2014/main" id="{48CAEF34-D4BB-45BA-8C1F-9FCBB875DEC5}"/>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Multi-head attention runs several attention calculations using</a:t>
            </a:r>
          </a:p>
        </p:txBody>
      </p:sp>
      <p:sp>
        <p:nvSpPr>
          <p:cNvPr id="5" name="concept-61-definition-1">
            <a:extLst xmlns:a="http://schemas.openxmlformats.org/drawingml/2006/main">
              <a:ext uri="{FF2B5EF4-FFF2-40B4-BE49-F238E27FC236}">
                <a16:creationId xmlns:a16="http://schemas.microsoft.com/office/drawing/2014/main" id="{84DEFD93-AA60-4351-8DA3-01A8CD5017B1}"/>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different learned matrix transformations. Their outputs are</a:t>
            </a:r>
          </a:p>
        </p:txBody>
      </p:sp>
      <p:sp>
        <p:nvSpPr>
          <p:cNvPr id="6" name="concept-61-definition-2">
            <a:extLst xmlns:a="http://schemas.openxmlformats.org/drawingml/2006/main">
              <a:ext uri="{FF2B5EF4-FFF2-40B4-BE49-F238E27FC236}">
                <a16:creationId xmlns:a16="http://schemas.microsoft.com/office/drawing/2014/main" id="{57FE1A27-037A-44CB-9E1D-67CD68E58759}"/>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joined and mixed by another learned matrix.</a:t>
            </a:r>
          </a:p>
        </p:txBody>
      </p:sp>
      <p:sp>
        <p:nvSpPr>
          <p:cNvPr id="7" name="concept-61-formula-0">
            <a:extLst xmlns:a="http://schemas.openxmlformats.org/drawingml/2006/main">
              <a:ext uri="{FF2B5EF4-FFF2-40B4-BE49-F238E27FC236}">
                <a16:creationId xmlns:a16="http://schemas.microsoft.com/office/drawing/2014/main" id="{92A12067-E805-45E8-B3AC-306104BBF6CF}"/>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MultiHead = Concat(head₁, …, headₕ)Wᴼ</a:t>
            </a:r>
          </a:p>
        </p:txBody>
      </p:sp>
      <p:sp>
        <p:nvSpPr>
          <p:cNvPr id="8" name="concept-61-example-label-0">
            <a:extLst xmlns:a="http://schemas.openxmlformats.org/drawingml/2006/main">
              <a:ext uri="{FF2B5EF4-FFF2-40B4-BE49-F238E27FC236}">
                <a16:creationId xmlns:a16="http://schemas.microsoft.com/office/drawing/2014/main" id="{3521CF5B-81BF-4B3D-AFDD-F89DD403DC08}"/>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61-example-0">
            <a:extLst xmlns:a="http://schemas.openxmlformats.org/drawingml/2006/main">
              <a:ext uri="{FF2B5EF4-FFF2-40B4-BE49-F238E27FC236}">
                <a16:creationId xmlns:a16="http://schemas.microsoft.com/office/drawing/2014/main" id="{C1AE79E6-6F38-4DF9-8B0A-787E7BCEE155}"/>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values (2, 6), weights (0.25, 0.75) give 5; weights (0.75,</a:t>
            </a:r>
          </a:p>
        </p:txBody>
      </p:sp>
      <p:sp>
        <p:nvSpPr>
          <p:cNvPr id="10" name="concept-61-example-1">
            <a:extLst xmlns:a="http://schemas.openxmlformats.org/drawingml/2006/main">
              <a:ext uri="{FF2B5EF4-FFF2-40B4-BE49-F238E27FC236}">
                <a16:creationId xmlns:a16="http://schemas.microsoft.com/office/drawing/2014/main" id="{C6FF0F17-6B7C-40BA-85DC-99AD50B6D433}"/>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0.25) give 3. Join the heads as (5, 3). Output weights (0.5, 0.5)</a:t>
            </a:r>
          </a:p>
        </p:txBody>
      </p:sp>
      <p:sp>
        <p:nvSpPr>
          <p:cNvPr id="15" name="concept-61-example-2">
            <a:extLst xmlns:a="http://schemas.openxmlformats.org/drawingml/2006/main">
              <a:ext uri="{FF2B5EF4-FFF2-40B4-BE49-F238E27FC236}">
                <a16:creationId xmlns:a16="http://schemas.microsoft.com/office/drawing/2014/main" id="{6BF7C346-55F9-4975-A83C-F3B4C75D7475}"/>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give 4.</a:t>
            </a:r>
          </a:p>
        </p:txBody>
      </p:sp>
      <p:sp>
        <p:nvSpPr>
          <p:cNvPr id="11" name="concept-61-metaphor-label-0">
            <a:extLst xmlns:a="http://schemas.openxmlformats.org/drawingml/2006/main">
              <a:ext uri="{FF2B5EF4-FFF2-40B4-BE49-F238E27FC236}">
                <a16:creationId xmlns:a16="http://schemas.microsoft.com/office/drawing/2014/main" id="{FDD0EADB-0AD4-4AB5-A012-E6FE680A7289}"/>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61-metaphor-0">
            <a:extLst xmlns:a="http://schemas.openxmlformats.org/drawingml/2006/main">
              <a:ext uri="{FF2B5EF4-FFF2-40B4-BE49-F238E27FC236}">
                <a16:creationId xmlns:a16="http://schemas.microsoft.com/office/drawing/2014/main" id="{AD2B80A6-10F2-4C2A-8634-8CD1427145C1}"/>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Several readers inspect the same passage with different</a:t>
            </a:r>
          </a:p>
        </p:txBody>
      </p:sp>
      <p:sp>
        <p:nvSpPr>
          <p:cNvPr id="13" name="concept-61-metaphor-1">
            <a:extLst xmlns:a="http://schemas.openxmlformats.org/drawingml/2006/main">
              <a:ext uri="{FF2B5EF4-FFF2-40B4-BE49-F238E27FC236}">
                <a16:creationId xmlns:a16="http://schemas.microsoft.com/office/drawing/2014/main" id="{B7D1C77D-DEBA-476B-B33F-EBB37AE15027}"/>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questions, then combine their notes.</a:t>
            </a:r>
          </a:p>
        </p:txBody>
      </p:sp>
      <p:sp>
        <p:nvSpPr>
          <p:cNvPr id="14" name="concept-61-footer-0">
            <a:extLst xmlns:a="http://schemas.openxmlformats.org/drawingml/2006/main">
              <a:ext uri="{FF2B5EF4-FFF2-40B4-BE49-F238E27FC236}">
                <a16:creationId xmlns:a16="http://schemas.microsoft.com/office/drawing/2014/main" id="{0CFC8601-E676-4991-88BA-C075F34A66E1}"/>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Causal mask</a:t>
            </a:r>
          </a:p>
        </p:txBody>
      </p:sp>
    </p:spTree>
    <p:extLst>
      <p:ext uri="{BB962C8B-B14F-4D97-AF65-F5344CB8AC3E}">
        <p14:creationId xmlns:p14="http://schemas.microsoft.com/office/powerpoint/2010/main" val="206795973"/>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62-chapter-0">
            <a:extLst xmlns:a="http://schemas.openxmlformats.org/drawingml/2006/main">
              <a:ext uri="{FF2B5EF4-FFF2-40B4-BE49-F238E27FC236}">
                <a16:creationId xmlns:a16="http://schemas.microsoft.com/office/drawing/2014/main" id="{35651FFC-EB22-4059-9B7C-658B019173A7}"/>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062 / 100 · REPRESENTATIONS AND LANGUAGE</a:t>
            </a:r>
          </a:p>
        </p:txBody>
      </p:sp>
      <p:sp>
        <p:nvSpPr>
          <p:cNvPr id="2" name="concept-62-title-0">
            <a:extLst xmlns:a="http://schemas.openxmlformats.org/drawingml/2006/main">
              <a:ext uri="{FF2B5EF4-FFF2-40B4-BE49-F238E27FC236}">
                <a16:creationId xmlns:a16="http://schemas.microsoft.com/office/drawing/2014/main" id="{E32395DB-E667-4D95-BD23-2BF4D7E42AA3}"/>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Causal mask</a:t>
            </a:r>
          </a:p>
        </p:txBody>
      </p:sp>
      <p:sp>
        <p:nvSpPr>
          <p:cNvPr id="3" name="concept-62-definition-label-0">
            <a:extLst xmlns:a="http://schemas.openxmlformats.org/drawingml/2006/main">
              <a:ext uri="{FF2B5EF4-FFF2-40B4-BE49-F238E27FC236}">
                <a16:creationId xmlns:a16="http://schemas.microsoft.com/office/drawing/2014/main" id="{BC65A90C-E16B-4F56-838D-E4A78A5360BC}"/>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62-definition-0">
            <a:extLst xmlns:a="http://schemas.openxmlformats.org/drawingml/2006/main">
              <a:ext uri="{FF2B5EF4-FFF2-40B4-BE49-F238E27FC236}">
                <a16:creationId xmlns:a16="http://schemas.microsoft.com/office/drawing/2014/main" id="{BFAC41EE-F5B8-4549-8B22-6EAE51645B2D}"/>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causal mask blocks attention to future tokens. It adds −∞ to</a:t>
            </a:r>
          </a:p>
        </p:txBody>
      </p:sp>
      <p:sp>
        <p:nvSpPr>
          <p:cNvPr id="5" name="concept-62-definition-1">
            <a:extLst xmlns:a="http://schemas.openxmlformats.org/drawingml/2006/main">
              <a:ext uri="{FF2B5EF4-FFF2-40B4-BE49-F238E27FC236}">
                <a16:creationId xmlns:a16="http://schemas.microsoft.com/office/drawing/2014/main" id="{256886D5-B33C-4925-8C13-B9677EC83854}"/>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their attention scores, so softmax assigns them zero weight.</a:t>
            </a:r>
          </a:p>
        </p:txBody>
      </p:sp>
      <p:sp>
        <p:nvSpPr>
          <p:cNvPr id="6" name="concept-62-definition-2">
            <a:extLst xmlns:a="http://schemas.openxmlformats.org/drawingml/2006/main">
              <a:ext uri="{FF2B5EF4-FFF2-40B4-BE49-F238E27FC236}">
                <a16:creationId xmlns:a16="http://schemas.microsoft.com/office/drawing/2014/main" id="{A3B2E71F-DC4F-47EE-BB53-1B7D8CEA3FB9}"/>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Each position can use only its present and past.</a:t>
            </a:r>
          </a:p>
        </p:txBody>
      </p:sp>
      <p:sp>
        <p:nvSpPr>
          <p:cNvPr id="7" name="concept-62-formula-0">
            <a:extLst xmlns:a="http://schemas.openxmlformats.org/drawingml/2006/main">
              <a:ext uri="{FF2B5EF4-FFF2-40B4-BE49-F238E27FC236}">
                <a16:creationId xmlns:a16="http://schemas.microsoft.com/office/drawing/2014/main" id="{C79C024B-F078-40A1-8219-8252373E2E6F}"/>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Mᵢⱼ = 0 if j ≤ i; Mᵢⱼ = −∞ if j &gt; i</a:t>
            </a:r>
          </a:p>
        </p:txBody>
      </p:sp>
      <p:sp>
        <p:nvSpPr>
          <p:cNvPr id="8" name="concept-62-example-label-0">
            <a:extLst xmlns:a="http://schemas.openxmlformats.org/drawingml/2006/main">
              <a:ext uri="{FF2B5EF4-FFF2-40B4-BE49-F238E27FC236}">
                <a16:creationId xmlns:a16="http://schemas.microsoft.com/office/drawing/2014/main" id="{AB735619-5ACF-4E8A-9368-B039112CFD85}"/>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62-example-0">
            <a:extLst xmlns:a="http://schemas.openxmlformats.org/drawingml/2006/main">
              <a:ext uri="{FF2B5EF4-FFF2-40B4-BE49-F238E27FC236}">
                <a16:creationId xmlns:a16="http://schemas.microsoft.com/office/drawing/2014/main" id="{CC7F8822-B0E1-4515-A7BF-225C7637A384}"/>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At position 2, start with scores (0, 0, 0). Mask position 3: (0, 0,</a:t>
            </a:r>
          </a:p>
        </p:txBody>
      </p:sp>
      <p:sp>
        <p:nvSpPr>
          <p:cNvPr id="10" name="concept-62-example-1">
            <a:extLst xmlns:a="http://schemas.openxmlformats.org/drawingml/2006/main">
              <a:ext uri="{FF2B5EF4-FFF2-40B4-BE49-F238E27FC236}">
                <a16:creationId xmlns:a16="http://schemas.microsoft.com/office/drawing/2014/main" id="{231E7AFD-1668-41E3-AB65-8F4E3651853C}"/>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 Softmax gives (0.5, 0.5, 0): the future contributes nothing.</a:t>
            </a:r>
          </a:p>
        </p:txBody>
      </p:sp>
      <p:sp>
        <p:nvSpPr>
          <p:cNvPr id="11" name="concept-62-metaphor-label-0">
            <a:extLst xmlns:a="http://schemas.openxmlformats.org/drawingml/2006/main">
              <a:ext uri="{FF2B5EF4-FFF2-40B4-BE49-F238E27FC236}">
                <a16:creationId xmlns:a16="http://schemas.microsoft.com/office/drawing/2014/main" id="{7FAD1E21-24AA-4711-871E-20C3C439311F}"/>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62-metaphor-0">
            <a:extLst xmlns:a="http://schemas.openxmlformats.org/drawingml/2006/main">
              <a:ext uri="{FF2B5EF4-FFF2-40B4-BE49-F238E27FC236}">
                <a16:creationId xmlns:a16="http://schemas.microsoft.com/office/drawing/2014/main" id="{FD429C90-6204-492B-97CD-BFBD81E2AD4E}"/>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Fold the exam paper so the answer to the next question</a:t>
            </a:r>
          </a:p>
        </p:txBody>
      </p:sp>
      <p:sp>
        <p:nvSpPr>
          <p:cNvPr id="13" name="concept-62-metaphor-1">
            <a:extLst xmlns:a="http://schemas.openxmlformats.org/drawingml/2006/main">
              <a:ext uri="{FF2B5EF4-FFF2-40B4-BE49-F238E27FC236}">
                <a16:creationId xmlns:a16="http://schemas.microsoft.com/office/drawing/2014/main" id="{7CBFE63D-DB31-413F-A838-2CC4B37832C3}"/>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remains hidden.</a:t>
            </a:r>
          </a:p>
        </p:txBody>
      </p:sp>
      <p:sp>
        <p:nvSpPr>
          <p:cNvPr id="14" name="concept-62-footer-0">
            <a:extLst xmlns:a="http://schemas.openxmlformats.org/drawingml/2006/main">
              <a:ext uri="{FF2B5EF4-FFF2-40B4-BE49-F238E27FC236}">
                <a16:creationId xmlns:a16="http://schemas.microsoft.com/office/drawing/2014/main" id="{448122E7-B224-4BBA-8995-B39004AC51AD}"/>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Transformer</a:t>
            </a:r>
          </a:p>
        </p:txBody>
      </p:sp>
    </p:spTree>
    <p:extLst>
      <p:ext uri="{BB962C8B-B14F-4D97-AF65-F5344CB8AC3E}">
        <p14:creationId xmlns:p14="http://schemas.microsoft.com/office/powerpoint/2010/main" val="531379419"/>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oncept-63-chapter-0">
            <a:extLst xmlns:a="http://schemas.openxmlformats.org/drawingml/2006/main">
              <a:ext uri="{FF2B5EF4-FFF2-40B4-BE49-F238E27FC236}">
                <a16:creationId xmlns:a16="http://schemas.microsoft.com/office/drawing/2014/main" id="{7D1C44B9-BB0E-4F47-AEFF-481693F480EC}"/>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063 / 100 · REPRESENTATIONS AND LANGUAGE</a:t>
            </a:r>
          </a:p>
        </p:txBody>
      </p:sp>
      <p:sp>
        <p:nvSpPr>
          <p:cNvPr id="2" name="concept-63-title-0">
            <a:extLst xmlns:a="http://schemas.openxmlformats.org/drawingml/2006/main">
              <a:ext uri="{FF2B5EF4-FFF2-40B4-BE49-F238E27FC236}">
                <a16:creationId xmlns:a16="http://schemas.microsoft.com/office/drawing/2014/main" id="{F30D7C50-D579-452B-B04E-BC9A23A2CC08}"/>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Transformer</a:t>
            </a:r>
          </a:p>
        </p:txBody>
      </p:sp>
      <p:sp>
        <p:nvSpPr>
          <p:cNvPr id="3" name="concept-63-definition-label-0">
            <a:extLst xmlns:a="http://schemas.openxmlformats.org/drawingml/2006/main">
              <a:ext uri="{FF2B5EF4-FFF2-40B4-BE49-F238E27FC236}">
                <a16:creationId xmlns:a16="http://schemas.microsoft.com/office/drawing/2014/main" id="{C76914FD-4508-4CBC-A311-EAADE2F3691C}"/>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63-definition-0">
            <a:extLst xmlns:a="http://schemas.openxmlformats.org/drawingml/2006/main">
              <a:ext uri="{FF2B5EF4-FFF2-40B4-BE49-F238E27FC236}">
                <a16:creationId xmlns:a16="http://schemas.microsoft.com/office/drawing/2014/main" id="{8AF11B58-F266-4027-A62F-AC363D6DD11C}"/>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Transformer uses attention to mix information across tokens</a:t>
            </a:r>
          </a:p>
        </p:txBody>
      </p:sp>
      <p:sp>
        <p:nvSpPr>
          <p:cNvPr id="5" name="concept-63-definition-1">
            <a:extLst xmlns:a="http://schemas.openxmlformats.org/drawingml/2006/main">
              <a:ext uri="{FF2B5EF4-FFF2-40B4-BE49-F238E27FC236}">
                <a16:creationId xmlns:a16="http://schemas.microsoft.com/office/drawing/2014/main" id="{F1ABE75D-AF2F-4A26-B001-129F598CFFB2}"/>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and feed-forward layers to transform each token. Residual</a:t>
            </a:r>
          </a:p>
        </p:txBody>
      </p:sp>
      <p:sp>
        <p:nvSpPr>
          <p:cNvPr id="6" name="concept-63-definition-2">
            <a:extLst xmlns:a="http://schemas.openxmlformats.org/drawingml/2006/main">
              <a:ext uri="{FF2B5EF4-FFF2-40B4-BE49-F238E27FC236}">
                <a16:creationId xmlns:a16="http://schemas.microsoft.com/office/drawing/2014/main" id="{548234AF-B740-465C-86B9-9519F5F9F854}"/>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additions and layer normalization help train many such layers.</a:t>
            </a:r>
          </a:p>
        </p:txBody>
      </p:sp>
      <p:sp>
        <p:nvSpPr>
          <p:cNvPr id="7" name="concept-63-formula-0">
            <a:extLst xmlns:a="http://schemas.openxmlformats.org/drawingml/2006/main">
              <a:ext uri="{FF2B5EF4-FFF2-40B4-BE49-F238E27FC236}">
                <a16:creationId xmlns:a16="http://schemas.microsoft.com/office/drawing/2014/main" id="{1925DC5B-D9FC-4118-BA76-425660EDA0FE}"/>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One block: u = LN(h + Attention(h))</a:t>
            </a:r>
          </a:p>
        </p:txBody>
      </p:sp>
      <p:sp>
        <p:nvSpPr>
          <p:cNvPr id="14" name="concept-63-formula-1">
            <a:extLst xmlns:a="http://schemas.openxmlformats.org/drawingml/2006/main">
              <a:ext uri="{FF2B5EF4-FFF2-40B4-BE49-F238E27FC236}">
                <a16:creationId xmlns:a16="http://schemas.microsoft.com/office/drawing/2014/main" id="{7191290C-F311-43E3-B432-DC4764A9959D}"/>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h′ = LN(u + FFN(u)); LN normalizes each token’s features</a:t>
            </a:r>
          </a:p>
        </p:txBody>
      </p:sp>
      <p:sp>
        <p:nvSpPr>
          <p:cNvPr id="8" name="concept-63-example-label-0">
            <a:extLst xmlns:a="http://schemas.openxmlformats.org/drawingml/2006/main">
              <a:ext uri="{FF2B5EF4-FFF2-40B4-BE49-F238E27FC236}">
                <a16:creationId xmlns:a16="http://schemas.microsoft.com/office/drawing/2014/main" id="{821FB2E5-D5A7-4B97-BFD8-E4518CE668C6}"/>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63-example-0">
            <a:extLst xmlns:a="http://schemas.openxmlformats.org/drawingml/2006/main">
              <a:ext uri="{FF2B5EF4-FFF2-40B4-BE49-F238E27FC236}">
                <a16:creationId xmlns:a16="http://schemas.microsoft.com/office/drawing/2014/main" id="{DD84828D-CAE1-48EA-917E-8D5E2DF806B5}"/>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Illustrating the first stage: h = (1, 3), attention output = (1, 1),</a:t>
            </a:r>
          </a:p>
        </p:txBody>
      </p:sp>
      <p:sp>
        <p:nvSpPr>
          <p:cNvPr id="15" name="concept-63-example-1">
            <a:extLst xmlns:a="http://schemas.openxmlformats.org/drawingml/2006/main">
              <a:ext uri="{FF2B5EF4-FFF2-40B4-BE49-F238E27FC236}">
                <a16:creationId xmlns:a16="http://schemas.microsoft.com/office/drawing/2014/main" id="{4854302B-9385-4218-B901-C0EFA85A6158}"/>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sum = (2, 4). Mean 3 and standard deviation 1 give</a:t>
            </a:r>
          </a:p>
        </p:txBody>
      </p:sp>
      <p:sp>
        <p:nvSpPr>
          <p:cNvPr id="16" name="concept-63-example-2">
            <a:extLst xmlns:a="http://schemas.openxmlformats.org/drawingml/2006/main">
              <a:ext uri="{FF2B5EF4-FFF2-40B4-BE49-F238E27FC236}">
                <a16:creationId xmlns:a16="http://schemas.microsoft.com/office/drawing/2014/main" id="{7A139990-71E8-4EF2-8B2D-1690A6353B7E}"/>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approximately (−1, 1).</a:t>
            </a:r>
          </a:p>
        </p:txBody>
      </p:sp>
      <p:sp>
        <p:nvSpPr>
          <p:cNvPr id="10" name="concept-63-metaphor-label-0">
            <a:extLst xmlns:a="http://schemas.openxmlformats.org/drawingml/2006/main">
              <a:ext uri="{FF2B5EF4-FFF2-40B4-BE49-F238E27FC236}">
                <a16:creationId xmlns:a16="http://schemas.microsoft.com/office/drawing/2014/main" id="{47C78477-03AB-42A0-A383-792F921D66F5}"/>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63-metaphor-0">
            <a:extLst xmlns:a="http://schemas.openxmlformats.org/drawingml/2006/main">
              <a:ext uri="{FF2B5EF4-FFF2-40B4-BE49-F238E27FC236}">
                <a16:creationId xmlns:a16="http://schemas.microsoft.com/office/drawing/2014/main" id="{D49C33F4-05FA-494B-AA63-9AB22D077866}"/>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Revise a shared notebook repeatedly, preserving the old notes</a:t>
            </a:r>
          </a:p>
        </p:txBody>
      </p:sp>
      <p:sp>
        <p:nvSpPr>
          <p:cNvPr id="12" name="concept-63-metaphor-1">
            <a:extLst xmlns:a="http://schemas.openxmlformats.org/drawingml/2006/main">
              <a:ext uri="{FF2B5EF4-FFF2-40B4-BE49-F238E27FC236}">
                <a16:creationId xmlns:a16="http://schemas.microsoft.com/office/drawing/2014/main" id="{49491C4C-28ED-43E7-BE73-E6531EA9FA86}"/>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while adding improvements.</a:t>
            </a:r>
          </a:p>
        </p:txBody>
      </p:sp>
      <p:sp>
        <p:nvSpPr>
          <p:cNvPr id="13" name="concept-63-footer-0">
            <a:extLst xmlns:a="http://schemas.openxmlformats.org/drawingml/2006/main">
              <a:ext uri="{FF2B5EF4-FFF2-40B4-BE49-F238E27FC236}">
                <a16:creationId xmlns:a16="http://schemas.microsoft.com/office/drawing/2014/main" id="{546FCCFB-58F3-49AC-85CD-E672B34A5659}"/>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Fine-tuning</a:t>
            </a:r>
          </a:p>
        </p:txBody>
      </p:sp>
    </p:spTree>
    <p:extLst>
      <p:ext uri="{BB962C8B-B14F-4D97-AF65-F5344CB8AC3E}">
        <p14:creationId xmlns:p14="http://schemas.microsoft.com/office/powerpoint/2010/main" val="2112306346"/>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64-chapter-0">
            <a:extLst xmlns:a="http://schemas.openxmlformats.org/drawingml/2006/main">
              <a:ext uri="{FF2B5EF4-FFF2-40B4-BE49-F238E27FC236}">
                <a16:creationId xmlns:a16="http://schemas.microsoft.com/office/drawing/2014/main" id="{5099481C-2F33-431C-A471-BFAC49D546AC}"/>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064 / 100 · REPRESENTATIONS AND LANGUAGE</a:t>
            </a:r>
          </a:p>
        </p:txBody>
      </p:sp>
      <p:sp>
        <p:nvSpPr>
          <p:cNvPr id="2" name="concept-64-title-0">
            <a:extLst xmlns:a="http://schemas.openxmlformats.org/drawingml/2006/main">
              <a:ext uri="{FF2B5EF4-FFF2-40B4-BE49-F238E27FC236}">
                <a16:creationId xmlns:a16="http://schemas.microsoft.com/office/drawing/2014/main" id="{2CE207E1-2D93-422B-99CA-A2589C442288}"/>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Fine-tuning</a:t>
            </a:r>
          </a:p>
        </p:txBody>
      </p:sp>
      <p:sp>
        <p:nvSpPr>
          <p:cNvPr id="3" name="concept-64-definition-label-0">
            <a:extLst xmlns:a="http://schemas.openxmlformats.org/drawingml/2006/main">
              <a:ext uri="{FF2B5EF4-FFF2-40B4-BE49-F238E27FC236}">
                <a16:creationId xmlns:a16="http://schemas.microsoft.com/office/drawing/2014/main" id="{A8E6AC60-1C4B-4109-91AF-CF5C41E14C37}"/>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64-definition-0">
            <a:extLst xmlns:a="http://schemas.openxmlformats.org/drawingml/2006/main">
              <a:ext uri="{FF2B5EF4-FFF2-40B4-BE49-F238E27FC236}">
                <a16:creationId xmlns:a16="http://schemas.microsoft.com/office/drawing/2014/main" id="{544B4471-B1D3-4D99-B316-18EA8EDC3DA5}"/>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Fine-tuning continues optimization of some or all parameters of</a:t>
            </a:r>
          </a:p>
        </p:txBody>
      </p:sp>
      <p:sp>
        <p:nvSpPr>
          <p:cNvPr id="5" name="concept-64-definition-1">
            <a:extLst xmlns:a="http://schemas.openxmlformats.org/drawingml/2006/main">
              <a:ext uri="{FF2B5EF4-FFF2-40B4-BE49-F238E27FC236}">
                <a16:creationId xmlns:a16="http://schemas.microsoft.com/office/drawing/2014/main" id="{A7F60FE0-D506-45C9-A0A2-BB050D948F75}"/>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pretrained model using a new dataset or objective.</a:t>
            </a:r>
          </a:p>
        </p:txBody>
      </p:sp>
      <p:sp>
        <p:nvSpPr>
          <p:cNvPr id="6" name="concept-64-formula-0">
            <a:extLst xmlns:a="http://schemas.openxmlformats.org/drawingml/2006/main">
              <a:ext uri="{FF2B5EF4-FFF2-40B4-BE49-F238E27FC236}">
                <a16:creationId xmlns:a16="http://schemas.microsoft.com/office/drawing/2014/main" id="{8C253B5B-E05D-46ED-B17C-793F65120A98}"/>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θ⁺ = θ₀ − η∇Lnew(θ₀); θ₀ is pretrained</a:t>
            </a:r>
          </a:p>
        </p:txBody>
      </p:sp>
      <p:sp>
        <p:nvSpPr>
          <p:cNvPr id="7" name="concept-64-example-label-0">
            <a:extLst xmlns:a="http://schemas.openxmlformats.org/drawingml/2006/main">
              <a:ext uri="{FF2B5EF4-FFF2-40B4-BE49-F238E27FC236}">
                <a16:creationId xmlns:a16="http://schemas.microsoft.com/office/drawing/2014/main" id="{32F0C9FD-5A2A-4F80-979E-45AAB492DDC6}"/>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64-example-0">
            <a:extLst xmlns:a="http://schemas.openxmlformats.org/drawingml/2006/main">
              <a:ext uri="{FF2B5EF4-FFF2-40B4-BE49-F238E27FC236}">
                <a16:creationId xmlns:a16="http://schemas.microsoft.com/office/drawing/2014/main" id="{238A42DC-1980-48C9-A6A0-136BE897FCFE}"/>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trainable weight starts at 0.5. With gradient 2 and η = 0.01,</a:t>
            </a:r>
          </a:p>
        </p:txBody>
      </p:sp>
      <p:sp>
        <p:nvSpPr>
          <p:cNvPr id="9" name="concept-64-example-1">
            <a:extLst xmlns:a="http://schemas.openxmlformats.org/drawingml/2006/main">
              <a:ext uri="{FF2B5EF4-FFF2-40B4-BE49-F238E27FC236}">
                <a16:creationId xmlns:a16="http://schemas.microsoft.com/office/drawing/2014/main" id="{09267721-6483-4851-A60F-7C22F1F5CB12}"/>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one update gives 0.48.</a:t>
            </a:r>
          </a:p>
        </p:txBody>
      </p:sp>
      <p:sp>
        <p:nvSpPr>
          <p:cNvPr id="10" name="concept-64-metaphor-label-0">
            <a:extLst xmlns:a="http://schemas.openxmlformats.org/drawingml/2006/main">
              <a:ext uri="{FF2B5EF4-FFF2-40B4-BE49-F238E27FC236}">
                <a16:creationId xmlns:a16="http://schemas.microsoft.com/office/drawing/2014/main" id="{98950DFF-3DEA-47F8-B77F-075407AACF99}"/>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64-metaphor-0">
            <a:extLst xmlns:a="http://schemas.openxmlformats.org/drawingml/2006/main">
              <a:ext uri="{FF2B5EF4-FFF2-40B4-BE49-F238E27FC236}">
                <a16:creationId xmlns:a16="http://schemas.microsoft.com/office/drawing/2014/main" id="{CCD0E568-636D-40E7-AAB3-F8028BE7FDE3}"/>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Teach an experienced musician a new repertoire without</a:t>
            </a:r>
          </a:p>
        </p:txBody>
      </p:sp>
      <p:sp>
        <p:nvSpPr>
          <p:cNvPr id="12" name="concept-64-metaphor-1">
            <a:extLst xmlns:a="http://schemas.openxmlformats.org/drawingml/2006/main">
              <a:ext uri="{FF2B5EF4-FFF2-40B4-BE49-F238E27FC236}">
                <a16:creationId xmlns:a16="http://schemas.microsoft.com/office/drawing/2014/main" id="{8BF79E46-2028-4352-8273-6D481F934CD5}"/>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starting musical training from zero.</a:t>
            </a:r>
          </a:p>
        </p:txBody>
      </p:sp>
      <p:sp>
        <p:nvSpPr>
          <p:cNvPr id="13" name="concept-64-footer-0">
            <a:extLst xmlns:a="http://schemas.openxmlformats.org/drawingml/2006/main">
              <a:ext uri="{FF2B5EF4-FFF2-40B4-BE49-F238E27FC236}">
                <a16:creationId xmlns:a16="http://schemas.microsoft.com/office/drawing/2014/main" id="{11C0B864-2BD5-4D0F-ABB9-E8B4C535B368}"/>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Retrieval-augmented generation</a:t>
            </a:r>
          </a:p>
        </p:txBody>
      </p:sp>
    </p:spTree>
    <p:extLst>
      <p:ext uri="{BB962C8B-B14F-4D97-AF65-F5344CB8AC3E}">
        <p14:creationId xmlns:p14="http://schemas.microsoft.com/office/powerpoint/2010/main" val="1874679315"/>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65-chapter-0">
            <a:extLst xmlns:a="http://schemas.openxmlformats.org/drawingml/2006/main">
              <a:ext uri="{FF2B5EF4-FFF2-40B4-BE49-F238E27FC236}">
                <a16:creationId xmlns:a16="http://schemas.microsoft.com/office/drawing/2014/main" id="{AD66662D-8853-431A-97F2-61DAB6A6F745}"/>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065 / 100 · REPRESENTATIONS AND LANGUAGE</a:t>
            </a:r>
          </a:p>
        </p:txBody>
      </p:sp>
      <p:sp>
        <p:nvSpPr>
          <p:cNvPr id="2" name="concept-65-title-0">
            <a:extLst xmlns:a="http://schemas.openxmlformats.org/drawingml/2006/main">
              <a:ext uri="{FF2B5EF4-FFF2-40B4-BE49-F238E27FC236}">
                <a16:creationId xmlns:a16="http://schemas.microsoft.com/office/drawing/2014/main" id="{CCCC5A9C-77E2-4BBD-8A4F-4D5B5154649D}"/>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Retrieval-augmented generation</a:t>
            </a:r>
          </a:p>
        </p:txBody>
      </p:sp>
      <p:sp>
        <p:nvSpPr>
          <p:cNvPr id="3" name="concept-65-definition-label-0">
            <a:extLst xmlns:a="http://schemas.openxmlformats.org/drawingml/2006/main">
              <a:ext uri="{FF2B5EF4-FFF2-40B4-BE49-F238E27FC236}">
                <a16:creationId xmlns:a16="http://schemas.microsoft.com/office/drawing/2014/main" id="{DE98491C-9276-43A7-BECD-07BEB750E4A2}"/>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65-definition-0">
            <a:extLst xmlns:a="http://schemas.openxmlformats.org/drawingml/2006/main">
              <a:ext uri="{FF2B5EF4-FFF2-40B4-BE49-F238E27FC236}">
                <a16:creationId xmlns:a16="http://schemas.microsoft.com/office/drawing/2014/main" id="{F71483B9-5FEC-47E0-9CB0-48E60C42C6D5}"/>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Retrieval-augmented generation finds stored information</a:t>
            </a:r>
          </a:p>
        </p:txBody>
      </p:sp>
      <p:sp>
        <p:nvSpPr>
          <p:cNvPr id="5" name="concept-65-definition-1">
            <a:extLst xmlns:a="http://schemas.openxmlformats.org/drawingml/2006/main">
              <a:ext uri="{FF2B5EF4-FFF2-40B4-BE49-F238E27FC236}">
                <a16:creationId xmlns:a16="http://schemas.microsoft.com/office/drawing/2014/main" id="{D2E96BE2-E505-4539-B0B5-29A2752195BA}"/>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relevant to a question and gives it to a language model as</a:t>
            </a:r>
          </a:p>
        </p:txBody>
      </p:sp>
      <p:sp>
        <p:nvSpPr>
          <p:cNvPr id="6" name="concept-65-definition-2">
            <a:extLst xmlns:a="http://schemas.openxmlformats.org/drawingml/2006/main">
              <a:ext uri="{FF2B5EF4-FFF2-40B4-BE49-F238E27FC236}">
                <a16:creationId xmlns:a16="http://schemas.microsoft.com/office/drawing/2014/main" id="{AAFAC96C-9BAC-4531-9BB3-CCCCA17D9F1A}"/>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context for its answer.</a:t>
            </a:r>
          </a:p>
        </p:txBody>
      </p:sp>
      <p:sp>
        <p:nvSpPr>
          <p:cNvPr id="7" name="concept-65-formula-0">
            <a:extLst xmlns:a="http://schemas.openxmlformats.org/drawingml/2006/main">
              <a:ext uri="{FF2B5EF4-FFF2-40B4-BE49-F238E27FC236}">
                <a16:creationId xmlns:a16="http://schemas.microsoft.com/office/drawing/2014/main" id="{61BD9B4C-A597-445A-93AB-AE67F5B1DB4C}"/>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c = Retrieve(q, D); answer ~ P_θ(· ∣ q, c)</a:t>
            </a:r>
          </a:p>
        </p:txBody>
      </p:sp>
      <p:sp>
        <p:nvSpPr>
          <p:cNvPr id="8" name="concept-65-example-label-0">
            <a:extLst xmlns:a="http://schemas.openxmlformats.org/drawingml/2006/main">
              <a:ext uri="{FF2B5EF4-FFF2-40B4-BE49-F238E27FC236}">
                <a16:creationId xmlns:a16="http://schemas.microsoft.com/office/drawing/2014/main" id="{6DF74783-8882-477B-8898-58BCBAB913B4}"/>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65-example-0">
            <a:extLst xmlns:a="http://schemas.openxmlformats.org/drawingml/2006/main">
              <a:ext uri="{FF2B5EF4-FFF2-40B4-BE49-F238E27FC236}">
                <a16:creationId xmlns:a16="http://schemas.microsoft.com/office/drawing/2014/main" id="{F3FE3524-7502-4DD0-BA4B-96D43C5CB725}"/>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Question: “How deep is Well A?” Retrieve record 17: “Well A,</a:t>
            </a:r>
          </a:p>
        </p:txBody>
      </p:sp>
      <p:sp>
        <p:nvSpPr>
          <p:cNvPr id="10" name="concept-65-example-1">
            <a:extLst xmlns:a="http://schemas.openxmlformats.org/drawingml/2006/main">
              <a:ext uri="{FF2B5EF4-FFF2-40B4-BE49-F238E27FC236}">
                <a16:creationId xmlns:a16="http://schemas.microsoft.com/office/drawing/2014/main" id="{C1524D73-668A-45FE-A519-3BB4EEDD0CD6}"/>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total depth 2,400 m.” The answer reports 2,400 m and points</a:t>
            </a:r>
          </a:p>
        </p:txBody>
      </p:sp>
      <p:sp>
        <p:nvSpPr>
          <p:cNvPr id="15" name="concept-65-example-2">
            <a:extLst xmlns:a="http://schemas.openxmlformats.org/drawingml/2006/main">
              <a:ext uri="{FF2B5EF4-FFF2-40B4-BE49-F238E27FC236}">
                <a16:creationId xmlns:a16="http://schemas.microsoft.com/office/drawing/2014/main" id="{99670633-48CE-4FEF-818E-C720A398AA91}"/>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to record 17.</a:t>
            </a:r>
          </a:p>
        </p:txBody>
      </p:sp>
      <p:sp>
        <p:nvSpPr>
          <p:cNvPr id="11" name="concept-65-metaphor-label-0">
            <a:extLst xmlns:a="http://schemas.openxmlformats.org/drawingml/2006/main">
              <a:ext uri="{FF2B5EF4-FFF2-40B4-BE49-F238E27FC236}">
                <a16:creationId xmlns:a16="http://schemas.microsoft.com/office/drawing/2014/main" id="{5AE76D01-6BBA-466E-AC3A-2558D0D9A0C5}"/>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65-metaphor-0">
            <a:extLst xmlns:a="http://schemas.openxmlformats.org/drawingml/2006/main">
              <a:ext uri="{FF2B5EF4-FFF2-40B4-BE49-F238E27FC236}">
                <a16:creationId xmlns:a16="http://schemas.microsoft.com/office/drawing/2014/main" id="{6213F8EC-1F12-4834-88AA-D477AC18B95D}"/>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open-book exam lets you consult selected pages before</a:t>
            </a:r>
          </a:p>
        </p:txBody>
      </p:sp>
      <p:sp>
        <p:nvSpPr>
          <p:cNvPr id="13" name="concept-65-metaphor-1">
            <a:extLst xmlns:a="http://schemas.openxmlformats.org/drawingml/2006/main">
              <a:ext uri="{FF2B5EF4-FFF2-40B4-BE49-F238E27FC236}">
                <a16:creationId xmlns:a16="http://schemas.microsoft.com/office/drawing/2014/main" id="{34A8C4AF-D019-4B85-99A9-BD593E1E7A61}"/>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composing an answer.</a:t>
            </a:r>
          </a:p>
        </p:txBody>
      </p:sp>
      <p:sp>
        <p:nvSpPr>
          <p:cNvPr id="14" name="concept-65-footer-0">
            <a:extLst xmlns:a="http://schemas.openxmlformats.org/drawingml/2006/main">
              <a:ext uri="{FF2B5EF4-FFF2-40B4-BE49-F238E27FC236}">
                <a16:creationId xmlns:a16="http://schemas.microsoft.com/office/drawing/2014/main" id="{F767AD38-C62B-407D-BA4A-60E88E9A969D}"/>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API and SDK</a:t>
            </a:r>
          </a:p>
        </p:txBody>
      </p:sp>
    </p:spTree>
    <p:extLst>
      <p:ext uri="{BB962C8B-B14F-4D97-AF65-F5344CB8AC3E}">
        <p14:creationId xmlns:p14="http://schemas.microsoft.com/office/powerpoint/2010/main" val="1432886400"/>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66-chapter-0">
            <a:extLst xmlns:a="http://schemas.openxmlformats.org/drawingml/2006/main">
              <a:ext uri="{FF2B5EF4-FFF2-40B4-BE49-F238E27FC236}">
                <a16:creationId xmlns:a16="http://schemas.microsoft.com/office/drawing/2014/main" id="{BFEE7373-D7A6-4CC0-B4FA-673E615A1C33}"/>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066 / 100 · REPRESENTATIONS AND LANGUAGE</a:t>
            </a:r>
          </a:p>
        </p:txBody>
      </p:sp>
      <p:sp>
        <p:nvSpPr>
          <p:cNvPr id="2" name="concept-66-title-0">
            <a:extLst xmlns:a="http://schemas.openxmlformats.org/drawingml/2006/main">
              <a:ext uri="{FF2B5EF4-FFF2-40B4-BE49-F238E27FC236}">
                <a16:creationId xmlns:a16="http://schemas.microsoft.com/office/drawing/2014/main" id="{3707FB5E-E6DE-4CD5-A64D-39AB3C12358B}"/>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API and SDK</a:t>
            </a:r>
          </a:p>
        </p:txBody>
      </p:sp>
      <p:sp>
        <p:nvSpPr>
          <p:cNvPr id="3" name="concept-66-definition-label-0">
            <a:extLst xmlns:a="http://schemas.openxmlformats.org/drawingml/2006/main">
              <a:ext uri="{FF2B5EF4-FFF2-40B4-BE49-F238E27FC236}">
                <a16:creationId xmlns:a16="http://schemas.microsoft.com/office/drawing/2014/main" id="{39F22A45-3D9B-47E8-817B-7591B1382644}"/>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66-definition-0">
            <a:extLst xmlns:a="http://schemas.openxmlformats.org/drawingml/2006/main">
              <a:ext uri="{FF2B5EF4-FFF2-40B4-BE49-F238E27FC236}">
                <a16:creationId xmlns:a16="http://schemas.microsoft.com/office/drawing/2014/main" id="{D54B4BCF-0A16-4120-80A3-30E20CE6519E}"/>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application programming interface defines how software</a:t>
            </a:r>
          </a:p>
        </p:txBody>
      </p:sp>
      <p:sp>
        <p:nvSpPr>
          <p:cNvPr id="5" name="concept-66-definition-1">
            <a:extLst xmlns:a="http://schemas.openxmlformats.org/drawingml/2006/main">
              <a:ext uri="{FF2B5EF4-FFF2-40B4-BE49-F238E27FC236}">
                <a16:creationId xmlns:a16="http://schemas.microsoft.com/office/drawing/2014/main" id="{4A6D6823-C66F-4DAE-8BE8-360A6BADB77F}"/>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components interact. A software development kit supplies</a:t>
            </a:r>
          </a:p>
        </p:txBody>
      </p:sp>
      <p:sp>
        <p:nvSpPr>
          <p:cNvPr id="6" name="concept-66-definition-2">
            <a:extLst xmlns:a="http://schemas.openxmlformats.org/drawingml/2006/main">
              <a:ext uri="{FF2B5EF4-FFF2-40B4-BE49-F238E27FC236}">
                <a16:creationId xmlns:a16="http://schemas.microsoft.com/office/drawing/2014/main" id="{33817393-80D2-4673-B1E4-DB048A752E4B}"/>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libraries and tools for developers to use those interfaces.</a:t>
            </a:r>
          </a:p>
        </p:txBody>
      </p:sp>
      <p:sp>
        <p:nvSpPr>
          <p:cNvPr id="7" name="concept-66-formula-0">
            <a:extLst xmlns:a="http://schemas.openxmlformats.org/drawingml/2006/main">
              <a:ext uri="{FF2B5EF4-FFF2-40B4-BE49-F238E27FC236}">
                <a16:creationId xmlns:a16="http://schemas.microsoft.com/office/drawing/2014/main" id="{FC62C16E-73CD-4716-B86B-330988CACD7D}"/>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Example API contract: mean(list of numbers) → number</a:t>
            </a:r>
          </a:p>
        </p:txBody>
      </p:sp>
      <p:sp>
        <p:nvSpPr>
          <p:cNvPr id="8" name="concept-66-example-label-0">
            <a:extLst xmlns:a="http://schemas.openxmlformats.org/drawingml/2006/main">
              <a:ext uri="{FF2B5EF4-FFF2-40B4-BE49-F238E27FC236}">
                <a16:creationId xmlns:a16="http://schemas.microsoft.com/office/drawing/2014/main" id="{BE90609C-5E9F-41CF-A5DF-2B3E086A5428}"/>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66-example-0">
            <a:extLst xmlns:a="http://schemas.openxmlformats.org/drawingml/2006/main">
              <a:ext uri="{FF2B5EF4-FFF2-40B4-BE49-F238E27FC236}">
                <a16:creationId xmlns:a16="http://schemas.microsoft.com/office/drawing/2014/main" id="{DB9F8A0F-2329-479B-8E22-E6FAF00212BB}"/>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Calling mean([2, 4, 6]) returns 4. An SDK might provide a</a:t>
            </a:r>
          </a:p>
        </p:txBody>
      </p:sp>
      <p:sp>
        <p:nvSpPr>
          <p:cNvPr id="10" name="concept-66-example-1">
            <a:extLst xmlns:a="http://schemas.openxmlformats.org/drawingml/2006/main">
              <a:ext uri="{FF2B5EF4-FFF2-40B4-BE49-F238E27FC236}">
                <a16:creationId xmlns:a16="http://schemas.microsoft.com/office/drawing/2014/main" id="{DB1FAB29-9403-4B72-8A10-92761647A497}"/>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function that sends this request to a service and reads its</a:t>
            </a:r>
          </a:p>
        </p:txBody>
      </p:sp>
      <p:sp>
        <p:nvSpPr>
          <p:cNvPr id="15" name="concept-66-example-2">
            <a:extLst xmlns:a="http://schemas.openxmlformats.org/drawingml/2006/main">
              <a:ext uri="{FF2B5EF4-FFF2-40B4-BE49-F238E27FC236}">
                <a16:creationId xmlns:a16="http://schemas.microsoft.com/office/drawing/2014/main" id="{C89C6875-D1EE-4C8E-B2BE-D47AD18CB3AE}"/>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response.</a:t>
            </a:r>
          </a:p>
        </p:txBody>
      </p:sp>
      <p:sp>
        <p:nvSpPr>
          <p:cNvPr id="11" name="concept-66-metaphor-label-0">
            <a:extLst xmlns:a="http://schemas.openxmlformats.org/drawingml/2006/main">
              <a:ext uri="{FF2B5EF4-FFF2-40B4-BE49-F238E27FC236}">
                <a16:creationId xmlns:a16="http://schemas.microsoft.com/office/drawing/2014/main" id="{076A8DF5-7830-44FB-936B-8BF6AD2B1750}"/>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66-metaphor-0">
            <a:extLst xmlns:a="http://schemas.openxmlformats.org/drawingml/2006/main">
              <a:ext uri="{FF2B5EF4-FFF2-40B4-BE49-F238E27FC236}">
                <a16:creationId xmlns:a16="http://schemas.microsoft.com/office/drawing/2014/main" id="{D182CF5E-9CCC-4FE7-93DE-5F73F06E8BE2}"/>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API is a socket's specification; an SDK is the toolkit for</a:t>
            </a:r>
          </a:p>
        </p:txBody>
      </p:sp>
      <p:sp>
        <p:nvSpPr>
          <p:cNvPr id="13" name="concept-66-metaphor-1">
            <a:extLst xmlns:a="http://schemas.openxmlformats.org/drawingml/2006/main">
              <a:ext uri="{FF2B5EF4-FFF2-40B4-BE49-F238E27FC236}">
                <a16:creationId xmlns:a16="http://schemas.microsoft.com/office/drawing/2014/main" id="{77466F41-2BEC-4745-80BB-5CC01E2FC376}"/>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building a compatible plug.</a:t>
            </a:r>
          </a:p>
        </p:txBody>
      </p:sp>
      <p:sp>
        <p:nvSpPr>
          <p:cNvPr id="14" name="concept-66-footer-0">
            <a:extLst xmlns:a="http://schemas.openxmlformats.org/drawingml/2006/main">
              <a:ext uri="{FF2B5EF4-FFF2-40B4-BE49-F238E27FC236}">
                <a16:creationId xmlns:a16="http://schemas.microsoft.com/office/drawing/2014/main" id="{5F657A0E-0576-4E71-9351-EAF963AD1C30}"/>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Tool calling</a:t>
            </a:r>
          </a:p>
        </p:txBody>
      </p:sp>
    </p:spTree>
    <p:extLst>
      <p:ext uri="{BB962C8B-B14F-4D97-AF65-F5344CB8AC3E}">
        <p14:creationId xmlns:p14="http://schemas.microsoft.com/office/powerpoint/2010/main" val="736364985"/>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67-chapter-0">
            <a:extLst xmlns:a="http://schemas.openxmlformats.org/drawingml/2006/main">
              <a:ext uri="{FF2B5EF4-FFF2-40B4-BE49-F238E27FC236}">
                <a16:creationId xmlns:a16="http://schemas.microsoft.com/office/drawing/2014/main" id="{2F651273-CCFE-4176-9A99-9C4F28656A49}"/>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067 / 100 · REPRESENTATIONS AND LANGUAGE</a:t>
            </a:r>
          </a:p>
        </p:txBody>
      </p:sp>
      <p:sp>
        <p:nvSpPr>
          <p:cNvPr id="2" name="concept-67-title-0">
            <a:extLst xmlns:a="http://schemas.openxmlformats.org/drawingml/2006/main">
              <a:ext uri="{FF2B5EF4-FFF2-40B4-BE49-F238E27FC236}">
                <a16:creationId xmlns:a16="http://schemas.microsoft.com/office/drawing/2014/main" id="{141BDB85-6661-4774-A786-F8242B7C6949}"/>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Tool calling</a:t>
            </a:r>
          </a:p>
        </p:txBody>
      </p:sp>
      <p:sp>
        <p:nvSpPr>
          <p:cNvPr id="3" name="concept-67-definition-label-0">
            <a:extLst xmlns:a="http://schemas.openxmlformats.org/drawingml/2006/main">
              <a:ext uri="{FF2B5EF4-FFF2-40B4-BE49-F238E27FC236}">
                <a16:creationId xmlns:a16="http://schemas.microsoft.com/office/drawing/2014/main" id="{B4B3C0D1-A147-4D4A-BEA2-E3E78276AADB}"/>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67-definition-0">
            <a:extLst xmlns:a="http://schemas.openxmlformats.org/drawingml/2006/main">
              <a:ext uri="{FF2B5EF4-FFF2-40B4-BE49-F238E27FC236}">
                <a16:creationId xmlns:a16="http://schemas.microsoft.com/office/drawing/2014/main" id="{BF6C7764-D1F1-4387-B0F9-C505DC447F14}"/>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Tool calling lets a model request a structured operation from</a:t>
            </a:r>
          </a:p>
        </p:txBody>
      </p:sp>
      <p:sp>
        <p:nvSpPr>
          <p:cNvPr id="5" name="concept-67-definition-1">
            <a:extLst xmlns:a="http://schemas.openxmlformats.org/drawingml/2006/main">
              <a:ext uri="{FF2B5EF4-FFF2-40B4-BE49-F238E27FC236}">
                <a16:creationId xmlns:a16="http://schemas.microsoft.com/office/drawing/2014/main" id="{89265755-F817-4CEB-A7F8-A35A4FB1E258}"/>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external software, then use the returned result. The software</a:t>
            </a:r>
          </a:p>
        </p:txBody>
      </p:sp>
      <p:sp>
        <p:nvSpPr>
          <p:cNvPr id="6" name="concept-67-definition-2">
            <a:extLst xmlns:a="http://schemas.openxmlformats.org/drawingml/2006/main">
              <a:ext uri="{FF2B5EF4-FFF2-40B4-BE49-F238E27FC236}">
                <a16:creationId xmlns:a16="http://schemas.microsoft.com/office/drawing/2014/main" id="{16792253-AB21-4D05-BD9C-84F1DDB64EC6}"/>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defines the operation's semantics.</a:t>
            </a:r>
          </a:p>
        </p:txBody>
      </p:sp>
      <p:sp>
        <p:nvSpPr>
          <p:cNvPr id="7" name="concept-67-formula-0">
            <a:extLst xmlns:a="http://schemas.openxmlformats.org/drawingml/2006/main">
              <a:ext uri="{FF2B5EF4-FFF2-40B4-BE49-F238E27FC236}">
                <a16:creationId xmlns:a16="http://schemas.microsoft.com/office/drawing/2014/main" id="{3E59A815-F8BC-47F9-A107-2311DE3E3317}"/>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request = {tool, arguments}; result = tool(arguments)</a:t>
            </a:r>
          </a:p>
        </p:txBody>
      </p:sp>
      <p:sp>
        <p:nvSpPr>
          <p:cNvPr id="8" name="concept-67-example-label-0">
            <a:extLst xmlns:a="http://schemas.openxmlformats.org/drawingml/2006/main">
              <a:ext uri="{FF2B5EF4-FFF2-40B4-BE49-F238E27FC236}">
                <a16:creationId xmlns:a16="http://schemas.microsoft.com/office/drawing/2014/main" id="{58163DBA-4844-44D8-A200-1FBF6EEEDDD9}"/>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67-example-0">
            <a:extLst xmlns:a="http://schemas.openxmlformats.org/drawingml/2006/main">
              <a:ext uri="{FF2B5EF4-FFF2-40B4-BE49-F238E27FC236}">
                <a16:creationId xmlns:a16="http://schemas.microsoft.com/office/drawing/2014/main" id="{DADFA785-EE57-4440-885A-AA5EB688D658}"/>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model requests mean([10, 20, 30]); the calculator returns 20,</a:t>
            </a:r>
          </a:p>
        </p:txBody>
      </p:sp>
      <p:sp>
        <p:nvSpPr>
          <p:cNvPr id="10" name="concept-67-example-1">
            <a:extLst xmlns:a="http://schemas.openxmlformats.org/drawingml/2006/main">
              <a:ext uri="{FF2B5EF4-FFF2-40B4-BE49-F238E27FC236}">
                <a16:creationId xmlns:a16="http://schemas.microsoft.com/office/drawing/2014/main" id="{C5022AD1-D8A8-4F0B-8CA2-16D5BB806ED7}"/>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which the answer reports.</a:t>
            </a:r>
          </a:p>
        </p:txBody>
      </p:sp>
      <p:sp>
        <p:nvSpPr>
          <p:cNvPr id="11" name="concept-67-metaphor-label-0">
            <a:extLst xmlns:a="http://schemas.openxmlformats.org/drawingml/2006/main">
              <a:ext uri="{FF2B5EF4-FFF2-40B4-BE49-F238E27FC236}">
                <a16:creationId xmlns:a16="http://schemas.microsoft.com/office/drawing/2014/main" id="{DC86E56F-BEF7-4EB9-AE74-317570A4001B}"/>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67-metaphor-0">
            <a:extLst xmlns:a="http://schemas.openxmlformats.org/drawingml/2006/main">
              <a:ext uri="{FF2B5EF4-FFF2-40B4-BE49-F238E27FC236}">
                <a16:creationId xmlns:a16="http://schemas.microsoft.com/office/drawing/2014/main" id="{521A3C00-751E-4F20-8BC1-29B0F535BCCD}"/>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coordinator asks a calculator to calculate instead of guessing</a:t>
            </a:r>
          </a:p>
        </p:txBody>
      </p:sp>
      <p:sp>
        <p:nvSpPr>
          <p:cNvPr id="13" name="concept-67-metaphor-1">
            <a:extLst xmlns:a="http://schemas.openxmlformats.org/drawingml/2006/main">
              <a:ext uri="{FF2B5EF4-FFF2-40B4-BE49-F238E27FC236}">
                <a16:creationId xmlns:a16="http://schemas.microsoft.com/office/drawing/2014/main" id="{B55FB7A1-3CF6-4A25-A63A-661CC2203794}"/>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result from memory.</a:t>
            </a:r>
          </a:p>
        </p:txBody>
      </p:sp>
      <p:sp>
        <p:nvSpPr>
          <p:cNvPr id="14" name="concept-67-footer-0">
            <a:extLst xmlns:a="http://schemas.openxmlformats.org/drawingml/2006/main">
              <a:ext uri="{FF2B5EF4-FFF2-40B4-BE49-F238E27FC236}">
                <a16:creationId xmlns:a16="http://schemas.microsoft.com/office/drawing/2014/main" id="{4D2FACB4-F5C4-4435-B901-DDB314A3FDB9}"/>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State, observation and action</a:t>
            </a:r>
          </a:p>
        </p:txBody>
      </p:sp>
    </p:spTree>
    <p:extLst>
      <p:ext uri="{BB962C8B-B14F-4D97-AF65-F5344CB8AC3E}">
        <p14:creationId xmlns:p14="http://schemas.microsoft.com/office/powerpoint/2010/main" val="1620123315"/>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68-chapter-0">
            <a:extLst xmlns:a="http://schemas.openxmlformats.org/drawingml/2006/main">
              <a:ext uri="{FF2B5EF4-FFF2-40B4-BE49-F238E27FC236}">
                <a16:creationId xmlns:a16="http://schemas.microsoft.com/office/drawing/2014/main" id="{326E31CF-6BB7-4744-8BEA-6FEC4D2E0643}"/>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068 / 100 · REINFORCEMENT LEARNING AND CONTROL</a:t>
            </a:r>
          </a:p>
        </p:txBody>
      </p:sp>
      <p:sp>
        <p:nvSpPr>
          <p:cNvPr id="2" name="concept-68-title-0">
            <a:extLst xmlns:a="http://schemas.openxmlformats.org/drawingml/2006/main">
              <a:ext uri="{FF2B5EF4-FFF2-40B4-BE49-F238E27FC236}">
                <a16:creationId xmlns:a16="http://schemas.microsoft.com/office/drawing/2014/main" id="{D8825F00-1DA1-4CD1-B31D-97D182CFDEF4}"/>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State, observation and action</a:t>
            </a:r>
          </a:p>
        </p:txBody>
      </p:sp>
      <p:sp>
        <p:nvSpPr>
          <p:cNvPr id="3" name="concept-68-definition-label-0">
            <a:extLst xmlns:a="http://schemas.openxmlformats.org/drawingml/2006/main">
              <a:ext uri="{FF2B5EF4-FFF2-40B4-BE49-F238E27FC236}">
                <a16:creationId xmlns:a16="http://schemas.microsoft.com/office/drawing/2014/main" id="{FA856B80-2844-4B78-BC0F-167FA340A0E9}"/>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68-definition-0">
            <a:extLst xmlns:a="http://schemas.openxmlformats.org/drawingml/2006/main">
              <a:ext uri="{FF2B5EF4-FFF2-40B4-BE49-F238E27FC236}">
                <a16:creationId xmlns:a16="http://schemas.microsoft.com/office/drawing/2014/main" id="{AAAAEB8B-D9EE-4F0C-8687-691AD2E65F11}"/>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state contains enough information to predict the system’s</a:t>
            </a:r>
          </a:p>
        </p:txBody>
      </p:sp>
      <p:sp>
        <p:nvSpPr>
          <p:cNvPr id="5" name="concept-68-definition-1">
            <a:extLst xmlns:a="http://schemas.openxmlformats.org/drawingml/2006/main">
              <a:ext uri="{FF2B5EF4-FFF2-40B4-BE49-F238E27FC236}">
                <a16:creationId xmlns:a16="http://schemas.microsoft.com/office/drawing/2014/main" id="{2DA6DE22-3C1E-4781-8939-CD188BE4BF58}"/>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next-state distribution given an action. An observation is a</a:t>
            </a:r>
          </a:p>
        </p:txBody>
      </p:sp>
      <p:sp>
        <p:nvSpPr>
          <p:cNvPr id="6" name="concept-68-definition-2">
            <a:extLst xmlns:a="http://schemas.openxmlformats.org/drawingml/2006/main">
              <a:ext uri="{FF2B5EF4-FFF2-40B4-BE49-F238E27FC236}">
                <a16:creationId xmlns:a16="http://schemas.microsoft.com/office/drawing/2014/main" id="{FFF47A47-BD21-4E9D-A12B-D8D0428968AF}"/>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measurement of the system. An action is an input we choose.</a:t>
            </a:r>
          </a:p>
        </p:txBody>
      </p:sp>
      <p:sp>
        <p:nvSpPr>
          <p:cNvPr id="7" name="concept-68-formula-0">
            <a:extLst xmlns:a="http://schemas.openxmlformats.org/drawingml/2006/main">
              <a:ext uri="{FF2B5EF4-FFF2-40B4-BE49-F238E27FC236}">
                <a16:creationId xmlns:a16="http://schemas.microsoft.com/office/drawing/2014/main" id="{F163BD19-27B8-41B4-B8AE-B2A5C77684BF}"/>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sₜ₊₁ = F(sₜ, aₜ); oₜ = H(sₜ) + noise</a:t>
            </a:r>
          </a:p>
        </p:txBody>
      </p:sp>
      <p:sp>
        <p:nvSpPr>
          <p:cNvPr id="8" name="concept-68-example-label-0">
            <a:extLst xmlns:a="http://schemas.openxmlformats.org/drawingml/2006/main">
              <a:ext uri="{FF2B5EF4-FFF2-40B4-BE49-F238E27FC236}">
                <a16:creationId xmlns:a16="http://schemas.microsoft.com/office/drawing/2014/main" id="{8D165E25-2718-4E4F-8558-B3103A0DA586}"/>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68-example-0">
            <a:extLst xmlns:a="http://schemas.openxmlformats.org/drawingml/2006/main">
              <a:ext uri="{FF2B5EF4-FFF2-40B4-BE49-F238E27FC236}">
                <a16:creationId xmlns:a16="http://schemas.microsoft.com/office/drawing/2014/main" id="{C887307E-6E08-40FE-B22B-6F7CB386CCE0}"/>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 a simple tank model, state s = 10 litres. A noisy sensor</a:t>
            </a:r>
          </a:p>
        </p:txBody>
      </p:sp>
      <p:sp>
        <p:nvSpPr>
          <p:cNvPr id="10" name="concept-68-example-1">
            <a:extLst xmlns:a="http://schemas.openxmlformats.org/drawingml/2006/main">
              <a:ext uri="{FF2B5EF4-FFF2-40B4-BE49-F238E27FC236}">
                <a16:creationId xmlns:a16="http://schemas.microsoft.com/office/drawing/2014/main" id="{E5C59B93-CE1E-497D-8B4E-B557EB8E3128}"/>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reports observation o = 9.8 litres. Choosing to add 3 litres is</a:t>
            </a:r>
          </a:p>
        </p:txBody>
      </p:sp>
      <p:sp>
        <p:nvSpPr>
          <p:cNvPr id="15" name="concept-68-example-2">
            <a:extLst xmlns:a="http://schemas.openxmlformats.org/drawingml/2006/main">
              <a:ext uri="{FF2B5EF4-FFF2-40B4-BE49-F238E27FC236}">
                <a16:creationId xmlns:a16="http://schemas.microsoft.com/office/drawing/2014/main" id="{87B609E4-1175-47AC-8B77-5A9FD8BCAACB}"/>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action a = 3.</a:t>
            </a:r>
          </a:p>
        </p:txBody>
      </p:sp>
      <p:sp>
        <p:nvSpPr>
          <p:cNvPr id="11" name="concept-68-metaphor-label-0">
            <a:extLst xmlns:a="http://schemas.openxmlformats.org/drawingml/2006/main">
              <a:ext uri="{FF2B5EF4-FFF2-40B4-BE49-F238E27FC236}">
                <a16:creationId xmlns:a16="http://schemas.microsoft.com/office/drawing/2014/main" id="{BFCAA0FC-2C9B-443C-A0F5-23ED2337D415}"/>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68-metaphor-0">
            <a:extLst xmlns:a="http://schemas.openxmlformats.org/drawingml/2006/main">
              <a:ext uri="{FF2B5EF4-FFF2-40B4-BE49-F238E27FC236}">
                <a16:creationId xmlns:a16="http://schemas.microsoft.com/office/drawing/2014/main" id="{28DA9875-38E8-47ED-B5D9-58F5D886E802}"/>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whole room is the state; a keyhole view is the observation;</a:t>
            </a:r>
          </a:p>
        </p:txBody>
      </p:sp>
      <p:sp>
        <p:nvSpPr>
          <p:cNvPr id="13" name="concept-68-metaphor-1">
            <a:extLst xmlns:a="http://schemas.openxmlformats.org/drawingml/2006/main">
              <a:ext uri="{FF2B5EF4-FFF2-40B4-BE49-F238E27FC236}">
                <a16:creationId xmlns:a16="http://schemas.microsoft.com/office/drawing/2014/main" id="{EFEF31A9-D65F-41D8-A7F1-6A7A4A471465}"/>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turning the handle is an action.</a:t>
            </a:r>
          </a:p>
        </p:txBody>
      </p:sp>
      <p:sp>
        <p:nvSpPr>
          <p:cNvPr id="14" name="concept-68-footer-0">
            <a:extLst xmlns:a="http://schemas.openxmlformats.org/drawingml/2006/main">
              <a:ext uri="{FF2B5EF4-FFF2-40B4-BE49-F238E27FC236}">
                <a16:creationId xmlns:a16="http://schemas.microsoft.com/office/drawing/2014/main" id="{BF00EE17-FE7E-4BEB-8106-758EE63DD758}"/>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Dynamical system</a:t>
            </a:r>
          </a:p>
        </p:txBody>
      </p:sp>
    </p:spTree>
    <p:extLst>
      <p:ext uri="{BB962C8B-B14F-4D97-AF65-F5344CB8AC3E}">
        <p14:creationId xmlns:p14="http://schemas.microsoft.com/office/powerpoint/2010/main" val="182710756"/>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69-chapter-0">
            <a:extLst xmlns:a="http://schemas.openxmlformats.org/drawingml/2006/main">
              <a:ext uri="{FF2B5EF4-FFF2-40B4-BE49-F238E27FC236}">
                <a16:creationId xmlns:a16="http://schemas.microsoft.com/office/drawing/2014/main" id="{EB519036-2AB1-4C53-810C-96FE5DD2B0B9}"/>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069 / 100 · REINFORCEMENT LEARNING AND CONTROL</a:t>
            </a:r>
          </a:p>
        </p:txBody>
      </p:sp>
      <p:sp>
        <p:nvSpPr>
          <p:cNvPr id="2" name="concept-69-title-0">
            <a:extLst xmlns:a="http://schemas.openxmlformats.org/drawingml/2006/main">
              <a:ext uri="{FF2B5EF4-FFF2-40B4-BE49-F238E27FC236}">
                <a16:creationId xmlns:a16="http://schemas.microsoft.com/office/drawing/2014/main" id="{1038ED83-BCC7-4347-B6C7-84E6862260F7}"/>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Dynamical system</a:t>
            </a:r>
          </a:p>
        </p:txBody>
      </p:sp>
      <p:sp>
        <p:nvSpPr>
          <p:cNvPr id="3" name="concept-69-definition-label-0">
            <a:extLst xmlns:a="http://schemas.openxmlformats.org/drawingml/2006/main">
              <a:ext uri="{FF2B5EF4-FFF2-40B4-BE49-F238E27FC236}">
                <a16:creationId xmlns:a16="http://schemas.microsoft.com/office/drawing/2014/main" id="{67EB1677-9D09-4516-B241-E96ED965808C}"/>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69-definition-0">
            <a:extLst xmlns:a="http://schemas.openxmlformats.org/drawingml/2006/main">
              <a:ext uri="{FF2B5EF4-FFF2-40B4-BE49-F238E27FC236}">
                <a16:creationId xmlns:a16="http://schemas.microsoft.com/office/drawing/2014/main" id="{A798E38D-E972-4FF5-A6F5-FC728C8C2492}"/>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dynamical system has a state that changes over time. Its</a:t>
            </a:r>
          </a:p>
        </p:txBody>
      </p:sp>
      <p:sp>
        <p:nvSpPr>
          <p:cNvPr id="5" name="concept-69-definition-1">
            <a:extLst xmlns:a="http://schemas.openxmlformats.org/drawingml/2006/main">
              <a:ext uri="{FF2B5EF4-FFF2-40B4-BE49-F238E27FC236}">
                <a16:creationId xmlns:a16="http://schemas.microsoft.com/office/drawing/2014/main" id="{CBC60CC3-E0EA-4F94-9250-BC0DDF472962}"/>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transition rule describes how the next state depends on the</a:t>
            </a:r>
          </a:p>
        </p:txBody>
      </p:sp>
      <p:sp>
        <p:nvSpPr>
          <p:cNvPr id="6" name="concept-69-definition-2">
            <a:extLst xmlns:a="http://schemas.openxmlformats.org/drawingml/2006/main">
              <a:ext uri="{FF2B5EF4-FFF2-40B4-BE49-F238E27FC236}">
                <a16:creationId xmlns:a16="http://schemas.microsoft.com/office/drawing/2014/main" id="{ED3E4D58-0367-408A-9749-1DA5424D6D1D}"/>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current state, any chosen action, and disturbances.</a:t>
            </a:r>
          </a:p>
        </p:txBody>
      </p:sp>
      <p:sp>
        <p:nvSpPr>
          <p:cNvPr id="7" name="concept-69-formula-0">
            <a:extLst xmlns:a="http://schemas.openxmlformats.org/drawingml/2006/main">
              <a:ext uri="{FF2B5EF4-FFF2-40B4-BE49-F238E27FC236}">
                <a16:creationId xmlns:a16="http://schemas.microsoft.com/office/drawing/2014/main" id="{89125673-9810-4AC3-8DD2-07D32035B421}"/>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sₜ₊₁ = F(sₜ, aₜ, ξₜ)</a:t>
            </a:r>
          </a:p>
        </p:txBody>
      </p:sp>
      <p:sp>
        <p:nvSpPr>
          <p:cNvPr id="15" name="concept-69-formula-1">
            <a:extLst xmlns:a="http://schemas.openxmlformats.org/drawingml/2006/main">
              <a:ext uri="{FF2B5EF4-FFF2-40B4-BE49-F238E27FC236}">
                <a16:creationId xmlns:a16="http://schemas.microsoft.com/office/drawing/2014/main" id="{5D3882B2-C141-40D6-B47B-2AA851CC529A}"/>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s = state; a = action; ξ = disturbance; t = time step</a:t>
            </a:r>
          </a:p>
        </p:txBody>
      </p:sp>
      <p:sp>
        <p:nvSpPr>
          <p:cNvPr id="8" name="concept-69-example-label-0">
            <a:extLst xmlns:a="http://schemas.openxmlformats.org/drawingml/2006/main">
              <a:ext uri="{FF2B5EF4-FFF2-40B4-BE49-F238E27FC236}">
                <a16:creationId xmlns:a16="http://schemas.microsoft.com/office/drawing/2014/main" id="{E526D9FA-26AA-4C10-9B7D-687B41DB4E99}"/>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69-example-0">
            <a:extLst xmlns:a="http://schemas.openxmlformats.org/drawingml/2006/main">
              <a:ext uri="{FF2B5EF4-FFF2-40B4-BE49-F238E27FC236}">
                <a16:creationId xmlns:a16="http://schemas.microsoft.com/office/drawing/2014/main" id="{F8DED02B-315E-44D9-87B0-4ACC77161268}"/>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tank holds 10 litres. Add 3 and drain 2 during one step: next</a:t>
            </a:r>
          </a:p>
        </p:txBody>
      </p:sp>
      <p:sp>
        <p:nvSpPr>
          <p:cNvPr id="10" name="concept-69-example-1">
            <a:extLst xmlns:a="http://schemas.openxmlformats.org/drawingml/2006/main">
              <a:ext uri="{FF2B5EF4-FFF2-40B4-BE49-F238E27FC236}">
                <a16:creationId xmlns:a16="http://schemas.microsoft.com/office/drawing/2014/main" id="{6C0380B4-C950-4C75-8F24-8F4E1B44E3BD}"/>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volume = 10 + 3 − 2 = 11.</a:t>
            </a:r>
          </a:p>
        </p:txBody>
      </p:sp>
      <p:sp>
        <p:nvSpPr>
          <p:cNvPr id="11" name="concept-69-metaphor-label-0">
            <a:extLst xmlns:a="http://schemas.openxmlformats.org/drawingml/2006/main">
              <a:ext uri="{FF2B5EF4-FFF2-40B4-BE49-F238E27FC236}">
                <a16:creationId xmlns:a16="http://schemas.microsoft.com/office/drawing/2014/main" id="{B03DEE84-450B-415E-9960-3A7C06D4F010}"/>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69-metaphor-0">
            <a:extLst xmlns:a="http://schemas.openxmlformats.org/drawingml/2006/main">
              <a:ext uri="{FF2B5EF4-FFF2-40B4-BE49-F238E27FC236}">
                <a16:creationId xmlns:a16="http://schemas.microsoft.com/office/drawing/2014/main" id="{C3C464B0-9061-4374-A595-4CD2D2FB571C}"/>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present is a frame in a movie; dynamics specify how the</a:t>
            </a:r>
          </a:p>
        </p:txBody>
      </p:sp>
      <p:sp>
        <p:nvSpPr>
          <p:cNvPr id="13" name="concept-69-metaphor-1">
            <a:extLst xmlns:a="http://schemas.openxmlformats.org/drawingml/2006/main">
              <a:ext uri="{FF2B5EF4-FFF2-40B4-BE49-F238E27FC236}">
                <a16:creationId xmlns:a16="http://schemas.microsoft.com/office/drawing/2014/main" id="{4B3A371E-4948-40AE-9AB4-4EC38085C8FC}"/>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next frame can unfold.</a:t>
            </a:r>
          </a:p>
        </p:txBody>
      </p:sp>
      <p:sp>
        <p:nvSpPr>
          <p:cNvPr id="14" name="concept-69-footer-0">
            <a:extLst xmlns:a="http://schemas.openxmlformats.org/drawingml/2006/main">
              <a:ext uri="{FF2B5EF4-FFF2-40B4-BE49-F238E27FC236}">
                <a16:creationId xmlns:a16="http://schemas.microsoft.com/office/drawing/2014/main" id="{00D3D80E-D104-4216-A841-FB2FE13E0024}"/>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Markov decision process</a:t>
            </a:r>
          </a:p>
        </p:txBody>
      </p:sp>
    </p:spTree>
    <p:extLst>
      <p:ext uri="{BB962C8B-B14F-4D97-AF65-F5344CB8AC3E}">
        <p14:creationId xmlns:p14="http://schemas.microsoft.com/office/powerpoint/2010/main" val="409219931"/>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70-chapter-0">
            <a:extLst xmlns:a="http://schemas.openxmlformats.org/drawingml/2006/main">
              <a:ext uri="{FF2B5EF4-FFF2-40B4-BE49-F238E27FC236}">
                <a16:creationId xmlns:a16="http://schemas.microsoft.com/office/drawing/2014/main" id="{F01EA18A-DB11-4A9D-8CA8-EFE2A2BEB18D}"/>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070 / 100 · REINFORCEMENT LEARNING AND CONTROL</a:t>
            </a:r>
          </a:p>
        </p:txBody>
      </p:sp>
      <p:sp>
        <p:nvSpPr>
          <p:cNvPr id="2" name="concept-70-title-0">
            <a:extLst xmlns:a="http://schemas.openxmlformats.org/drawingml/2006/main">
              <a:ext uri="{FF2B5EF4-FFF2-40B4-BE49-F238E27FC236}">
                <a16:creationId xmlns:a16="http://schemas.microsoft.com/office/drawing/2014/main" id="{EF7E7E80-DF33-4A44-A1C1-1B6A6F65D016}"/>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Markov decision process</a:t>
            </a:r>
          </a:p>
        </p:txBody>
      </p:sp>
      <p:sp>
        <p:nvSpPr>
          <p:cNvPr id="3" name="concept-70-definition-label-0">
            <a:extLst xmlns:a="http://schemas.openxmlformats.org/drawingml/2006/main">
              <a:ext uri="{FF2B5EF4-FFF2-40B4-BE49-F238E27FC236}">
                <a16:creationId xmlns:a16="http://schemas.microsoft.com/office/drawing/2014/main" id="{C9994A41-CF68-4031-B424-0026255BC5DC}"/>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70-definition-0">
            <a:extLst xmlns:a="http://schemas.openxmlformats.org/drawingml/2006/main">
              <a:ext uri="{FF2B5EF4-FFF2-40B4-BE49-F238E27FC236}">
                <a16:creationId xmlns:a16="http://schemas.microsoft.com/office/drawing/2014/main" id="{B7CACE63-EEC1-4A42-913D-95BEC7927A2D}"/>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MDP describes states, actions, rewards and transition</a:t>
            </a:r>
          </a:p>
        </p:txBody>
      </p:sp>
      <p:sp>
        <p:nvSpPr>
          <p:cNvPr id="5" name="concept-70-definition-1">
            <a:extLst xmlns:a="http://schemas.openxmlformats.org/drawingml/2006/main">
              <a:ext uri="{FF2B5EF4-FFF2-40B4-BE49-F238E27FC236}">
                <a16:creationId xmlns:a16="http://schemas.microsoft.com/office/drawing/2014/main" id="{B11473A5-AA38-4AD7-9E07-1ED65246978B}"/>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probabilities. Given the current state and action, the next-state</a:t>
            </a:r>
          </a:p>
        </p:txBody>
      </p:sp>
      <p:sp>
        <p:nvSpPr>
          <p:cNvPr id="6" name="concept-70-definition-2">
            <a:extLst xmlns:a="http://schemas.openxmlformats.org/drawingml/2006/main">
              <a:ext uri="{FF2B5EF4-FFF2-40B4-BE49-F238E27FC236}">
                <a16:creationId xmlns:a16="http://schemas.microsoft.com/office/drawing/2014/main" id="{613D15DD-45B8-4751-837E-CF94B0609B9E}"/>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distribution does not depend on earlier history.</a:t>
            </a:r>
          </a:p>
        </p:txBody>
      </p:sp>
      <p:sp>
        <p:nvSpPr>
          <p:cNvPr id="7" name="concept-70-formula-0">
            <a:extLst xmlns:a="http://schemas.openxmlformats.org/drawingml/2006/main">
              <a:ext uri="{FF2B5EF4-FFF2-40B4-BE49-F238E27FC236}">
                <a16:creationId xmlns:a16="http://schemas.microsoft.com/office/drawing/2014/main" id="{FC58F0AA-97B0-45DA-BF7D-9FE9523110C4}"/>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P(sₜ₊₁ ∣ history, aₜ) = P(sₜ₊₁ ∣ sₜ, aₜ)</a:t>
            </a:r>
          </a:p>
        </p:txBody>
      </p:sp>
      <p:sp>
        <p:nvSpPr>
          <p:cNvPr id="8" name="concept-70-example-label-0">
            <a:extLst xmlns:a="http://schemas.openxmlformats.org/drawingml/2006/main">
              <a:ext uri="{FF2B5EF4-FFF2-40B4-BE49-F238E27FC236}">
                <a16:creationId xmlns:a16="http://schemas.microsoft.com/office/drawing/2014/main" id="{88CB8964-6A6C-4FE9-BAA7-E8EC64AC804F}"/>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70-example-0">
            <a:extLst xmlns:a="http://schemas.openxmlformats.org/drawingml/2006/main">
              <a:ext uri="{FF2B5EF4-FFF2-40B4-BE49-F238E27FC236}">
                <a16:creationId xmlns:a16="http://schemas.microsoft.com/office/drawing/2014/main" id="{6CBCC038-926D-4420-9377-2D9515132F15}"/>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 state “low,” choosing “fill” reaches “safe” with probability</a:t>
            </a:r>
          </a:p>
        </p:txBody>
      </p:sp>
      <p:sp>
        <p:nvSpPr>
          <p:cNvPr id="10" name="concept-70-example-1">
            <a:extLst xmlns:a="http://schemas.openxmlformats.org/drawingml/2006/main">
              <a:ext uri="{FF2B5EF4-FFF2-40B4-BE49-F238E27FC236}">
                <a16:creationId xmlns:a16="http://schemas.microsoft.com/office/drawing/2014/main" id="{374FB329-40A1-45A2-8A95-8F6EE16EFB76}"/>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0.9 and stays “low” with probability 0.1. Suppose reaching</a:t>
            </a:r>
          </a:p>
        </p:txBody>
      </p:sp>
      <p:sp>
        <p:nvSpPr>
          <p:cNvPr id="15" name="concept-70-example-2">
            <a:extLst xmlns:a="http://schemas.openxmlformats.org/drawingml/2006/main">
              <a:ext uri="{FF2B5EF4-FFF2-40B4-BE49-F238E27FC236}">
                <a16:creationId xmlns:a16="http://schemas.microsoft.com/office/drawing/2014/main" id="{9814C6E4-0A82-4EFC-A12F-943559981DFE}"/>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“safe” earns reward 1, otherwise 0.</a:t>
            </a:r>
          </a:p>
        </p:txBody>
      </p:sp>
      <p:sp>
        <p:nvSpPr>
          <p:cNvPr id="11" name="concept-70-metaphor-label-0">
            <a:extLst xmlns:a="http://schemas.openxmlformats.org/drawingml/2006/main">
              <a:ext uri="{FF2B5EF4-FFF2-40B4-BE49-F238E27FC236}">
                <a16:creationId xmlns:a16="http://schemas.microsoft.com/office/drawing/2014/main" id="{53032F85-E6EA-446A-AB99-96EC04A2F61F}"/>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70-metaphor-0">
            <a:extLst xmlns:a="http://schemas.openxmlformats.org/drawingml/2006/main">
              <a:ext uri="{FF2B5EF4-FFF2-40B4-BE49-F238E27FC236}">
                <a16:creationId xmlns:a16="http://schemas.microsoft.com/office/drawing/2014/main" id="{2BD55246-936C-4A88-8CA5-BED6781F5201}"/>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board-game position contains everything needed to</a:t>
            </a:r>
          </a:p>
        </p:txBody>
      </p:sp>
      <p:sp>
        <p:nvSpPr>
          <p:cNvPr id="13" name="concept-70-metaphor-1">
            <a:extLst xmlns:a="http://schemas.openxmlformats.org/drawingml/2006/main">
              <a:ext uri="{FF2B5EF4-FFF2-40B4-BE49-F238E27FC236}">
                <a16:creationId xmlns:a16="http://schemas.microsoft.com/office/drawing/2014/main" id="{BB1A248A-0AA5-4FA7-ABFF-1E28F4D255D6}"/>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determine the next move's possibilities.</a:t>
            </a:r>
          </a:p>
        </p:txBody>
      </p:sp>
      <p:sp>
        <p:nvSpPr>
          <p:cNvPr id="14" name="concept-70-footer-0">
            <a:extLst xmlns:a="http://schemas.openxmlformats.org/drawingml/2006/main">
              <a:ext uri="{FF2B5EF4-FFF2-40B4-BE49-F238E27FC236}">
                <a16:creationId xmlns:a16="http://schemas.microsoft.com/office/drawing/2014/main" id="{F277DBCC-B012-43B2-8CA9-30DEBDD8B2DE}"/>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Reward and return</a:t>
            </a:r>
          </a:p>
        </p:txBody>
      </p:sp>
    </p:spTree>
    <p:extLst>
      <p:ext uri="{BB962C8B-B14F-4D97-AF65-F5344CB8AC3E}">
        <p14:creationId xmlns:p14="http://schemas.microsoft.com/office/powerpoint/2010/main" val="1142538668"/>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71-chapter-0">
            <a:extLst xmlns:a="http://schemas.openxmlformats.org/drawingml/2006/main">
              <a:ext uri="{FF2B5EF4-FFF2-40B4-BE49-F238E27FC236}">
                <a16:creationId xmlns:a16="http://schemas.microsoft.com/office/drawing/2014/main" id="{48D322FE-7B0E-4A5F-9A2F-F345EA050D89}"/>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071 / 100 · REINFORCEMENT LEARNING AND CONTROL</a:t>
            </a:r>
          </a:p>
        </p:txBody>
      </p:sp>
      <p:sp>
        <p:nvSpPr>
          <p:cNvPr id="2" name="concept-71-title-0">
            <a:extLst xmlns:a="http://schemas.openxmlformats.org/drawingml/2006/main">
              <a:ext uri="{FF2B5EF4-FFF2-40B4-BE49-F238E27FC236}">
                <a16:creationId xmlns:a16="http://schemas.microsoft.com/office/drawing/2014/main" id="{BC4D05F2-FF2D-4E2C-A58A-63F9CF776E3A}"/>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Reward and return</a:t>
            </a:r>
          </a:p>
        </p:txBody>
      </p:sp>
      <p:sp>
        <p:nvSpPr>
          <p:cNvPr id="3" name="concept-71-definition-label-0">
            <a:extLst xmlns:a="http://schemas.openxmlformats.org/drawingml/2006/main">
              <a:ext uri="{FF2B5EF4-FFF2-40B4-BE49-F238E27FC236}">
                <a16:creationId xmlns:a16="http://schemas.microsoft.com/office/drawing/2014/main" id="{E0A8F494-B664-4108-92E0-0CDA75850A4C}"/>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71-definition-0">
            <a:extLst xmlns:a="http://schemas.openxmlformats.org/drawingml/2006/main">
              <a:ext uri="{FF2B5EF4-FFF2-40B4-BE49-F238E27FC236}">
                <a16:creationId xmlns:a16="http://schemas.microsoft.com/office/drawing/2014/main" id="{37484109-0010-44A7-B793-22156AA5D2A6}"/>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reward scores one outcome. Return adds rewards over</a:t>
            </a:r>
          </a:p>
        </p:txBody>
      </p:sp>
      <p:sp>
        <p:nvSpPr>
          <p:cNvPr id="5" name="concept-71-definition-1">
            <a:extLst xmlns:a="http://schemas.openxmlformats.org/drawingml/2006/main">
              <a:ext uri="{FF2B5EF4-FFF2-40B4-BE49-F238E27FC236}">
                <a16:creationId xmlns:a16="http://schemas.microsoft.com/office/drawing/2014/main" id="{0E60662D-E436-4470-8491-4BFE49725FE7}"/>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several steps. A discount factor γ gives less weight to later</a:t>
            </a:r>
          </a:p>
        </p:txBody>
      </p:sp>
      <p:sp>
        <p:nvSpPr>
          <p:cNvPr id="6" name="concept-71-definition-2">
            <a:extLst xmlns:a="http://schemas.openxmlformats.org/drawingml/2006/main">
              <a:ext uri="{FF2B5EF4-FFF2-40B4-BE49-F238E27FC236}">
                <a16:creationId xmlns:a16="http://schemas.microsoft.com/office/drawing/2014/main" id="{899B2C1C-D8C0-449D-AF9F-31ECE837ACB6}"/>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rewards when 0 ≤ γ &lt; 1.</a:t>
            </a:r>
          </a:p>
        </p:txBody>
      </p:sp>
      <p:sp>
        <p:nvSpPr>
          <p:cNvPr id="7" name="concept-71-formula-0">
            <a:extLst xmlns:a="http://schemas.openxmlformats.org/drawingml/2006/main">
              <a:ext uri="{FF2B5EF4-FFF2-40B4-BE49-F238E27FC236}">
                <a16:creationId xmlns:a16="http://schemas.microsoft.com/office/drawing/2014/main" id="{C5E2AFFB-CC3E-470B-8FE6-01C4888260A8}"/>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For H remaining steps: Gₜ = Σₖ₌₀ᴴ⁻¹ γᵏrₜ₊ₖ</a:t>
            </a:r>
          </a:p>
        </p:txBody>
      </p:sp>
      <p:sp>
        <p:nvSpPr>
          <p:cNvPr id="15" name="concept-71-formula-1">
            <a:extLst xmlns:a="http://schemas.openxmlformats.org/drawingml/2006/main">
              <a:ext uri="{FF2B5EF4-FFF2-40B4-BE49-F238E27FC236}">
                <a16:creationId xmlns:a16="http://schemas.microsoft.com/office/drawing/2014/main" id="{3EC94D90-D150-47D3-AB2B-D4F2FF62B617}"/>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rₜ is the reward from action aₜ; 0 ≤ γ ≤ 1</a:t>
            </a:r>
          </a:p>
        </p:txBody>
      </p:sp>
      <p:sp>
        <p:nvSpPr>
          <p:cNvPr id="8" name="concept-71-example-label-0">
            <a:extLst xmlns:a="http://schemas.openxmlformats.org/drawingml/2006/main">
              <a:ext uri="{FF2B5EF4-FFF2-40B4-BE49-F238E27FC236}">
                <a16:creationId xmlns:a16="http://schemas.microsoft.com/office/drawing/2014/main" id="{C71AABB7-EE79-4390-99AD-442CA556048C}"/>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71-example-0">
            <a:extLst xmlns:a="http://schemas.openxmlformats.org/drawingml/2006/main">
              <a:ext uri="{FF2B5EF4-FFF2-40B4-BE49-F238E27FC236}">
                <a16:creationId xmlns:a16="http://schemas.microsoft.com/office/drawing/2014/main" id="{96706142-69DF-4763-9B1F-7527420E0123}"/>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three rewards (2, 0, 10) and γ = 0.5, return = 2 + 0 + 0.25</a:t>
            </a:r>
          </a:p>
        </p:txBody>
      </p:sp>
      <p:sp>
        <p:nvSpPr>
          <p:cNvPr id="10" name="concept-71-example-1">
            <a:extLst xmlns:a="http://schemas.openxmlformats.org/drawingml/2006/main">
              <a:ext uri="{FF2B5EF4-FFF2-40B4-BE49-F238E27FC236}">
                <a16:creationId xmlns:a16="http://schemas.microsoft.com/office/drawing/2014/main" id="{52DA6414-4B14-4281-BACC-C716B1FD3A07}"/>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 10 = 4.5.</a:t>
            </a:r>
          </a:p>
        </p:txBody>
      </p:sp>
      <p:sp>
        <p:nvSpPr>
          <p:cNvPr id="11" name="concept-71-metaphor-label-0">
            <a:extLst xmlns:a="http://schemas.openxmlformats.org/drawingml/2006/main">
              <a:ext uri="{FF2B5EF4-FFF2-40B4-BE49-F238E27FC236}">
                <a16:creationId xmlns:a16="http://schemas.microsoft.com/office/drawing/2014/main" id="{7FC835E4-7D05-4EEE-B183-A49B161AE878}"/>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71-metaphor-0">
            <a:extLst xmlns:a="http://schemas.openxmlformats.org/drawingml/2006/main">
              <a:ext uri="{FF2B5EF4-FFF2-40B4-BE49-F238E27FC236}">
                <a16:creationId xmlns:a16="http://schemas.microsoft.com/office/drawing/2014/main" id="{67D28288-B452-40A8-B307-CC2D9CC5B1E5}"/>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Immediate reward is one coin; return is the discounted value of</a:t>
            </a:r>
          </a:p>
        </p:txBody>
      </p:sp>
      <p:sp>
        <p:nvSpPr>
          <p:cNvPr id="13" name="concept-71-metaphor-1">
            <a:extLst xmlns:a="http://schemas.openxmlformats.org/drawingml/2006/main">
              <a:ext uri="{FF2B5EF4-FFF2-40B4-BE49-F238E27FC236}">
                <a16:creationId xmlns:a16="http://schemas.microsoft.com/office/drawing/2014/main" id="{5C6757C5-837A-4CE8-83D6-86E421CE6A61}"/>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entire trail of coins.</a:t>
            </a:r>
          </a:p>
        </p:txBody>
      </p:sp>
      <p:sp>
        <p:nvSpPr>
          <p:cNvPr id="14" name="concept-71-footer-0">
            <a:extLst xmlns:a="http://schemas.openxmlformats.org/drawingml/2006/main">
              <a:ext uri="{FF2B5EF4-FFF2-40B4-BE49-F238E27FC236}">
                <a16:creationId xmlns:a16="http://schemas.microsoft.com/office/drawing/2014/main" id="{32A0049C-3D75-45B8-AEFF-723E6EE51A21}"/>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Policy</a:t>
            </a:r>
          </a:p>
        </p:txBody>
      </p:sp>
    </p:spTree>
    <p:extLst>
      <p:ext uri="{BB962C8B-B14F-4D97-AF65-F5344CB8AC3E}">
        <p14:creationId xmlns:p14="http://schemas.microsoft.com/office/powerpoint/2010/main" val="1998400626"/>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72-chapter-0">
            <a:extLst xmlns:a="http://schemas.openxmlformats.org/drawingml/2006/main">
              <a:ext uri="{FF2B5EF4-FFF2-40B4-BE49-F238E27FC236}">
                <a16:creationId xmlns:a16="http://schemas.microsoft.com/office/drawing/2014/main" id="{CBD80D5C-FEFC-4FE1-A30A-B2E1CCA511A3}"/>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072 / 100 · REINFORCEMENT LEARNING AND CONTROL</a:t>
            </a:r>
          </a:p>
        </p:txBody>
      </p:sp>
      <p:sp>
        <p:nvSpPr>
          <p:cNvPr id="2" name="concept-72-title-0">
            <a:extLst xmlns:a="http://schemas.openxmlformats.org/drawingml/2006/main">
              <a:ext uri="{FF2B5EF4-FFF2-40B4-BE49-F238E27FC236}">
                <a16:creationId xmlns:a16="http://schemas.microsoft.com/office/drawing/2014/main" id="{8B036133-A982-4CBB-8C21-73C5C51AE240}"/>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Policy</a:t>
            </a:r>
          </a:p>
        </p:txBody>
      </p:sp>
      <p:sp>
        <p:nvSpPr>
          <p:cNvPr id="3" name="concept-72-definition-label-0">
            <a:extLst xmlns:a="http://schemas.openxmlformats.org/drawingml/2006/main">
              <a:ext uri="{FF2B5EF4-FFF2-40B4-BE49-F238E27FC236}">
                <a16:creationId xmlns:a16="http://schemas.microsoft.com/office/drawing/2014/main" id="{D72E563F-193E-4D6E-AE50-8758F7C15366}"/>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72-definition-0">
            <a:extLst xmlns:a="http://schemas.openxmlformats.org/drawingml/2006/main">
              <a:ext uri="{FF2B5EF4-FFF2-40B4-BE49-F238E27FC236}">
                <a16:creationId xmlns:a16="http://schemas.microsoft.com/office/drawing/2014/main" id="{1624FAA5-08AB-42B7-A670-97E9BF14AA5D}"/>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policy specifies how an agent chooses actions. A stochastic</a:t>
            </a:r>
          </a:p>
        </p:txBody>
      </p:sp>
      <p:sp>
        <p:nvSpPr>
          <p:cNvPr id="5" name="concept-72-definition-1">
            <a:extLst xmlns:a="http://schemas.openxmlformats.org/drawingml/2006/main">
              <a:ext uri="{FF2B5EF4-FFF2-40B4-BE49-F238E27FC236}">
                <a16:creationId xmlns:a16="http://schemas.microsoft.com/office/drawing/2014/main" id="{7FB39D89-6605-4263-A8E5-FE6E940FA0B0}"/>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policy gives an action probability for each state or available</a:t>
            </a:r>
          </a:p>
        </p:txBody>
      </p:sp>
      <p:sp>
        <p:nvSpPr>
          <p:cNvPr id="6" name="concept-72-definition-2">
            <a:extLst xmlns:a="http://schemas.openxmlformats.org/drawingml/2006/main">
              <a:ext uri="{FF2B5EF4-FFF2-40B4-BE49-F238E27FC236}">
                <a16:creationId xmlns:a16="http://schemas.microsoft.com/office/drawing/2014/main" id="{70340E93-B885-4831-89E4-CB625002775E}"/>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information.</a:t>
            </a:r>
          </a:p>
        </p:txBody>
      </p:sp>
      <p:sp>
        <p:nvSpPr>
          <p:cNvPr id="7" name="concept-72-formula-0">
            <a:extLst xmlns:a="http://schemas.openxmlformats.org/drawingml/2006/main">
              <a:ext uri="{FF2B5EF4-FFF2-40B4-BE49-F238E27FC236}">
                <a16:creationId xmlns:a16="http://schemas.microsoft.com/office/drawing/2014/main" id="{6FD1F557-C729-4D6A-B625-A17B2A40017F}"/>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π(a ∣ s) ≥ 0; Σₐ π(a ∣ s) = 1</a:t>
            </a:r>
          </a:p>
        </p:txBody>
      </p:sp>
      <p:sp>
        <p:nvSpPr>
          <p:cNvPr id="8" name="concept-72-example-label-0">
            <a:extLst xmlns:a="http://schemas.openxmlformats.org/drawingml/2006/main">
              <a:ext uri="{FF2B5EF4-FFF2-40B4-BE49-F238E27FC236}">
                <a16:creationId xmlns:a16="http://schemas.microsoft.com/office/drawing/2014/main" id="{A86EFF03-A783-4F13-8A32-13758FA720AF}"/>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72-example-0">
            <a:extLst xmlns:a="http://schemas.openxmlformats.org/drawingml/2006/main">
              <a:ext uri="{FF2B5EF4-FFF2-40B4-BE49-F238E27FC236}">
                <a16:creationId xmlns:a16="http://schemas.microsoft.com/office/drawing/2014/main" id="{FF84FE0D-86DB-48DD-BE3B-E388829D3553}"/>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 a low tank, π(fill) = 0.8 and π(wait) = 0.2. A deterministic</a:t>
            </a:r>
          </a:p>
        </p:txBody>
      </p:sp>
      <p:sp>
        <p:nvSpPr>
          <p:cNvPr id="10" name="concept-72-example-1">
            <a:extLst xmlns:a="http://schemas.openxmlformats.org/drawingml/2006/main">
              <a:ext uri="{FF2B5EF4-FFF2-40B4-BE49-F238E27FC236}">
                <a16:creationId xmlns:a16="http://schemas.microsoft.com/office/drawing/2014/main" id="{C2CEA48A-AEF2-432B-9F21-F283DC720D51}"/>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policy might always fill.</a:t>
            </a:r>
          </a:p>
        </p:txBody>
      </p:sp>
      <p:sp>
        <p:nvSpPr>
          <p:cNvPr id="11" name="concept-72-metaphor-label-0">
            <a:extLst xmlns:a="http://schemas.openxmlformats.org/drawingml/2006/main">
              <a:ext uri="{FF2B5EF4-FFF2-40B4-BE49-F238E27FC236}">
                <a16:creationId xmlns:a16="http://schemas.microsoft.com/office/drawing/2014/main" id="{30C78ACE-5F78-4C99-9730-AF412F302AFF}"/>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72-metaphor-0">
            <a:extLst xmlns:a="http://schemas.openxmlformats.org/drawingml/2006/main">
              <a:ext uri="{FF2B5EF4-FFF2-40B4-BE49-F238E27FC236}">
                <a16:creationId xmlns:a16="http://schemas.microsoft.com/office/drawing/2014/main" id="{5C789CD3-5A0C-48E5-982A-D872D779678B}"/>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playbook says what to do when a particular situation</a:t>
            </a:r>
          </a:p>
        </p:txBody>
      </p:sp>
      <p:sp>
        <p:nvSpPr>
          <p:cNvPr id="13" name="concept-72-metaphor-1">
            <a:extLst xmlns:a="http://schemas.openxmlformats.org/drawingml/2006/main">
              <a:ext uri="{FF2B5EF4-FFF2-40B4-BE49-F238E27FC236}">
                <a16:creationId xmlns:a16="http://schemas.microsoft.com/office/drawing/2014/main" id="{45264633-427C-46B3-8A15-47786C255D4F}"/>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appears.</a:t>
            </a:r>
          </a:p>
        </p:txBody>
      </p:sp>
      <p:sp>
        <p:nvSpPr>
          <p:cNvPr id="14" name="concept-72-footer-0">
            <a:extLst xmlns:a="http://schemas.openxmlformats.org/drawingml/2006/main">
              <a:ext uri="{FF2B5EF4-FFF2-40B4-BE49-F238E27FC236}">
                <a16:creationId xmlns:a16="http://schemas.microsoft.com/office/drawing/2014/main" id="{4D4917C8-705F-4CFE-9AEE-64819B7AC3EA}"/>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Value function</a:t>
            </a:r>
          </a:p>
        </p:txBody>
      </p:sp>
    </p:spTree>
    <p:extLst>
      <p:ext uri="{BB962C8B-B14F-4D97-AF65-F5344CB8AC3E}">
        <p14:creationId xmlns:p14="http://schemas.microsoft.com/office/powerpoint/2010/main" val="2142032024"/>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73-chapter-0">
            <a:extLst xmlns:a="http://schemas.openxmlformats.org/drawingml/2006/main">
              <a:ext uri="{FF2B5EF4-FFF2-40B4-BE49-F238E27FC236}">
                <a16:creationId xmlns:a16="http://schemas.microsoft.com/office/drawing/2014/main" id="{988438BA-046E-40ED-B118-42DE046504CD}"/>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073 / 100 · REINFORCEMENT LEARNING AND CONTROL</a:t>
            </a:r>
          </a:p>
        </p:txBody>
      </p:sp>
      <p:sp>
        <p:nvSpPr>
          <p:cNvPr id="2" name="concept-73-title-0">
            <a:extLst xmlns:a="http://schemas.openxmlformats.org/drawingml/2006/main">
              <a:ext uri="{FF2B5EF4-FFF2-40B4-BE49-F238E27FC236}">
                <a16:creationId xmlns:a16="http://schemas.microsoft.com/office/drawing/2014/main" id="{6FB694E5-5DC5-4848-A97A-D80B286B6144}"/>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Value function</a:t>
            </a:r>
          </a:p>
        </p:txBody>
      </p:sp>
      <p:sp>
        <p:nvSpPr>
          <p:cNvPr id="3" name="concept-73-definition-label-0">
            <a:extLst xmlns:a="http://schemas.openxmlformats.org/drawingml/2006/main">
              <a:ext uri="{FF2B5EF4-FFF2-40B4-BE49-F238E27FC236}">
                <a16:creationId xmlns:a16="http://schemas.microsoft.com/office/drawing/2014/main" id="{854A408B-40B9-4EB6-B123-A2668A5814F8}"/>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73-definition-0">
            <a:extLst xmlns:a="http://schemas.openxmlformats.org/drawingml/2006/main">
              <a:ext uri="{FF2B5EF4-FFF2-40B4-BE49-F238E27FC236}">
                <a16:creationId xmlns:a16="http://schemas.microsoft.com/office/drawing/2014/main" id="{A9436703-17AA-4490-86C3-226E744D12D3}"/>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state-value function is the expected return starting in a state</a:t>
            </a:r>
          </a:p>
        </p:txBody>
      </p:sp>
      <p:sp>
        <p:nvSpPr>
          <p:cNvPr id="5" name="concept-73-definition-1">
            <a:extLst xmlns:a="http://schemas.openxmlformats.org/drawingml/2006/main">
              <a:ext uri="{FF2B5EF4-FFF2-40B4-BE49-F238E27FC236}">
                <a16:creationId xmlns:a16="http://schemas.microsoft.com/office/drawing/2014/main" id="{80FDF49E-7CB2-4235-944B-CA284DF1F9AF}"/>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and following a specified policy. An action-value also fixes the</a:t>
            </a:r>
          </a:p>
        </p:txBody>
      </p:sp>
      <p:sp>
        <p:nvSpPr>
          <p:cNvPr id="6" name="concept-73-definition-2">
            <a:extLst xmlns:a="http://schemas.openxmlformats.org/drawingml/2006/main">
              <a:ext uri="{FF2B5EF4-FFF2-40B4-BE49-F238E27FC236}">
                <a16:creationId xmlns:a16="http://schemas.microsoft.com/office/drawing/2014/main" id="{877EA36E-9F76-4B24-BDF0-5076BE1D44CF}"/>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first action.</a:t>
            </a:r>
          </a:p>
        </p:txBody>
      </p:sp>
      <p:sp>
        <p:nvSpPr>
          <p:cNvPr id="7" name="concept-73-formula-0">
            <a:extLst xmlns:a="http://schemas.openxmlformats.org/drawingml/2006/main">
              <a:ext uri="{FF2B5EF4-FFF2-40B4-BE49-F238E27FC236}">
                <a16:creationId xmlns:a16="http://schemas.microsoft.com/office/drawing/2014/main" id="{0C226380-BAB0-43CA-9936-65A315A9B547}"/>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Vπ(s) = Eπ[Gₜ ∣ sₜ = s]; Qπ(s, a) = Eπ[Gₜ ∣ s, a]</a:t>
            </a:r>
          </a:p>
        </p:txBody>
      </p:sp>
      <p:sp>
        <p:nvSpPr>
          <p:cNvPr id="8" name="concept-73-example-label-0">
            <a:extLst xmlns:a="http://schemas.openxmlformats.org/drawingml/2006/main">
              <a:ext uri="{FF2B5EF4-FFF2-40B4-BE49-F238E27FC236}">
                <a16:creationId xmlns:a16="http://schemas.microsoft.com/office/drawing/2014/main" id="{F23A78BC-FA1A-4898-BF0B-084BD28FE494}"/>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73-example-0">
            <a:extLst xmlns:a="http://schemas.openxmlformats.org/drawingml/2006/main">
              <a:ext uri="{FF2B5EF4-FFF2-40B4-BE49-F238E27FC236}">
                <a16:creationId xmlns:a16="http://schemas.microsoft.com/office/drawing/2014/main" id="{93C6C4C9-6CAD-40D3-B7E5-B8477AB390CE}"/>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policy yields return 10 with probability 0.6 and 0 otherwise,</a:t>
            </a:r>
          </a:p>
        </p:txBody>
      </p:sp>
      <p:sp>
        <p:nvSpPr>
          <p:cNvPr id="10" name="concept-73-example-1">
            <a:extLst xmlns:a="http://schemas.openxmlformats.org/drawingml/2006/main">
              <a:ext uri="{FF2B5EF4-FFF2-40B4-BE49-F238E27FC236}">
                <a16:creationId xmlns:a16="http://schemas.microsoft.com/office/drawing/2014/main" id="{113464AC-AF67-4EB2-8301-36F3D37B98E3}"/>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so Vπ(s) = 6.</a:t>
            </a:r>
          </a:p>
        </p:txBody>
      </p:sp>
      <p:sp>
        <p:nvSpPr>
          <p:cNvPr id="11" name="concept-73-metaphor-label-0">
            <a:extLst xmlns:a="http://schemas.openxmlformats.org/drawingml/2006/main">
              <a:ext uri="{FF2B5EF4-FFF2-40B4-BE49-F238E27FC236}">
                <a16:creationId xmlns:a16="http://schemas.microsoft.com/office/drawing/2014/main" id="{B9DDC6ED-F26E-48D7-B482-AA7CA8508A80}"/>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73-metaphor-0">
            <a:extLst xmlns:a="http://schemas.openxmlformats.org/drawingml/2006/main">
              <a:ext uri="{FF2B5EF4-FFF2-40B4-BE49-F238E27FC236}">
                <a16:creationId xmlns:a16="http://schemas.microsoft.com/office/drawing/2014/main" id="{E504349A-D6EB-4804-8FCC-01798A8FF431}"/>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Value is a forecast of the whole journey's worth, not the reward</a:t>
            </a:r>
          </a:p>
        </p:txBody>
      </p:sp>
      <p:sp>
        <p:nvSpPr>
          <p:cNvPr id="13" name="concept-73-metaphor-1">
            <a:extLst xmlns:a="http://schemas.openxmlformats.org/drawingml/2006/main">
              <a:ext uri="{FF2B5EF4-FFF2-40B4-BE49-F238E27FC236}">
                <a16:creationId xmlns:a16="http://schemas.microsoft.com/office/drawing/2014/main" id="{CA704239-DE8F-4FEB-A643-03472A847C90}"/>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on the next step.</a:t>
            </a:r>
          </a:p>
        </p:txBody>
      </p:sp>
      <p:sp>
        <p:nvSpPr>
          <p:cNvPr id="14" name="concept-73-footer-0">
            <a:extLst xmlns:a="http://schemas.openxmlformats.org/drawingml/2006/main">
              <a:ext uri="{FF2B5EF4-FFF2-40B4-BE49-F238E27FC236}">
                <a16:creationId xmlns:a16="http://schemas.microsoft.com/office/drawing/2014/main" id="{56C3FFE2-D249-42FD-9003-709EDD1BEA8A}"/>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Bellman equation</a:t>
            </a:r>
          </a:p>
        </p:txBody>
      </p:sp>
    </p:spTree>
    <p:extLst>
      <p:ext uri="{BB962C8B-B14F-4D97-AF65-F5344CB8AC3E}">
        <p14:creationId xmlns:p14="http://schemas.microsoft.com/office/powerpoint/2010/main" val="565016145"/>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74-chapter-0">
            <a:extLst xmlns:a="http://schemas.openxmlformats.org/drawingml/2006/main">
              <a:ext uri="{FF2B5EF4-FFF2-40B4-BE49-F238E27FC236}">
                <a16:creationId xmlns:a16="http://schemas.microsoft.com/office/drawing/2014/main" id="{92F290DB-4131-4959-81A0-4D350EB0523F}"/>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074 / 100 · REINFORCEMENT LEARNING AND CONTROL</a:t>
            </a:r>
          </a:p>
        </p:txBody>
      </p:sp>
      <p:sp>
        <p:nvSpPr>
          <p:cNvPr id="2" name="concept-74-title-0">
            <a:extLst xmlns:a="http://schemas.openxmlformats.org/drawingml/2006/main">
              <a:ext uri="{FF2B5EF4-FFF2-40B4-BE49-F238E27FC236}">
                <a16:creationId xmlns:a16="http://schemas.microsoft.com/office/drawing/2014/main" id="{E2F60114-7366-42EB-A147-4ADF4F629091}"/>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Bellman equation</a:t>
            </a:r>
          </a:p>
        </p:txBody>
      </p:sp>
      <p:sp>
        <p:nvSpPr>
          <p:cNvPr id="3" name="concept-74-definition-label-0">
            <a:extLst xmlns:a="http://schemas.openxmlformats.org/drawingml/2006/main">
              <a:ext uri="{FF2B5EF4-FFF2-40B4-BE49-F238E27FC236}">
                <a16:creationId xmlns:a16="http://schemas.microsoft.com/office/drawing/2014/main" id="{DCC6E2ED-284A-448C-95BB-01EA5F02F577}"/>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74-definition-0">
            <a:extLst xmlns:a="http://schemas.openxmlformats.org/drawingml/2006/main">
              <a:ext uri="{FF2B5EF4-FFF2-40B4-BE49-F238E27FC236}">
                <a16:creationId xmlns:a16="http://schemas.microsoft.com/office/drawing/2014/main" id="{7AEC10C3-B522-442D-AD83-BE078790DD81}"/>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Bellman equation decomposes a policy's value into</a:t>
            </a:r>
          </a:p>
        </p:txBody>
      </p:sp>
      <p:sp>
        <p:nvSpPr>
          <p:cNvPr id="5" name="concept-74-definition-1">
            <a:extLst xmlns:a="http://schemas.openxmlformats.org/drawingml/2006/main">
              <a:ext uri="{FF2B5EF4-FFF2-40B4-BE49-F238E27FC236}">
                <a16:creationId xmlns:a16="http://schemas.microsoft.com/office/drawing/2014/main" id="{BA9AE777-B33E-41E5-8822-E157F5969D2E}"/>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expected immediate reward plus discounted value of the next</a:t>
            </a:r>
          </a:p>
        </p:txBody>
      </p:sp>
      <p:sp>
        <p:nvSpPr>
          <p:cNvPr id="6" name="concept-74-definition-2">
            <a:extLst xmlns:a="http://schemas.openxmlformats.org/drawingml/2006/main">
              <a:ext uri="{FF2B5EF4-FFF2-40B4-BE49-F238E27FC236}">
                <a16:creationId xmlns:a16="http://schemas.microsoft.com/office/drawing/2014/main" id="{2E6CE952-B29D-418E-8B46-4E34936DE289}"/>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state.</a:t>
            </a:r>
          </a:p>
        </p:txBody>
      </p:sp>
      <p:sp>
        <p:nvSpPr>
          <p:cNvPr id="7" name="concept-74-formula-0">
            <a:extLst xmlns:a="http://schemas.openxmlformats.org/drawingml/2006/main">
              <a:ext uri="{FF2B5EF4-FFF2-40B4-BE49-F238E27FC236}">
                <a16:creationId xmlns:a16="http://schemas.microsoft.com/office/drawing/2014/main" id="{3FF2CF96-407E-4BA9-AC7C-D70F5084EDBB}"/>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Vπ(s) = Eπ[rₜ + γVπ(sₜ₊₁) ∣ sₜ = s]</a:t>
            </a:r>
          </a:p>
        </p:txBody>
      </p:sp>
      <p:sp>
        <p:nvSpPr>
          <p:cNvPr id="8" name="concept-74-example-label-0">
            <a:extLst xmlns:a="http://schemas.openxmlformats.org/drawingml/2006/main">
              <a:ext uri="{FF2B5EF4-FFF2-40B4-BE49-F238E27FC236}">
                <a16:creationId xmlns:a16="http://schemas.microsoft.com/office/drawing/2014/main" id="{DDD2EA87-0594-4C97-AF43-7F929F0DEF62}"/>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74-example-0">
            <a:extLst xmlns:a="http://schemas.openxmlformats.org/drawingml/2006/main">
              <a:ext uri="{FF2B5EF4-FFF2-40B4-BE49-F238E27FC236}">
                <a16:creationId xmlns:a16="http://schemas.microsoft.com/office/drawing/2014/main" id="{70A18975-1DAF-4578-9FCE-3F54F87224DB}"/>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Reward now is 2. Next-state value is 10 or 0, equally likely,</a:t>
            </a:r>
          </a:p>
        </p:txBody>
      </p:sp>
      <p:sp>
        <p:nvSpPr>
          <p:cNvPr id="10" name="concept-74-example-1">
            <a:extLst xmlns:a="http://schemas.openxmlformats.org/drawingml/2006/main">
              <a:ext uri="{FF2B5EF4-FFF2-40B4-BE49-F238E27FC236}">
                <a16:creationId xmlns:a16="http://schemas.microsoft.com/office/drawing/2014/main" id="{B9A1A990-9445-4253-BBDE-89FEB8653AFF}"/>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under the policy. At γ = 0.9: V = 2 + 0.9×(0.5×10 + 0.5×0) =</a:t>
            </a:r>
          </a:p>
        </p:txBody>
      </p:sp>
      <p:sp>
        <p:nvSpPr>
          <p:cNvPr id="15" name="concept-74-example-2">
            <a:extLst xmlns:a="http://schemas.openxmlformats.org/drawingml/2006/main">
              <a:ext uri="{FF2B5EF4-FFF2-40B4-BE49-F238E27FC236}">
                <a16:creationId xmlns:a16="http://schemas.microsoft.com/office/drawing/2014/main" id="{586462FB-5DCC-4320-8CC8-A8F775F814D7}"/>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6.5.</a:t>
            </a:r>
          </a:p>
        </p:txBody>
      </p:sp>
      <p:sp>
        <p:nvSpPr>
          <p:cNvPr id="11" name="concept-74-metaphor-label-0">
            <a:extLst xmlns:a="http://schemas.openxmlformats.org/drawingml/2006/main">
              <a:ext uri="{FF2B5EF4-FFF2-40B4-BE49-F238E27FC236}">
                <a16:creationId xmlns:a16="http://schemas.microsoft.com/office/drawing/2014/main" id="{84CB4265-BB03-4146-AB37-9AD1CDDD6EC5}"/>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74-metaphor-0">
            <a:extLst xmlns:a="http://schemas.openxmlformats.org/drawingml/2006/main">
              <a:ext uri="{FF2B5EF4-FFF2-40B4-BE49-F238E27FC236}">
                <a16:creationId xmlns:a16="http://schemas.microsoft.com/office/drawing/2014/main" id="{1F35D882-04B4-4AD9-B176-D2589ACA54EB}"/>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journey's worth is this leg's reward plus what remains beyond</a:t>
            </a:r>
          </a:p>
        </p:txBody>
      </p:sp>
      <p:sp>
        <p:nvSpPr>
          <p:cNvPr id="13" name="concept-74-metaphor-1">
            <a:extLst xmlns:a="http://schemas.openxmlformats.org/drawingml/2006/main">
              <a:ext uri="{FF2B5EF4-FFF2-40B4-BE49-F238E27FC236}">
                <a16:creationId xmlns:a16="http://schemas.microsoft.com/office/drawing/2014/main" id="{A7C7D8DF-4B09-47A6-A841-062B663D68BA}"/>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next stop.</a:t>
            </a:r>
          </a:p>
        </p:txBody>
      </p:sp>
      <p:sp>
        <p:nvSpPr>
          <p:cNvPr id="14" name="concept-74-footer-0">
            <a:extLst xmlns:a="http://schemas.openxmlformats.org/drawingml/2006/main">
              <a:ext uri="{FF2B5EF4-FFF2-40B4-BE49-F238E27FC236}">
                <a16:creationId xmlns:a16="http://schemas.microsoft.com/office/drawing/2014/main" id="{07C16B26-7D61-4476-A4B3-3C873E7C760D}"/>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Exploration and exploitation</a:t>
            </a:r>
          </a:p>
        </p:txBody>
      </p:sp>
    </p:spTree>
    <p:extLst>
      <p:ext uri="{BB962C8B-B14F-4D97-AF65-F5344CB8AC3E}">
        <p14:creationId xmlns:p14="http://schemas.microsoft.com/office/powerpoint/2010/main" val="835452383"/>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75-chapter-0">
            <a:extLst xmlns:a="http://schemas.openxmlformats.org/drawingml/2006/main">
              <a:ext uri="{FF2B5EF4-FFF2-40B4-BE49-F238E27FC236}">
                <a16:creationId xmlns:a16="http://schemas.microsoft.com/office/drawing/2014/main" id="{7888F471-3152-419F-9719-19B11014E445}"/>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075 / 100 · REINFORCEMENT LEARNING AND CONTROL</a:t>
            </a:r>
          </a:p>
        </p:txBody>
      </p:sp>
      <p:sp>
        <p:nvSpPr>
          <p:cNvPr id="2" name="concept-75-title-0">
            <a:extLst xmlns:a="http://schemas.openxmlformats.org/drawingml/2006/main">
              <a:ext uri="{FF2B5EF4-FFF2-40B4-BE49-F238E27FC236}">
                <a16:creationId xmlns:a16="http://schemas.microsoft.com/office/drawing/2014/main" id="{3664C669-70CD-4C6F-B9DD-D0976774B843}"/>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Exploration and exploitation</a:t>
            </a:r>
          </a:p>
        </p:txBody>
      </p:sp>
      <p:sp>
        <p:nvSpPr>
          <p:cNvPr id="3" name="concept-75-definition-label-0">
            <a:extLst xmlns:a="http://schemas.openxmlformats.org/drawingml/2006/main">
              <a:ext uri="{FF2B5EF4-FFF2-40B4-BE49-F238E27FC236}">
                <a16:creationId xmlns:a16="http://schemas.microsoft.com/office/drawing/2014/main" id="{B08242F6-EDE4-47C6-B75A-27A82406E3A2}"/>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75-definition-0">
            <a:extLst xmlns:a="http://schemas.openxmlformats.org/drawingml/2006/main">
              <a:ext uri="{FF2B5EF4-FFF2-40B4-BE49-F238E27FC236}">
                <a16:creationId xmlns:a16="http://schemas.microsoft.com/office/drawing/2014/main" id="{0A59EF80-CCEE-48DA-A8D3-E367762D1D99}"/>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Exploitation chooses what currently appears best. Exploration</a:t>
            </a:r>
          </a:p>
        </p:txBody>
      </p:sp>
      <p:sp>
        <p:nvSpPr>
          <p:cNvPr id="5" name="concept-75-definition-1">
            <a:extLst xmlns:a="http://schemas.openxmlformats.org/drawingml/2006/main">
              <a:ext uri="{FF2B5EF4-FFF2-40B4-BE49-F238E27FC236}">
                <a16:creationId xmlns:a16="http://schemas.microsoft.com/office/drawing/2014/main" id="{A3C935A9-0283-48A4-94C5-998D6BAF086C}"/>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gathers information by trying alternatives that may improve</a:t>
            </a:r>
          </a:p>
        </p:txBody>
      </p:sp>
      <p:sp>
        <p:nvSpPr>
          <p:cNvPr id="6" name="concept-75-definition-2">
            <a:extLst xmlns:a="http://schemas.openxmlformats.org/drawingml/2006/main">
              <a:ext uri="{FF2B5EF4-FFF2-40B4-BE49-F238E27FC236}">
                <a16:creationId xmlns:a16="http://schemas.microsoft.com/office/drawing/2014/main" id="{5B243136-A418-442A-998E-64E488E9BC9B}"/>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future decisions.</a:t>
            </a:r>
          </a:p>
        </p:txBody>
      </p:sp>
      <p:sp>
        <p:nvSpPr>
          <p:cNvPr id="7" name="concept-75-formula-0">
            <a:extLst xmlns:a="http://schemas.openxmlformats.org/drawingml/2006/main">
              <a:ext uri="{FF2B5EF4-FFF2-40B4-BE49-F238E27FC236}">
                <a16:creationId xmlns:a16="http://schemas.microsoft.com/office/drawing/2014/main" id="{D9E52FC7-7CF5-4B97-8638-8346E71D7FB4}"/>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ε-greedy: explore with probability ε; otherwise choose arg</a:t>
            </a:r>
          </a:p>
        </p:txBody>
      </p:sp>
      <p:sp>
        <p:nvSpPr>
          <p:cNvPr id="8" name="concept-75-formula-1">
            <a:extLst xmlns:a="http://schemas.openxmlformats.org/drawingml/2006/main">
              <a:ext uri="{FF2B5EF4-FFF2-40B4-BE49-F238E27FC236}">
                <a16:creationId xmlns:a16="http://schemas.microsoft.com/office/drawing/2014/main" id="{865093B3-E2BF-4BAC-80DE-C87600BE86D8}"/>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max_a Q(s, a)</a:t>
            </a:r>
          </a:p>
        </p:txBody>
      </p:sp>
      <p:sp>
        <p:nvSpPr>
          <p:cNvPr id="9" name="concept-75-example-label-0">
            <a:extLst xmlns:a="http://schemas.openxmlformats.org/drawingml/2006/main">
              <a:ext uri="{FF2B5EF4-FFF2-40B4-BE49-F238E27FC236}">
                <a16:creationId xmlns:a16="http://schemas.microsoft.com/office/drawing/2014/main" id="{5BBAAE2C-9A4C-4C33-B6D3-61AF0AF9DCF0}"/>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10" name="concept-75-example-0">
            <a:extLst xmlns:a="http://schemas.openxmlformats.org/drawingml/2006/main">
              <a:ext uri="{FF2B5EF4-FFF2-40B4-BE49-F238E27FC236}">
                <a16:creationId xmlns:a16="http://schemas.microsoft.com/office/drawing/2014/main" id="{5BFC28E9-565A-4BD5-8B17-7665D055B32F}"/>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With ε = 0.1 over 100 decisions, expect about 10</a:t>
            </a:r>
          </a:p>
        </p:txBody>
      </p:sp>
      <p:sp>
        <p:nvSpPr>
          <p:cNvPr id="11" name="concept-75-example-1">
            <a:extLst xmlns:a="http://schemas.openxmlformats.org/drawingml/2006/main">
              <a:ext uri="{FF2B5EF4-FFF2-40B4-BE49-F238E27FC236}">
                <a16:creationId xmlns:a16="http://schemas.microsoft.com/office/drawing/2014/main" id="{C30D558A-F1EB-4BBB-8855-1F9EE03D8CD1}"/>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exploration-branch choices, not exactly 10.</a:t>
            </a:r>
          </a:p>
        </p:txBody>
      </p:sp>
      <p:sp>
        <p:nvSpPr>
          <p:cNvPr id="12" name="concept-75-metaphor-label-0">
            <a:extLst xmlns:a="http://schemas.openxmlformats.org/drawingml/2006/main">
              <a:ext uri="{FF2B5EF4-FFF2-40B4-BE49-F238E27FC236}">
                <a16:creationId xmlns:a16="http://schemas.microsoft.com/office/drawing/2014/main" id="{26F0F337-1123-4CC0-8A62-1CF865B05ADF}"/>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3" name="concept-75-metaphor-0">
            <a:extLst xmlns:a="http://schemas.openxmlformats.org/drawingml/2006/main">
              <a:ext uri="{FF2B5EF4-FFF2-40B4-BE49-F238E27FC236}">
                <a16:creationId xmlns:a16="http://schemas.microsoft.com/office/drawing/2014/main" id="{ECBAD0EB-B2AD-4C72-91B0-B1E73F487EEB}"/>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Return to your favorite food stall, but sometimes try another to</a:t>
            </a:r>
          </a:p>
        </p:txBody>
      </p:sp>
      <p:sp>
        <p:nvSpPr>
          <p:cNvPr id="14" name="concept-75-metaphor-1">
            <a:extLst xmlns:a="http://schemas.openxmlformats.org/drawingml/2006/main">
              <a:ext uri="{FF2B5EF4-FFF2-40B4-BE49-F238E27FC236}">
                <a16:creationId xmlns:a16="http://schemas.microsoft.com/office/drawing/2014/main" id="{187CD79E-A5D3-4086-891D-85CCC51F06AF}"/>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discover a better one.</a:t>
            </a:r>
          </a:p>
        </p:txBody>
      </p:sp>
      <p:sp>
        <p:nvSpPr>
          <p:cNvPr id="15" name="concept-75-footer-0">
            <a:extLst xmlns:a="http://schemas.openxmlformats.org/drawingml/2006/main">
              <a:ext uri="{FF2B5EF4-FFF2-40B4-BE49-F238E27FC236}">
                <a16:creationId xmlns:a16="http://schemas.microsoft.com/office/drawing/2014/main" id="{2927545D-F1E6-4960-9345-A3B24605958B}"/>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Q-learning</a:t>
            </a:r>
          </a:p>
        </p:txBody>
      </p:sp>
    </p:spTree>
    <p:extLst>
      <p:ext uri="{BB962C8B-B14F-4D97-AF65-F5344CB8AC3E}">
        <p14:creationId xmlns:p14="http://schemas.microsoft.com/office/powerpoint/2010/main" val="852333931"/>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76-chapter-0">
            <a:extLst xmlns:a="http://schemas.openxmlformats.org/drawingml/2006/main">
              <a:ext uri="{FF2B5EF4-FFF2-40B4-BE49-F238E27FC236}">
                <a16:creationId xmlns:a16="http://schemas.microsoft.com/office/drawing/2014/main" id="{801A6972-A845-4F97-AFEC-CB9A5E61C936}"/>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076 / 100 · REINFORCEMENT LEARNING AND CONTROL</a:t>
            </a:r>
          </a:p>
        </p:txBody>
      </p:sp>
      <p:sp>
        <p:nvSpPr>
          <p:cNvPr id="2" name="concept-76-title-0">
            <a:extLst xmlns:a="http://schemas.openxmlformats.org/drawingml/2006/main">
              <a:ext uri="{FF2B5EF4-FFF2-40B4-BE49-F238E27FC236}">
                <a16:creationId xmlns:a16="http://schemas.microsoft.com/office/drawing/2014/main" id="{5CABE060-A701-4FBA-A2DB-56AACFCE649B}"/>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Q-learning</a:t>
            </a:r>
          </a:p>
        </p:txBody>
      </p:sp>
      <p:sp>
        <p:nvSpPr>
          <p:cNvPr id="3" name="concept-76-definition-label-0">
            <a:extLst xmlns:a="http://schemas.openxmlformats.org/drawingml/2006/main">
              <a:ext uri="{FF2B5EF4-FFF2-40B4-BE49-F238E27FC236}">
                <a16:creationId xmlns:a16="http://schemas.microsoft.com/office/drawing/2014/main" id="{6A9C409C-B922-4E81-8AAB-9064C8C6AA0E}"/>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76-definition-0">
            <a:extLst xmlns:a="http://schemas.openxmlformats.org/drawingml/2006/main">
              <a:ext uri="{FF2B5EF4-FFF2-40B4-BE49-F238E27FC236}">
                <a16:creationId xmlns:a16="http://schemas.microsoft.com/office/drawing/2014/main" id="{416E73B7-9E1A-4D1A-80A8-EC928ED312E2}"/>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Q-learning updates an action-value estimate toward a target</a:t>
            </a:r>
          </a:p>
        </p:txBody>
      </p:sp>
      <p:sp>
        <p:nvSpPr>
          <p:cNvPr id="5" name="concept-76-definition-1">
            <a:extLst xmlns:a="http://schemas.openxmlformats.org/drawingml/2006/main">
              <a:ext uri="{FF2B5EF4-FFF2-40B4-BE49-F238E27FC236}">
                <a16:creationId xmlns:a16="http://schemas.microsoft.com/office/drawing/2014/main" id="{48D3FC69-7037-400D-9255-0F6D61E20FAD}"/>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using observed reward and the largest estimated next-state</a:t>
            </a:r>
          </a:p>
        </p:txBody>
      </p:sp>
      <p:sp>
        <p:nvSpPr>
          <p:cNvPr id="6" name="concept-76-definition-2">
            <a:extLst xmlns:a="http://schemas.openxmlformats.org/drawingml/2006/main">
              <a:ext uri="{FF2B5EF4-FFF2-40B4-BE49-F238E27FC236}">
                <a16:creationId xmlns:a16="http://schemas.microsoft.com/office/drawing/2014/main" id="{B42CBE0A-6CF9-458E-8215-591AAE5F1B3B}"/>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action value.</a:t>
            </a:r>
          </a:p>
        </p:txBody>
      </p:sp>
      <p:sp>
        <p:nvSpPr>
          <p:cNvPr id="7" name="concept-76-formula-0">
            <a:extLst xmlns:a="http://schemas.openxmlformats.org/drawingml/2006/main">
              <a:ext uri="{FF2B5EF4-FFF2-40B4-BE49-F238E27FC236}">
                <a16:creationId xmlns:a16="http://schemas.microsoft.com/office/drawing/2014/main" id="{319A0E2A-6CC8-41DF-907D-D1CB5127E2DD}"/>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Q(s, a) ← Q(s, a) + α[r + γ max_b Q(s′, b) − Q(s, a)]</a:t>
            </a:r>
          </a:p>
        </p:txBody>
      </p:sp>
      <p:sp>
        <p:nvSpPr>
          <p:cNvPr id="8" name="concept-76-example-label-0">
            <a:extLst xmlns:a="http://schemas.openxmlformats.org/drawingml/2006/main">
              <a:ext uri="{FF2B5EF4-FFF2-40B4-BE49-F238E27FC236}">
                <a16:creationId xmlns:a16="http://schemas.microsoft.com/office/drawing/2014/main" id="{43AC1985-125A-4F41-B575-1230580988D9}"/>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76-example-0">
            <a:extLst xmlns:a="http://schemas.openxmlformats.org/drawingml/2006/main">
              <a:ext uri="{FF2B5EF4-FFF2-40B4-BE49-F238E27FC236}">
                <a16:creationId xmlns:a16="http://schemas.microsoft.com/office/drawing/2014/main" id="{D566FA92-A4DA-48C2-A976-BB9137EFE32D}"/>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Q = 2, reward = 1, γ = 0.5, best next Q = 6. Target = 1 +</a:t>
            </a:r>
          </a:p>
        </p:txBody>
      </p:sp>
      <p:sp>
        <p:nvSpPr>
          <p:cNvPr id="10" name="concept-76-example-1">
            <a:extLst xmlns:a="http://schemas.openxmlformats.org/drawingml/2006/main">
              <a:ext uri="{FF2B5EF4-FFF2-40B4-BE49-F238E27FC236}">
                <a16:creationId xmlns:a16="http://schemas.microsoft.com/office/drawing/2014/main" id="{994238CE-C745-480C-AE7D-654F7A7A566B}"/>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0.5×6 = 4. With α = 0.25, new Q = 2 + 0.25×(4−2) = 2.5.</a:t>
            </a:r>
          </a:p>
        </p:txBody>
      </p:sp>
      <p:sp>
        <p:nvSpPr>
          <p:cNvPr id="11" name="concept-76-metaphor-label-0">
            <a:extLst xmlns:a="http://schemas.openxmlformats.org/drawingml/2006/main">
              <a:ext uri="{FF2B5EF4-FFF2-40B4-BE49-F238E27FC236}">
                <a16:creationId xmlns:a16="http://schemas.microsoft.com/office/drawing/2014/main" id="{10056AE6-E57B-4603-A299-827EB40D29BF}"/>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76-metaphor-0">
            <a:extLst xmlns:a="http://schemas.openxmlformats.org/drawingml/2006/main">
              <a:ext uri="{FF2B5EF4-FFF2-40B4-BE49-F238E27FC236}">
                <a16:creationId xmlns:a16="http://schemas.microsoft.com/office/drawing/2014/main" id="{0612A0AF-9430-4AB3-A933-C185CB023A41}"/>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Revise a travel guide whenever a journey reveals a better</a:t>
            </a:r>
          </a:p>
        </p:txBody>
      </p:sp>
      <p:sp>
        <p:nvSpPr>
          <p:cNvPr id="13" name="concept-76-metaphor-1">
            <a:extLst xmlns:a="http://schemas.openxmlformats.org/drawingml/2006/main">
              <a:ext uri="{FF2B5EF4-FFF2-40B4-BE49-F238E27FC236}">
                <a16:creationId xmlns:a16="http://schemas.microsoft.com/office/drawing/2014/main" id="{3CAC9AF0-F926-43DA-95E9-7BA44B6B27C7}"/>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estimate of the route's payoff.</a:t>
            </a:r>
          </a:p>
        </p:txBody>
      </p:sp>
      <p:sp>
        <p:nvSpPr>
          <p:cNvPr id="14" name="concept-76-footer-0">
            <a:extLst xmlns:a="http://schemas.openxmlformats.org/drawingml/2006/main">
              <a:ext uri="{FF2B5EF4-FFF2-40B4-BE49-F238E27FC236}">
                <a16:creationId xmlns:a16="http://schemas.microsoft.com/office/drawing/2014/main" id="{4780F1D8-E4A2-4256-A32D-B3B479732228}"/>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Policy gradient</a:t>
            </a:r>
          </a:p>
        </p:txBody>
      </p:sp>
    </p:spTree>
    <p:extLst>
      <p:ext uri="{BB962C8B-B14F-4D97-AF65-F5344CB8AC3E}">
        <p14:creationId xmlns:p14="http://schemas.microsoft.com/office/powerpoint/2010/main" val="922479180"/>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77-chapter-0">
            <a:extLst xmlns:a="http://schemas.openxmlformats.org/drawingml/2006/main">
              <a:ext uri="{FF2B5EF4-FFF2-40B4-BE49-F238E27FC236}">
                <a16:creationId xmlns:a16="http://schemas.microsoft.com/office/drawing/2014/main" id="{36507EE7-ECF5-44F6-993F-E06483506E68}"/>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077 / 100 · REINFORCEMENT LEARNING AND CONTROL</a:t>
            </a:r>
          </a:p>
        </p:txBody>
      </p:sp>
      <p:sp>
        <p:nvSpPr>
          <p:cNvPr id="2" name="concept-77-title-0">
            <a:extLst xmlns:a="http://schemas.openxmlformats.org/drawingml/2006/main">
              <a:ext uri="{FF2B5EF4-FFF2-40B4-BE49-F238E27FC236}">
                <a16:creationId xmlns:a16="http://schemas.microsoft.com/office/drawing/2014/main" id="{278885A6-1FA4-4AA6-B8D1-C960EE017959}"/>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Policy gradient</a:t>
            </a:r>
          </a:p>
        </p:txBody>
      </p:sp>
      <p:sp>
        <p:nvSpPr>
          <p:cNvPr id="3" name="concept-77-definition-label-0">
            <a:extLst xmlns:a="http://schemas.openxmlformats.org/drawingml/2006/main">
              <a:ext uri="{FF2B5EF4-FFF2-40B4-BE49-F238E27FC236}">
                <a16:creationId xmlns:a16="http://schemas.microsoft.com/office/drawing/2014/main" id="{40419614-3410-4E6A-B14F-DAB6B5F5573F}"/>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77-definition-0">
            <a:extLst xmlns:a="http://schemas.openxmlformats.org/drawingml/2006/main">
              <a:ext uri="{FF2B5EF4-FFF2-40B4-BE49-F238E27FC236}">
                <a16:creationId xmlns:a16="http://schemas.microsoft.com/office/drawing/2014/main" id="{6773DE31-032E-4AAD-8A09-CD483E3F04DF}"/>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Policy-gradient methods adjust a policy’s parameters to</a:t>
            </a:r>
          </a:p>
        </p:txBody>
      </p:sp>
      <p:sp>
        <p:nvSpPr>
          <p:cNvPr id="5" name="concept-77-definition-1">
            <a:extLst xmlns:a="http://schemas.openxmlformats.org/drawingml/2006/main">
              <a:ext uri="{FF2B5EF4-FFF2-40B4-BE49-F238E27FC236}">
                <a16:creationId xmlns:a16="http://schemas.microsoft.com/office/drawing/2014/main" id="{2C92C43D-E9EA-40DB-9164-070E04862224}"/>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increase expected return. They add a step along the gradient,</a:t>
            </a:r>
          </a:p>
        </p:txBody>
      </p:sp>
      <p:sp>
        <p:nvSpPr>
          <p:cNvPr id="6" name="concept-77-definition-2">
            <a:extLst xmlns:a="http://schemas.openxmlformats.org/drawingml/2006/main">
              <a:ext uri="{FF2B5EF4-FFF2-40B4-BE49-F238E27FC236}">
                <a16:creationId xmlns:a16="http://schemas.microsoft.com/office/drawing/2014/main" id="{2E43F3AD-7DD3-4C70-8542-937CBEB340BF}"/>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which points toward local improvement.</a:t>
            </a:r>
          </a:p>
        </p:txBody>
      </p:sp>
      <p:sp>
        <p:nvSpPr>
          <p:cNvPr id="7" name="concept-77-formula-0">
            <a:extLst xmlns:a="http://schemas.openxmlformats.org/drawingml/2006/main">
              <a:ext uri="{FF2B5EF4-FFF2-40B4-BE49-F238E27FC236}">
                <a16:creationId xmlns:a16="http://schemas.microsoft.com/office/drawing/2014/main" id="{7CA40D09-650F-48BB-A131-3AAD446EAEB7}"/>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J(θ) = Eπθ[G]; θ⁺ = θ + η∇J(θ)</a:t>
            </a:r>
          </a:p>
        </p:txBody>
      </p:sp>
      <p:sp>
        <p:nvSpPr>
          <p:cNvPr id="8" name="concept-77-example-label-0">
            <a:extLst xmlns:a="http://schemas.openxmlformats.org/drawingml/2006/main">
              <a:ext uri="{FF2B5EF4-FFF2-40B4-BE49-F238E27FC236}">
                <a16:creationId xmlns:a16="http://schemas.microsoft.com/office/drawing/2014/main" id="{99D4F158-EC63-4AE7-A930-318C5410A29A}"/>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77-example-0">
            <a:extLst xmlns:a="http://schemas.openxmlformats.org/drawingml/2006/main">
              <a:ext uri="{FF2B5EF4-FFF2-40B4-BE49-F238E27FC236}">
                <a16:creationId xmlns:a16="http://schemas.microsoft.com/office/drawing/2014/main" id="{352ACDDE-FCE8-4ABB-BA3E-DCF350D0BFA3}"/>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Choose A with probability p. Rewards: A gives 4, B gives 1. J(p)</a:t>
            </a:r>
          </a:p>
        </p:txBody>
      </p:sp>
      <p:sp>
        <p:nvSpPr>
          <p:cNvPr id="10" name="concept-77-example-1">
            <a:extLst xmlns:a="http://schemas.openxmlformats.org/drawingml/2006/main">
              <a:ext uri="{FF2B5EF4-FFF2-40B4-BE49-F238E27FC236}">
                <a16:creationId xmlns:a16="http://schemas.microsoft.com/office/drawing/2014/main" id="{51423665-2747-4C74-ABC7-327CD4774045}"/>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 4p + (1−p) = 1+3p, so J′(p) = 3. With η = 0.1: p⁺ = 0.5 +</a:t>
            </a:r>
          </a:p>
        </p:txBody>
      </p:sp>
      <p:sp>
        <p:nvSpPr>
          <p:cNvPr id="15" name="concept-77-example-2">
            <a:extLst xmlns:a="http://schemas.openxmlformats.org/drawingml/2006/main">
              <a:ext uri="{FF2B5EF4-FFF2-40B4-BE49-F238E27FC236}">
                <a16:creationId xmlns:a16="http://schemas.microsoft.com/office/drawing/2014/main" id="{6A53FAE5-E97E-4C7C-850E-408551B53401}"/>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0.1×3 = 0.8.</a:t>
            </a:r>
          </a:p>
        </p:txBody>
      </p:sp>
      <p:sp>
        <p:nvSpPr>
          <p:cNvPr id="11" name="concept-77-metaphor-label-0">
            <a:extLst xmlns:a="http://schemas.openxmlformats.org/drawingml/2006/main">
              <a:ext uri="{FF2B5EF4-FFF2-40B4-BE49-F238E27FC236}">
                <a16:creationId xmlns:a16="http://schemas.microsoft.com/office/drawing/2014/main" id="{F06D0D30-7479-44EE-A0D2-9C8F576975C7}"/>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77-metaphor-0">
            <a:extLst xmlns:a="http://schemas.openxmlformats.org/drawingml/2006/main">
              <a:ext uri="{FF2B5EF4-FFF2-40B4-BE49-F238E27FC236}">
                <a16:creationId xmlns:a16="http://schemas.microsoft.com/office/drawing/2014/main" id="{9F69DD83-67C4-4AFB-8E31-A1E2AFD0A359}"/>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Strengthen decisions that led to better outcomes, using</a:t>
            </a:r>
          </a:p>
        </p:txBody>
      </p:sp>
      <p:sp>
        <p:nvSpPr>
          <p:cNvPr id="13" name="concept-77-metaphor-1">
            <a:extLst xmlns:a="http://schemas.openxmlformats.org/drawingml/2006/main">
              <a:ext uri="{FF2B5EF4-FFF2-40B4-BE49-F238E27FC236}">
                <a16:creationId xmlns:a16="http://schemas.microsoft.com/office/drawing/2014/main" id="{1CFF6D86-11E6-4DBF-8907-97498C4B447D}"/>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measured credit rather than copying every action.</a:t>
            </a:r>
          </a:p>
        </p:txBody>
      </p:sp>
      <p:sp>
        <p:nvSpPr>
          <p:cNvPr id="14" name="concept-77-footer-0">
            <a:extLst xmlns:a="http://schemas.openxmlformats.org/drawingml/2006/main">
              <a:ext uri="{FF2B5EF4-FFF2-40B4-BE49-F238E27FC236}">
                <a16:creationId xmlns:a16="http://schemas.microsoft.com/office/drawing/2014/main" id="{FA03F7C7-2664-4183-B2B9-97BC1349A3F3}"/>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Model-based RL</a:t>
            </a:r>
          </a:p>
        </p:txBody>
      </p:sp>
    </p:spTree>
    <p:extLst>
      <p:ext uri="{BB962C8B-B14F-4D97-AF65-F5344CB8AC3E}">
        <p14:creationId xmlns:p14="http://schemas.microsoft.com/office/powerpoint/2010/main" val="705211228"/>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78-chapter-0">
            <a:extLst xmlns:a="http://schemas.openxmlformats.org/drawingml/2006/main">
              <a:ext uri="{FF2B5EF4-FFF2-40B4-BE49-F238E27FC236}">
                <a16:creationId xmlns:a16="http://schemas.microsoft.com/office/drawing/2014/main" id="{E655489B-DB02-471D-9FE5-71F7562BCB78}"/>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078 / 100 · REINFORCEMENT LEARNING AND CONTROL</a:t>
            </a:r>
          </a:p>
        </p:txBody>
      </p:sp>
      <p:sp>
        <p:nvSpPr>
          <p:cNvPr id="2" name="concept-78-title-0">
            <a:extLst xmlns:a="http://schemas.openxmlformats.org/drawingml/2006/main">
              <a:ext uri="{FF2B5EF4-FFF2-40B4-BE49-F238E27FC236}">
                <a16:creationId xmlns:a16="http://schemas.microsoft.com/office/drawing/2014/main" id="{C507A951-CB75-411B-BF9E-717A0975D7C0}"/>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Model-based RL</a:t>
            </a:r>
          </a:p>
        </p:txBody>
      </p:sp>
      <p:sp>
        <p:nvSpPr>
          <p:cNvPr id="3" name="concept-78-definition-label-0">
            <a:extLst xmlns:a="http://schemas.openxmlformats.org/drawingml/2006/main">
              <a:ext uri="{FF2B5EF4-FFF2-40B4-BE49-F238E27FC236}">
                <a16:creationId xmlns:a16="http://schemas.microsoft.com/office/drawing/2014/main" id="{392D3367-E697-43A5-9139-0A9892AC8F37}"/>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78-definition-0">
            <a:extLst xmlns:a="http://schemas.openxmlformats.org/drawingml/2006/main">
              <a:ext uri="{FF2B5EF4-FFF2-40B4-BE49-F238E27FC236}">
                <a16:creationId xmlns:a16="http://schemas.microsoft.com/office/drawing/2014/main" id="{92D7375E-0ED4-4C85-8ED9-D587BD529623}"/>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Model-based RL uses a model of environment changes or</a:t>
            </a:r>
          </a:p>
        </p:txBody>
      </p:sp>
      <p:sp>
        <p:nvSpPr>
          <p:cNvPr id="5" name="concept-78-definition-1">
            <a:extLst xmlns:a="http://schemas.openxmlformats.org/drawingml/2006/main">
              <a:ext uri="{FF2B5EF4-FFF2-40B4-BE49-F238E27FC236}">
                <a16:creationId xmlns:a16="http://schemas.microsoft.com/office/drawing/2014/main" id="{8434030F-20F5-43E6-BAD8-6C8C712C61B8}"/>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rewards to help choose actions. It can plan with this model or</a:t>
            </a:r>
          </a:p>
        </p:txBody>
      </p:sp>
      <p:sp>
        <p:nvSpPr>
          <p:cNvPr id="6" name="concept-78-definition-2">
            <a:extLst xmlns:a="http://schemas.openxmlformats.org/drawingml/2006/main">
              <a:ext uri="{FF2B5EF4-FFF2-40B4-BE49-F238E27FC236}">
                <a16:creationId xmlns:a16="http://schemas.microsoft.com/office/drawing/2014/main" id="{FCE95BB6-63E6-4B0D-A7D8-75C4315CA419}"/>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learn from simulated experience.</a:t>
            </a:r>
          </a:p>
        </p:txBody>
      </p:sp>
      <p:sp>
        <p:nvSpPr>
          <p:cNvPr id="7" name="concept-78-formula-0">
            <a:extLst xmlns:a="http://schemas.openxmlformats.org/drawingml/2006/main">
              <a:ext uri="{FF2B5EF4-FFF2-40B4-BE49-F238E27FC236}">
                <a16:creationId xmlns:a16="http://schemas.microsoft.com/office/drawing/2014/main" id="{7196C67D-1946-415E-83F2-98900C216406}"/>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ŝₜ₊₁ = F̂(sₜ, aₜ); choose actions using predicted returns</a:t>
            </a:r>
          </a:p>
        </p:txBody>
      </p:sp>
      <p:sp>
        <p:nvSpPr>
          <p:cNvPr id="8" name="concept-78-example-label-0">
            <a:extLst xmlns:a="http://schemas.openxmlformats.org/drawingml/2006/main">
              <a:ext uri="{FF2B5EF4-FFF2-40B4-BE49-F238E27FC236}">
                <a16:creationId xmlns:a16="http://schemas.microsoft.com/office/drawing/2014/main" id="{80C49105-EF8F-4F60-8570-C234D6026C1B}"/>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78-example-0">
            <a:extLst xmlns:a="http://schemas.openxmlformats.org/drawingml/2006/main">
              <a:ext uri="{FF2B5EF4-FFF2-40B4-BE49-F238E27FC236}">
                <a16:creationId xmlns:a16="http://schemas.microsoft.com/office/drawing/2014/main" id="{1E13BD56-9116-468E-AC30-74986F8F1EB4}"/>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learned tank model predicts that “fill” yields return 7 and</a:t>
            </a:r>
          </a:p>
        </p:txBody>
      </p:sp>
      <p:sp>
        <p:nvSpPr>
          <p:cNvPr id="10" name="concept-78-example-1">
            <a:extLst xmlns:a="http://schemas.openxmlformats.org/drawingml/2006/main">
              <a:ext uri="{FF2B5EF4-FFF2-40B4-BE49-F238E27FC236}">
                <a16:creationId xmlns:a16="http://schemas.microsoft.com/office/drawing/2014/main" id="{A430C6A8-28BE-467B-9AA9-9D68833A5788}"/>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“wait” yields 5. Choose “fill,” observe the real outcome, and</a:t>
            </a:r>
          </a:p>
        </p:txBody>
      </p:sp>
      <p:sp>
        <p:nvSpPr>
          <p:cNvPr id="14" name="concept-78-example-2">
            <a:extLst xmlns:a="http://schemas.openxmlformats.org/drawingml/2006/main">
              <a:ext uri="{FF2B5EF4-FFF2-40B4-BE49-F238E27FC236}">
                <a16:creationId xmlns:a16="http://schemas.microsoft.com/office/drawing/2014/main" id="{73707F81-4206-4C6F-84A5-C3AB739F027B}"/>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use it to check or improve the model.</a:t>
            </a:r>
          </a:p>
        </p:txBody>
      </p:sp>
      <p:sp>
        <p:nvSpPr>
          <p:cNvPr id="11" name="concept-78-metaphor-label-0">
            <a:extLst xmlns:a="http://schemas.openxmlformats.org/drawingml/2006/main">
              <a:ext uri="{FF2B5EF4-FFF2-40B4-BE49-F238E27FC236}">
                <a16:creationId xmlns:a16="http://schemas.microsoft.com/office/drawing/2014/main" id="{41FE90C8-805F-47DF-BBDF-9E71294DA21D}"/>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78-metaphor-0">
            <a:extLst xmlns:a="http://schemas.openxmlformats.org/drawingml/2006/main">
              <a:ext uri="{FF2B5EF4-FFF2-40B4-BE49-F238E27FC236}">
                <a16:creationId xmlns:a16="http://schemas.microsoft.com/office/drawing/2014/main" id="{05EBE11A-79B2-4512-A859-BE050ABE97FC}"/>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Practice routes in a flight simulator before flying the aircraft.</a:t>
            </a:r>
          </a:p>
        </p:txBody>
      </p:sp>
      <p:sp>
        <p:nvSpPr>
          <p:cNvPr id="13" name="concept-78-footer-0">
            <a:extLst xmlns:a="http://schemas.openxmlformats.org/drawingml/2006/main">
              <a:ext uri="{FF2B5EF4-FFF2-40B4-BE49-F238E27FC236}">
                <a16:creationId xmlns:a16="http://schemas.microsoft.com/office/drawing/2014/main" id="{2FA63ED2-49BA-4D35-94E5-5065AE034D67}"/>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Safety constraint</a:t>
            </a:r>
          </a:p>
        </p:txBody>
      </p:sp>
    </p:spTree>
    <p:extLst>
      <p:ext uri="{BB962C8B-B14F-4D97-AF65-F5344CB8AC3E}">
        <p14:creationId xmlns:p14="http://schemas.microsoft.com/office/powerpoint/2010/main" val="833616340"/>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79-chapter-0">
            <a:extLst xmlns:a="http://schemas.openxmlformats.org/drawingml/2006/main">
              <a:ext uri="{FF2B5EF4-FFF2-40B4-BE49-F238E27FC236}">
                <a16:creationId xmlns:a16="http://schemas.microsoft.com/office/drawing/2014/main" id="{B2440D94-C638-48D9-BA94-2EF636761D2E}"/>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079 / 100 · REINFORCEMENT LEARNING AND CONTROL</a:t>
            </a:r>
          </a:p>
        </p:txBody>
      </p:sp>
      <p:sp>
        <p:nvSpPr>
          <p:cNvPr id="2" name="concept-79-title-0">
            <a:extLst xmlns:a="http://schemas.openxmlformats.org/drawingml/2006/main">
              <a:ext uri="{FF2B5EF4-FFF2-40B4-BE49-F238E27FC236}">
                <a16:creationId xmlns:a16="http://schemas.microsoft.com/office/drawing/2014/main" id="{94277593-0311-4515-8D5F-AE5A37B5FA94}"/>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Safety constraint</a:t>
            </a:r>
          </a:p>
        </p:txBody>
      </p:sp>
      <p:sp>
        <p:nvSpPr>
          <p:cNvPr id="3" name="concept-79-definition-label-0">
            <a:extLst xmlns:a="http://schemas.openxmlformats.org/drawingml/2006/main">
              <a:ext uri="{FF2B5EF4-FFF2-40B4-BE49-F238E27FC236}">
                <a16:creationId xmlns:a16="http://schemas.microsoft.com/office/drawing/2014/main" id="{EA325C79-94EC-4DF6-A4C7-CCF315EF5FF4}"/>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79-definition-0">
            <a:extLst xmlns:a="http://schemas.openxmlformats.org/drawingml/2006/main">
              <a:ext uri="{FF2B5EF4-FFF2-40B4-BE49-F238E27FC236}">
                <a16:creationId xmlns:a16="http://schemas.microsoft.com/office/drawing/2014/main" id="{F8DC14A2-4F9B-4BFB-A484-D7D91282E15A}"/>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safety constraint restricts allowed states or actions. A</a:t>
            </a:r>
          </a:p>
        </p:txBody>
      </p:sp>
      <p:sp>
        <p:nvSpPr>
          <p:cNvPr id="5" name="concept-79-definition-1">
            <a:extLst xmlns:a="http://schemas.openxmlformats.org/drawingml/2006/main">
              <a:ext uri="{FF2B5EF4-FFF2-40B4-BE49-F238E27FC236}">
                <a16:creationId xmlns:a16="http://schemas.microsoft.com/office/drawing/2014/main" id="{FAAB13EF-9E4C-4D98-A483-1719F729106F}"/>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constrained controller optimizes only among choices satisfying</a:t>
            </a:r>
          </a:p>
        </p:txBody>
      </p:sp>
      <p:sp>
        <p:nvSpPr>
          <p:cNvPr id="6" name="concept-79-definition-2">
            <a:extLst xmlns:a="http://schemas.openxmlformats.org/drawingml/2006/main">
              <a:ext uri="{FF2B5EF4-FFF2-40B4-BE49-F238E27FC236}">
                <a16:creationId xmlns:a16="http://schemas.microsoft.com/office/drawing/2014/main" id="{8243155F-8AD0-42D8-B87C-E6FF5A7CCB7F}"/>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its stated limits.</a:t>
            </a:r>
          </a:p>
        </p:txBody>
      </p:sp>
      <p:sp>
        <p:nvSpPr>
          <p:cNvPr id="7" name="concept-79-formula-0">
            <a:extLst xmlns:a="http://schemas.openxmlformats.org/drawingml/2006/main">
              <a:ext uri="{FF2B5EF4-FFF2-40B4-BE49-F238E27FC236}">
                <a16:creationId xmlns:a16="http://schemas.microsoft.com/office/drawing/2014/main" id="{D46EECCA-8A91-4569-BB92-09FA2AC9E232}"/>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maximize reward(a), subject to g(a) ≤ 0</a:t>
            </a:r>
          </a:p>
        </p:txBody>
      </p:sp>
      <p:sp>
        <p:nvSpPr>
          <p:cNvPr id="8" name="concept-79-example-label-0">
            <a:extLst xmlns:a="http://schemas.openxmlformats.org/drawingml/2006/main">
              <a:ext uri="{FF2B5EF4-FFF2-40B4-BE49-F238E27FC236}">
                <a16:creationId xmlns:a16="http://schemas.microsoft.com/office/drawing/2014/main" id="{A1406287-078B-4BC3-B537-AADD25E97565}"/>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79-example-0">
            <a:extLst xmlns:a="http://schemas.openxmlformats.org/drawingml/2006/main">
              <a:ext uri="{FF2B5EF4-FFF2-40B4-BE49-F238E27FC236}">
                <a16:creationId xmlns:a16="http://schemas.microsoft.com/office/drawing/2014/main" id="{0E0E3E05-D6CD-4502-BCB5-6843DF084C20}"/>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If a valve setting must satisfy a ≤ 5, a proposed setting of 7 is</a:t>
            </a:r>
          </a:p>
        </p:txBody>
      </p:sp>
      <p:sp>
        <p:nvSpPr>
          <p:cNvPr id="10" name="concept-79-example-1">
            <a:extLst xmlns:a="http://schemas.openxmlformats.org/drawingml/2006/main">
              <a:ext uri="{FF2B5EF4-FFF2-40B4-BE49-F238E27FC236}">
                <a16:creationId xmlns:a16="http://schemas.microsoft.com/office/drawing/2014/main" id="{FAF8CEC7-E521-4085-8A6C-C9146C9017C2}"/>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rejected even if its predicted reward is high.</a:t>
            </a:r>
          </a:p>
        </p:txBody>
      </p:sp>
      <p:sp>
        <p:nvSpPr>
          <p:cNvPr id="11" name="concept-79-metaphor-label-0">
            <a:extLst xmlns:a="http://schemas.openxmlformats.org/drawingml/2006/main">
              <a:ext uri="{FF2B5EF4-FFF2-40B4-BE49-F238E27FC236}">
                <a16:creationId xmlns:a16="http://schemas.microsoft.com/office/drawing/2014/main" id="{E0CE1159-B98C-4244-AEDA-C16FF5B19255}"/>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79-metaphor-0">
            <a:extLst xmlns:a="http://schemas.openxmlformats.org/drawingml/2006/main">
              <a:ext uri="{FF2B5EF4-FFF2-40B4-BE49-F238E27FC236}">
                <a16:creationId xmlns:a16="http://schemas.microsoft.com/office/drawing/2014/main" id="{4A57C01F-5668-46A0-8635-77747D66D077}"/>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game's boundary line is a rule, not a small negative score you</a:t>
            </a:r>
          </a:p>
        </p:txBody>
      </p:sp>
      <p:sp>
        <p:nvSpPr>
          <p:cNvPr id="13" name="concept-79-metaphor-1">
            <a:extLst xmlns:a="http://schemas.openxmlformats.org/drawingml/2006/main">
              <a:ext uri="{FF2B5EF4-FFF2-40B4-BE49-F238E27FC236}">
                <a16:creationId xmlns:a16="http://schemas.microsoft.com/office/drawing/2014/main" id="{A94DCAAE-0BEA-46E6-A2EA-AEF402136525}"/>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may pay to ignore.</a:t>
            </a:r>
          </a:p>
        </p:txBody>
      </p:sp>
      <p:sp>
        <p:nvSpPr>
          <p:cNvPr id="14" name="concept-79-footer-0">
            <a:extLst xmlns:a="http://schemas.openxmlformats.org/drawingml/2006/main">
              <a:ext uri="{FF2B5EF4-FFF2-40B4-BE49-F238E27FC236}">
                <a16:creationId xmlns:a16="http://schemas.microsoft.com/office/drawing/2014/main" id="{849CC233-94F9-42AD-AFAC-4696AD1C2F09}"/>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Model predictive control</a:t>
            </a:r>
          </a:p>
        </p:txBody>
      </p:sp>
    </p:spTree>
    <p:extLst>
      <p:ext uri="{BB962C8B-B14F-4D97-AF65-F5344CB8AC3E}">
        <p14:creationId xmlns:p14="http://schemas.microsoft.com/office/powerpoint/2010/main" val="1014373583"/>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oncept-80-chapter-0">
            <a:extLst xmlns:a="http://schemas.openxmlformats.org/drawingml/2006/main">
              <a:ext uri="{FF2B5EF4-FFF2-40B4-BE49-F238E27FC236}">
                <a16:creationId xmlns:a16="http://schemas.microsoft.com/office/drawing/2014/main" id="{B652C7D5-E31B-4D98-AF6F-895D1AA9C66A}"/>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080 / 100 · REINFORCEMENT LEARNING AND CONTROL</a:t>
            </a:r>
          </a:p>
        </p:txBody>
      </p:sp>
      <p:sp>
        <p:nvSpPr>
          <p:cNvPr id="2" name="concept-80-title-0">
            <a:extLst xmlns:a="http://schemas.openxmlformats.org/drawingml/2006/main">
              <a:ext uri="{FF2B5EF4-FFF2-40B4-BE49-F238E27FC236}">
                <a16:creationId xmlns:a16="http://schemas.microsoft.com/office/drawing/2014/main" id="{7F1E3179-3D76-4D39-91B3-E4B6218158E1}"/>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Model predictive control</a:t>
            </a:r>
          </a:p>
        </p:txBody>
      </p:sp>
      <p:sp>
        <p:nvSpPr>
          <p:cNvPr id="3" name="concept-80-definition-label-0">
            <a:extLst xmlns:a="http://schemas.openxmlformats.org/drawingml/2006/main">
              <a:ext uri="{FF2B5EF4-FFF2-40B4-BE49-F238E27FC236}">
                <a16:creationId xmlns:a16="http://schemas.microsoft.com/office/drawing/2014/main" id="{0B86C5DD-B386-41D1-BE10-96D372DD3015}"/>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80-definition-0">
            <a:extLst xmlns:a="http://schemas.openxmlformats.org/drawingml/2006/main">
              <a:ext uri="{FF2B5EF4-FFF2-40B4-BE49-F238E27FC236}">
                <a16:creationId xmlns:a16="http://schemas.microsoft.com/office/drawing/2014/main" id="{7F8E4C8E-5444-4A52-A776-DF96B431FC3B}"/>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MPC plans several actions using a model, executes the first,</a:t>
            </a:r>
          </a:p>
        </p:txBody>
      </p:sp>
      <p:sp>
        <p:nvSpPr>
          <p:cNvPr id="5" name="concept-80-definition-1">
            <a:extLst xmlns:a="http://schemas.openxmlformats.org/drawingml/2006/main">
              <a:ext uri="{FF2B5EF4-FFF2-40B4-BE49-F238E27FC236}">
                <a16:creationId xmlns:a16="http://schemas.microsoft.com/office/drawing/2014/main" id="{68B9DDCB-70C0-418B-AF14-A1B9EDAF37C4}"/>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then replans using new measurements. It minimizes a cost over</a:t>
            </a:r>
          </a:p>
        </p:txBody>
      </p:sp>
      <p:sp>
        <p:nvSpPr>
          <p:cNvPr id="6" name="concept-80-definition-2">
            <a:extLst xmlns:a="http://schemas.openxmlformats.org/drawingml/2006/main">
              <a:ext uri="{FF2B5EF4-FFF2-40B4-BE49-F238E27FC236}">
                <a16:creationId xmlns:a16="http://schemas.microsoft.com/office/drawing/2014/main" id="{3AD5009D-B581-43E6-B24F-68AE3ED5EEC8}"/>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fixed number of future steps.</a:t>
            </a:r>
          </a:p>
        </p:txBody>
      </p:sp>
      <p:sp>
        <p:nvSpPr>
          <p:cNvPr id="7" name="concept-80-formula-0">
            <a:extLst xmlns:a="http://schemas.openxmlformats.org/drawingml/2006/main">
              <a:ext uri="{FF2B5EF4-FFF2-40B4-BE49-F238E27FC236}">
                <a16:creationId xmlns:a16="http://schemas.microsoft.com/office/drawing/2014/main" id="{544D47FB-B6ED-42F6-A5AA-D30E7A8CA953}"/>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Minimize Σₖ₌₀ᴴ⁻¹ c(sₖ₊₁, aₖ), with sₖ₊₁ = F(sₖ, aₖ)</a:t>
            </a:r>
          </a:p>
        </p:txBody>
      </p:sp>
      <p:sp>
        <p:nvSpPr>
          <p:cNvPr id="15" name="concept-80-formula-1">
            <a:extLst xmlns:a="http://schemas.openxmlformats.org/drawingml/2006/main">
              <a:ext uri="{FF2B5EF4-FFF2-40B4-BE49-F238E27FC236}">
                <a16:creationId xmlns:a16="http://schemas.microsoft.com/office/drawing/2014/main" id="{7DCA5815-BEF9-45AB-9C8D-F7A129B55A12}"/>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H = planning horizon; enforce state and action limits</a:t>
            </a:r>
          </a:p>
        </p:txBody>
      </p:sp>
      <p:sp>
        <p:nvSpPr>
          <p:cNvPr id="8" name="concept-80-example-label-0">
            <a:extLst xmlns:a="http://schemas.openxmlformats.org/drawingml/2006/main">
              <a:ext uri="{FF2B5EF4-FFF2-40B4-BE49-F238E27FC236}">
                <a16:creationId xmlns:a16="http://schemas.microsoft.com/office/drawing/2014/main" id="{48981C9D-4559-4A7E-9BDA-7793B94C8CBF}"/>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80-example-0">
            <a:extLst xmlns:a="http://schemas.openxmlformats.org/drawingml/2006/main">
              <a:ext uri="{FF2B5EF4-FFF2-40B4-BE49-F238E27FC236}">
                <a16:creationId xmlns:a16="http://schemas.microsoft.com/office/drawing/2014/main" id="{D1F1AD5E-A089-4F42-9D26-B1A9386C6063}"/>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tank has 10 L, target 14 L, drain 2 L/step. Plan inflows (6, 2)</a:t>
            </a:r>
          </a:p>
        </p:txBody>
      </p:sp>
      <p:sp>
        <p:nvSpPr>
          <p:cNvPr id="10" name="concept-80-example-1">
            <a:extLst xmlns:a="http://schemas.openxmlformats.org/drawingml/2006/main">
              <a:ext uri="{FF2B5EF4-FFF2-40B4-BE49-F238E27FC236}">
                <a16:creationId xmlns:a16="http://schemas.microsoft.com/office/drawing/2014/main" id="{A40FD8F0-0B67-446C-943D-6E14DFC6B669}"/>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 Apply 6 now. If the tank actually reaches 13 L, replan the</a:t>
            </a:r>
          </a:p>
        </p:txBody>
      </p:sp>
      <p:sp>
        <p:nvSpPr>
          <p:cNvPr id="16" name="concept-80-example-2">
            <a:extLst xmlns:a="http://schemas.openxmlformats.org/drawingml/2006/main">
              <a:ext uri="{FF2B5EF4-FFF2-40B4-BE49-F238E27FC236}">
                <a16:creationId xmlns:a16="http://schemas.microsoft.com/office/drawing/2014/main" id="{07F4FC96-272A-44BC-B026-4A4C36B70A34}"/>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next inflow as 3 L.</a:t>
            </a:r>
          </a:p>
        </p:txBody>
      </p:sp>
      <p:sp>
        <p:nvSpPr>
          <p:cNvPr id="11" name="concept-80-metaphor-label-0">
            <a:extLst xmlns:a="http://schemas.openxmlformats.org/drawingml/2006/main">
              <a:ext uri="{FF2B5EF4-FFF2-40B4-BE49-F238E27FC236}">
                <a16:creationId xmlns:a16="http://schemas.microsoft.com/office/drawing/2014/main" id="{2217DD9D-D683-475A-A56C-DEACC6302651}"/>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80-metaphor-0">
            <a:extLst xmlns:a="http://schemas.openxmlformats.org/drawingml/2006/main">
              <a:ext uri="{FF2B5EF4-FFF2-40B4-BE49-F238E27FC236}">
                <a16:creationId xmlns:a16="http://schemas.microsoft.com/office/drawing/2014/main" id="{A754E4F5-6933-49D9-B99D-A6212C3C80F8}"/>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navigator redraws the route at every junction as traffic</a:t>
            </a:r>
          </a:p>
        </p:txBody>
      </p:sp>
      <p:sp>
        <p:nvSpPr>
          <p:cNvPr id="13" name="concept-80-metaphor-1">
            <a:extLst xmlns:a="http://schemas.openxmlformats.org/drawingml/2006/main">
              <a:ext uri="{FF2B5EF4-FFF2-40B4-BE49-F238E27FC236}">
                <a16:creationId xmlns:a16="http://schemas.microsoft.com/office/drawing/2014/main" id="{869955C6-3D9D-469F-88C3-D477F76B0E54}"/>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changes.</a:t>
            </a:r>
          </a:p>
        </p:txBody>
      </p:sp>
      <p:sp>
        <p:nvSpPr>
          <p:cNvPr id="14" name="concept-80-footer-0">
            <a:extLst xmlns:a="http://schemas.openxmlformats.org/drawingml/2006/main">
              <a:ext uri="{FF2B5EF4-FFF2-40B4-BE49-F238E27FC236}">
                <a16:creationId xmlns:a16="http://schemas.microsoft.com/office/drawing/2014/main" id="{8D14B6BA-392B-41DC-A7C5-62DC2081636D}"/>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RLHF</a:t>
            </a:r>
          </a:p>
        </p:txBody>
      </p:sp>
    </p:spTree>
    <p:extLst>
      <p:ext uri="{BB962C8B-B14F-4D97-AF65-F5344CB8AC3E}">
        <p14:creationId xmlns:p14="http://schemas.microsoft.com/office/powerpoint/2010/main" val="1778510163"/>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oncept-81-chapter-0">
            <a:extLst xmlns:a="http://schemas.openxmlformats.org/drawingml/2006/main">
              <a:ext uri="{FF2B5EF4-FFF2-40B4-BE49-F238E27FC236}">
                <a16:creationId xmlns:a16="http://schemas.microsoft.com/office/drawing/2014/main" id="{84348E42-D4B8-46F5-9E43-C6F42D0F21F3}"/>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081 / 100 · REINFORCEMENT LEARNING AND CONTROL</a:t>
            </a:r>
          </a:p>
        </p:txBody>
      </p:sp>
      <p:sp>
        <p:nvSpPr>
          <p:cNvPr id="2" name="concept-81-title-0">
            <a:extLst xmlns:a="http://schemas.openxmlformats.org/drawingml/2006/main">
              <a:ext uri="{FF2B5EF4-FFF2-40B4-BE49-F238E27FC236}">
                <a16:creationId xmlns:a16="http://schemas.microsoft.com/office/drawing/2014/main" id="{33D8EBAD-AE50-4BE1-93EF-07C24632C7F2}"/>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RLHF</a:t>
            </a:r>
          </a:p>
        </p:txBody>
      </p:sp>
      <p:sp>
        <p:nvSpPr>
          <p:cNvPr id="3" name="concept-81-definition-label-0">
            <a:extLst xmlns:a="http://schemas.openxmlformats.org/drawingml/2006/main">
              <a:ext uri="{FF2B5EF4-FFF2-40B4-BE49-F238E27FC236}">
                <a16:creationId xmlns:a16="http://schemas.microsoft.com/office/drawing/2014/main" id="{AEE3BF9C-5D60-4EB6-9469-B6F9FBE9A594}"/>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81-definition-0">
            <a:extLst xmlns:a="http://schemas.openxmlformats.org/drawingml/2006/main">
              <a:ext uri="{FF2B5EF4-FFF2-40B4-BE49-F238E27FC236}">
                <a16:creationId xmlns:a16="http://schemas.microsoft.com/office/drawing/2014/main" id="{DE54DAC3-32B4-4CAC-9F68-68D7956E5C66}"/>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Reinforcement learning from human feedback (RLHF) often</a:t>
            </a:r>
          </a:p>
        </p:txBody>
      </p:sp>
      <p:sp>
        <p:nvSpPr>
          <p:cNvPr id="5" name="concept-81-definition-1">
            <a:extLst xmlns:a="http://schemas.openxmlformats.org/drawingml/2006/main">
              <a:ext uri="{FF2B5EF4-FFF2-40B4-BE49-F238E27FC236}">
                <a16:creationId xmlns:a16="http://schemas.microsoft.com/office/drawing/2014/main" id="{2DCD1EFA-6CA5-481B-A9CE-233D413E0B79}"/>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learns a reward model from human preferences, then trains a</a:t>
            </a:r>
          </a:p>
        </p:txBody>
      </p:sp>
      <p:sp>
        <p:nvSpPr>
          <p:cNvPr id="6" name="concept-81-definition-2">
            <a:extLst xmlns:a="http://schemas.openxmlformats.org/drawingml/2006/main">
              <a:ext uri="{FF2B5EF4-FFF2-40B4-BE49-F238E27FC236}">
                <a16:creationId xmlns:a16="http://schemas.microsoft.com/office/drawing/2014/main" id="{D5055AB9-067B-4E38-B9A6-DFCF6E10A655}"/>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policy to earn higher scores.</a:t>
            </a:r>
          </a:p>
        </p:txBody>
      </p:sp>
      <p:sp>
        <p:nvSpPr>
          <p:cNvPr id="7" name="concept-81-formula-0">
            <a:extLst xmlns:a="http://schemas.openxmlformats.org/drawingml/2006/main">
              <a:ext uri="{FF2B5EF4-FFF2-40B4-BE49-F238E27FC236}">
                <a16:creationId xmlns:a16="http://schemas.microsoft.com/office/drawing/2014/main" id="{456ABBD2-67B7-47A0-904A-756E1849EF67}"/>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For a fixed question: J(θ) = Σ_y πθ(y) r(y)</a:t>
            </a:r>
          </a:p>
        </p:txBody>
      </p:sp>
      <p:sp>
        <p:nvSpPr>
          <p:cNvPr id="15" name="concept-81-formula-1">
            <a:extLst xmlns:a="http://schemas.openxmlformats.org/drawingml/2006/main">
              <a:ext uri="{FF2B5EF4-FFF2-40B4-BE49-F238E27FC236}">
                <a16:creationId xmlns:a16="http://schemas.microsoft.com/office/drawing/2014/main" id="{FC8EEBD9-9DF6-4660-AEEA-1B3C828893DD}"/>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πθ(y) = probability of answer y; r(y) = learned reward</a:t>
            </a:r>
          </a:p>
        </p:txBody>
      </p:sp>
      <p:sp>
        <p:nvSpPr>
          <p:cNvPr id="8" name="concept-81-example-label-0">
            <a:extLst xmlns:a="http://schemas.openxmlformats.org/drawingml/2006/main">
              <a:ext uri="{FF2B5EF4-FFF2-40B4-BE49-F238E27FC236}">
                <a16:creationId xmlns:a16="http://schemas.microsoft.com/office/drawing/2014/main" id="{0C136F47-997B-4F4C-9752-E048F9503C9B}"/>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81-example-0">
            <a:extLst xmlns:a="http://schemas.openxmlformats.org/drawingml/2006/main">
              <a:ext uri="{FF2B5EF4-FFF2-40B4-BE49-F238E27FC236}">
                <a16:creationId xmlns:a16="http://schemas.microsoft.com/office/drawing/2014/main" id="{47DD0ABA-8646-4A8E-BEAF-98F9E9507D0F}"/>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People prefer answer A to B. Suppose learned rewards are 2</a:t>
            </a:r>
          </a:p>
        </p:txBody>
      </p:sp>
      <p:sp>
        <p:nvSpPr>
          <p:cNvPr id="10" name="concept-81-example-1">
            <a:extLst xmlns:a="http://schemas.openxmlformats.org/drawingml/2006/main">
              <a:ext uri="{FF2B5EF4-FFF2-40B4-BE49-F238E27FC236}">
                <a16:creationId xmlns:a16="http://schemas.microsoft.com/office/drawing/2014/main" id="{33D853F3-8B4C-4DBB-AF98-492D6F07BAB9}"/>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and 0. Raising P(A) from 0.5 to 0.75 raises expected reward</a:t>
            </a:r>
          </a:p>
        </p:txBody>
      </p:sp>
      <p:sp>
        <p:nvSpPr>
          <p:cNvPr id="16" name="concept-81-example-2">
            <a:extLst xmlns:a="http://schemas.openxmlformats.org/drawingml/2006/main">
              <a:ext uri="{FF2B5EF4-FFF2-40B4-BE49-F238E27FC236}">
                <a16:creationId xmlns:a16="http://schemas.microsoft.com/office/drawing/2014/main" id="{5B2E0A55-50BB-4BAF-AEA3-055C00DA6E14}"/>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from 1 to 1.5.</a:t>
            </a:r>
          </a:p>
        </p:txBody>
      </p:sp>
      <p:sp>
        <p:nvSpPr>
          <p:cNvPr id="11" name="concept-81-metaphor-label-0">
            <a:extLst xmlns:a="http://schemas.openxmlformats.org/drawingml/2006/main">
              <a:ext uri="{FF2B5EF4-FFF2-40B4-BE49-F238E27FC236}">
                <a16:creationId xmlns:a16="http://schemas.microsoft.com/office/drawing/2014/main" id="{194BD67D-5C80-4854-9D44-FE05DC9E6334}"/>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81-metaphor-0">
            <a:extLst xmlns:a="http://schemas.openxmlformats.org/drawingml/2006/main">
              <a:ext uri="{FF2B5EF4-FFF2-40B4-BE49-F238E27FC236}">
                <a16:creationId xmlns:a16="http://schemas.microsoft.com/office/drawing/2014/main" id="{E5817184-892F-450C-80E5-BB4702E9DA1E}"/>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judge compares performances; the learner improves toward</a:t>
            </a:r>
          </a:p>
        </p:txBody>
      </p:sp>
      <p:sp>
        <p:nvSpPr>
          <p:cNvPr id="13" name="concept-81-metaphor-1">
            <a:extLst xmlns:a="http://schemas.openxmlformats.org/drawingml/2006/main">
              <a:ext uri="{FF2B5EF4-FFF2-40B4-BE49-F238E27FC236}">
                <a16:creationId xmlns:a16="http://schemas.microsoft.com/office/drawing/2014/main" id="{B24E06BE-51C7-47DB-A7AB-9BA94E30029A}"/>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judge's scoring pattern.</a:t>
            </a:r>
          </a:p>
        </p:txBody>
      </p:sp>
      <p:sp>
        <p:nvSpPr>
          <p:cNvPr id="14" name="concept-81-footer-0">
            <a:extLst xmlns:a="http://schemas.openxmlformats.org/drawingml/2006/main">
              <a:ext uri="{FF2B5EF4-FFF2-40B4-BE49-F238E27FC236}">
                <a16:creationId xmlns:a16="http://schemas.microsoft.com/office/drawing/2014/main" id="{6C2DE465-871E-4A7B-ADF1-EA45B200848E}"/>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CPU</a:t>
            </a:r>
          </a:p>
        </p:txBody>
      </p:sp>
    </p:spTree>
    <p:extLst>
      <p:ext uri="{BB962C8B-B14F-4D97-AF65-F5344CB8AC3E}">
        <p14:creationId xmlns:p14="http://schemas.microsoft.com/office/powerpoint/2010/main" val="1905354705"/>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82-chapter-0">
            <a:extLst xmlns:a="http://schemas.openxmlformats.org/drawingml/2006/main">
              <a:ext uri="{FF2B5EF4-FFF2-40B4-BE49-F238E27FC236}">
                <a16:creationId xmlns:a16="http://schemas.microsoft.com/office/drawing/2014/main" id="{23DA1415-938A-456D-B9B1-3BA2095900FD}"/>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082 / 100 · COMPUTING HARDWARE</a:t>
            </a:r>
          </a:p>
        </p:txBody>
      </p:sp>
      <p:sp>
        <p:nvSpPr>
          <p:cNvPr id="2" name="concept-82-title-0">
            <a:extLst xmlns:a="http://schemas.openxmlformats.org/drawingml/2006/main">
              <a:ext uri="{FF2B5EF4-FFF2-40B4-BE49-F238E27FC236}">
                <a16:creationId xmlns:a16="http://schemas.microsoft.com/office/drawing/2014/main" id="{083E54FE-187E-463B-B6BE-A1B20844901F}"/>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CPU</a:t>
            </a:r>
          </a:p>
        </p:txBody>
      </p:sp>
      <p:sp>
        <p:nvSpPr>
          <p:cNvPr id="3" name="concept-82-definition-label-0">
            <a:extLst xmlns:a="http://schemas.openxmlformats.org/drawingml/2006/main">
              <a:ext uri="{FF2B5EF4-FFF2-40B4-BE49-F238E27FC236}">
                <a16:creationId xmlns:a16="http://schemas.microsoft.com/office/drawing/2014/main" id="{5EF97948-2F20-4BC6-A6D0-41E6A43410AC}"/>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82-definition-0">
            <a:extLst xmlns:a="http://schemas.openxmlformats.org/drawingml/2006/main">
              <a:ext uri="{FF2B5EF4-FFF2-40B4-BE49-F238E27FC236}">
                <a16:creationId xmlns:a16="http://schemas.microsoft.com/office/drawing/2014/main" id="{60696F3E-9BCD-4C1F-ADBD-702329E917E6}"/>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central processing unit (CPU) executes program instructions:</a:t>
            </a:r>
          </a:p>
        </p:txBody>
      </p:sp>
      <p:sp>
        <p:nvSpPr>
          <p:cNvPr id="5" name="concept-82-definition-1">
            <a:extLst xmlns:a="http://schemas.openxmlformats.org/drawingml/2006/main">
              <a:ext uri="{FF2B5EF4-FFF2-40B4-BE49-F238E27FC236}">
                <a16:creationId xmlns:a16="http://schemas.microsoft.com/office/drawing/2014/main" id="{9952F077-20BB-4185-87E8-6C14248B3973}"/>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arithmetic, comparisons, and decisions about what to run next.</a:t>
            </a:r>
          </a:p>
        </p:txBody>
      </p:sp>
      <p:sp>
        <p:nvSpPr>
          <p:cNvPr id="6" name="concept-82-definition-2">
            <a:extLst xmlns:a="http://schemas.openxmlformats.org/drawingml/2006/main">
              <a:ext uri="{FF2B5EF4-FFF2-40B4-BE49-F238E27FC236}">
                <a16:creationId xmlns:a16="http://schemas.microsoft.com/office/drawing/2014/main" id="{1F4CF789-F8E8-41FA-A372-CEA853888C73}"/>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computer can use several CPU cores at once.</a:t>
            </a:r>
          </a:p>
        </p:txBody>
      </p:sp>
      <p:sp>
        <p:nvSpPr>
          <p:cNvPr id="7" name="concept-82-formula-0">
            <a:extLst xmlns:a="http://schemas.openxmlformats.org/drawingml/2006/main">
              <a:ext uri="{FF2B5EF4-FFF2-40B4-BE49-F238E27FC236}">
                <a16:creationId xmlns:a16="http://schemas.microsoft.com/office/drawing/2014/main" id="{5F85606A-7E6A-4F8D-A95A-CCEDC8A8B9D4}"/>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Example program: total ← total + xᵢ; mean = total/N</a:t>
            </a:r>
          </a:p>
        </p:txBody>
      </p:sp>
      <p:sp>
        <p:nvSpPr>
          <p:cNvPr id="9" name="concept-82-example-label-0">
            <a:extLst xmlns:a="http://schemas.openxmlformats.org/drawingml/2006/main">
              <a:ext uri="{FF2B5EF4-FFF2-40B4-BE49-F238E27FC236}">
                <a16:creationId xmlns:a16="http://schemas.microsoft.com/office/drawing/2014/main" id="{701A0D4F-EA21-4F9D-AC08-3D059EFB5309}"/>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10" name="concept-82-example-0">
            <a:extLst xmlns:a="http://schemas.openxmlformats.org/drawingml/2006/main">
              <a:ext uri="{FF2B5EF4-FFF2-40B4-BE49-F238E27FC236}">
                <a16:creationId xmlns:a16="http://schemas.microsoft.com/office/drawing/2014/main" id="{E1E39FE3-52DA-417D-845B-002A7EA8F334}"/>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To average (2, 4, 6), a program starts total = 0. Add each value:</a:t>
            </a:r>
          </a:p>
        </p:txBody>
      </p:sp>
      <p:sp>
        <p:nvSpPr>
          <p:cNvPr id="11" name="concept-82-example-1">
            <a:extLst xmlns:a="http://schemas.openxmlformats.org/drawingml/2006/main">
              <a:ext uri="{FF2B5EF4-FFF2-40B4-BE49-F238E27FC236}">
                <a16:creationId xmlns:a16="http://schemas.microsoft.com/office/drawing/2014/main" id="{973B5FAA-6BEB-4ADE-8036-2898DC7DCE0D}"/>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2, then 6, then 12. Divide by 3 to return 4.</a:t>
            </a:r>
          </a:p>
        </p:txBody>
      </p:sp>
      <p:sp>
        <p:nvSpPr>
          <p:cNvPr id="12" name="concept-82-metaphor-label-0">
            <a:extLst xmlns:a="http://schemas.openxmlformats.org/drawingml/2006/main">
              <a:ext uri="{FF2B5EF4-FFF2-40B4-BE49-F238E27FC236}">
                <a16:creationId xmlns:a16="http://schemas.microsoft.com/office/drawing/2014/main" id="{A84D52B9-1344-40B2-A6B4-0CF678443C2B}"/>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3" name="concept-82-metaphor-0">
            <a:extLst xmlns:a="http://schemas.openxmlformats.org/drawingml/2006/main">
              <a:ext uri="{FF2B5EF4-FFF2-40B4-BE49-F238E27FC236}">
                <a16:creationId xmlns:a16="http://schemas.microsoft.com/office/drawing/2014/main" id="{9E9FF7B7-3A5D-46B6-B075-B2793F678E0F}"/>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versatile workshop supervisor handles varied jobs and directs</a:t>
            </a:r>
          </a:p>
        </p:txBody>
      </p:sp>
      <p:sp>
        <p:nvSpPr>
          <p:cNvPr id="14" name="concept-82-metaphor-1">
            <a:extLst xmlns:a="http://schemas.openxmlformats.org/drawingml/2006/main">
              <a:ext uri="{FF2B5EF4-FFF2-40B4-BE49-F238E27FC236}">
                <a16:creationId xmlns:a16="http://schemas.microsoft.com/office/drawing/2014/main" id="{604ED1E2-19C6-447F-84E1-D4FE701F5F62}"/>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specialist machines.</a:t>
            </a:r>
          </a:p>
        </p:txBody>
      </p:sp>
      <p:sp>
        <p:nvSpPr>
          <p:cNvPr id="15" name="concept-82-footer-0">
            <a:extLst xmlns:a="http://schemas.openxmlformats.org/drawingml/2006/main">
              <a:ext uri="{FF2B5EF4-FFF2-40B4-BE49-F238E27FC236}">
                <a16:creationId xmlns:a16="http://schemas.microsoft.com/office/drawing/2014/main" id="{52922F8A-71C3-42EB-9D06-9BA760414120}"/>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GPU</a:t>
            </a:r>
          </a:p>
        </p:txBody>
      </p:sp>
    </p:spTree>
    <p:extLst>
      <p:ext uri="{BB962C8B-B14F-4D97-AF65-F5344CB8AC3E}">
        <p14:creationId xmlns:p14="http://schemas.microsoft.com/office/powerpoint/2010/main" val="2025174654"/>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83-chapter-0">
            <a:extLst xmlns:a="http://schemas.openxmlformats.org/drawingml/2006/main">
              <a:ext uri="{FF2B5EF4-FFF2-40B4-BE49-F238E27FC236}">
                <a16:creationId xmlns:a16="http://schemas.microsoft.com/office/drawing/2014/main" id="{F2D4EF07-8151-4628-B1C0-9F36AA279295}"/>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083 / 100 · COMPUTING HARDWARE</a:t>
            </a:r>
          </a:p>
        </p:txBody>
      </p:sp>
      <p:sp>
        <p:nvSpPr>
          <p:cNvPr id="2" name="concept-83-title-0">
            <a:extLst xmlns:a="http://schemas.openxmlformats.org/drawingml/2006/main">
              <a:ext uri="{FF2B5EF4-FFF2-40B4-BE49-F238E27FC236}">
                <a16:creationId xmlns:a16="http://schemas.microsoft.com/office/drawing/2014/main" id="{0951A3AA-38D4-4475-9B1D-65A9A2C10A10}"/>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GPU</a:t>
            </a:r>
          </a:p>
        </p:txBody>
      </p:sp>
      <p:sp>
        <p:nvSpPr>
          <p:cNvPr id="3" name="concept-83-definition-label-0">
            <a:extLst xmlns:a="http://schemas.openxmlformats.org/drawingml/2006/main">
              <a:ext uri="{FF2B5EF4-FFF2-40B4-BE49-F238E27FC236}">
                <a16:creationId xmlns:a16="http://schemas.microsoft.com/office/drawing/2014/main" id="{C7816864-E224-4A6A-8F55-6C12F078D30A}"/>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83-definition-0">
            <a:extLst xmlns:a="http://schemas.openxmlformats.org/drawingml/2006/main">
              <a:ext uri="{FF2B5EF4-FFF2-40B4-BE49-F238E27FC236}">
                <a16:creationId xmlns:a16="http://schemas.microsoft.com/office/drawing/2014/main" id="{183190A0-5E8B-4763-BCB2-FFAFF04AB949}"/>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graphics processing unit (GPU) performs many similar</a:t>
            </a:r>
          </a:p>
        </p:txBody>
      </p:sp>
      <p:sp>
        <p:nvSpPr>
          <p:cNvPr id="5" name="concept-83-definition-1">
            <a:extLst xmlns:a="http://schemas.openxmlformats.org/drawingml/2006/main">
              <a:ext uri="{FF2B5EF4-FFF2-40B4-BE49-F238E27FC236}">
                <a16:creationId xmlns:a16="http://schemas.microsoft.com/office/drawing/2014/main" id="{7076DC40-2F31-4DA9-8905-608FACF0BEB0}"/>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calculations in parallel. Large matrix operations supply</a:t>
            </a:r>
          </a:p>
        </p:txBody>
      </p:sp>
      <p:sp>
        <p:nvSpPr>
          <p:cNvPr id="6" name="concept-83-definition-2">
            <a:extLst xmlns:a="http://schemas.openxmlformats.org/drawingml/2006/main">
              <a:ext uri="{FF2B5EF4-FFF2-40B4-BE49-F238E27FC236}">
                <a16:creationId xmlns:a16="http://schemas.microsoft.com/office/drawing/2014/main" id="{541CFE6D-16B2-4B7F-9B06-BAFBC1DB37B4}"/>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repeated arithmetic to keep its execution units busy.</a:t>
            </a:r>
          </a:p>
        </p:txBody>
      </p:sp>
      <p:sp>
        <p:nvSpPr>
          <p:cNvPr id="7" name="concept-83-formula-0">
            <a:extLst xmlns:a="http://schemas.openxmlformats.org/drawingml/2006/main">
              <a:ext uri="{FF2B5EF4-FFF2-40B4-BE49-F238E27FC236}">
                <a16:creationId xmlns:a16="http://schemas.microsoft.com/office/drawing/2014/main" id="{11B93761-8509-46AD-AAC5-0C2013B2FCD1}"/>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Independent elementwise work: yᵢ = 2xᵢ</a:t>
            </a:r>
          </a:p>
        </p:txBody>
      </p:sp>
      <p:sp>
        <p:nvSpPr>
          <p:cNvPr id="8" name="concept-83-example-label-0">
            <a:extLst xmlns:a="http://schemas.openxmlformats.org/drawingml/2006/main">
              <a:ext uri="{FF2B5EF4-FFF2-40B4-BE49-F238E27FC236}">
                <a16:creationId xmlns:a16="http://schemas.microsoft.com/office/drawing/2014/main" id="{2ED3530F-9437-4FE7-AAC6-812B5CCF13AC}"/>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83-example-0">
            <a:extLst xmlns:a="http://schemas.openxmlformats.org/drawingml/2006/main">
              <a:ext uri="{FF2B5EF4-FFF2-40B4-BE49-F238E27FC236}">
                <a16:creationId xmlns:a16="http://schemas.microsoft.com/office/drawing/2014/main" id="{5D836568-7FF4-448D-A5FE-F5CD8447E030}"/>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x = (1, 2, 3, 4), compute y = (2, 4, 6, 8). Each output can</a:t>
            </a:r>
          </a:p>
        </p:txBody>
      </p:sp>
      <p:sp>
        <p:nvSpPr>
          <p:cNvPr id="10" name="concept-83-example-1">
            <a:extLst xmlns:a="http://schemas.openxmlformats.org/drawingml/2006/main">
              <a:ext uri="{FF2B5EF4-FFF2-40B4-BE49-F238E27FC236}">
                <a16:creationId xmlns:a16="http://schemas.microsoft.com/office/drawing/2014/main" id="{A2F993E9-0641-45C1-8ABE-BF6B2D9987D5}"/>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be calculated independently. The same pattern scales to</a:t>
            </a:r>
          </a:p>
        </p:txBody>
      </p:sp>
      <p:sp>
        <p:nvSpPr>
          <p:cNvPr id="14" name="concept-83-example-2">
            <a:extLst xmlns:a="http://schemas.openxmlformats.org/drawingml/2006/main">
              <a:ext uri="{FF2B5EF4-FFF2-40B4-BE49-F238E27FC236}">
                <a16:creationId xmlns:a16="http://schemas.microsoft.com/office/drawing/2014/main" id="{EA14489D-8A9A-462A-ACEC-93E4C08D5778}"/>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millions of entries.</a:t>
            </a:r>
          </a:p>
        </p:txBody>
      </p:sp>
      <p:sp>
        <p:nvSpPr>
          <p:cNvPr id="11" name="concept-83-metaphor-label-0">
            <a:extLst xmlns:a="http://schemas.openxmlformats.org/drawingml/2006/main">
              <a:ext uri="{FF2B5EF4-FFF2-40B4-BE49-F238E27FC236}">
                <a16:creationId xmlns:a16="http://schemas.microsoft.com/office/drawing/2014/main" id="{41B1CFCF-E8C8-4A19-9542-C0D2503C44D2}"/>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83-metaphor-0">
            <a:extLst xmlns:a="http://schemas.openxmlformats.org/drawingml/2006/main">
              <a:ext uri="{FF2B5EF4-FFF2-40B4-BE49-F238E27FC236}">
                <a16:creationId xmlns:a16="http://schemas.microsoft.com/office/drawing/2014/main" id="{6EA6BB68-81EA-4101-BDEC-14D0B0BC83BE}"/>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large team folds many identical paper cranes at once.</a:t>
            </a:r>
          </a:p>
        </p:txBody>
      </p:sp>
      <p:sp>
        <p:nvSpPr>
          <p:cNvPr id="13" name="concept-83-footer-0">
            <a:extLst xmlns:a="http://schemas.openxmlformats.org/drawingml/2006/main">
              <a:ext uri="{FF2B5EF4-FFF2-40B4-BE49-F238E27FC236}">
                <a16:creationId xmlns:a16="http://schemas.microsoft.com/office/drawing/2014/main" id="{A6B6F56D-2B95-465F-BF9D-ECB69C7EAEA7}"/>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Tensor core</a:t>
            </a:r>
          </a:p>
        </p:txBody>
      </p:sp>
    </p:spTree>
    <p:extLst>
      <p:ext uri="{BB962C8B-B14F-4D97-AF65-F5344CB8AC3E}">
        <p14:creationId xmlns:p14="http://schemas.microsoft.com/office/powerpoint/2010/main" val="852394618"/>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84-chapter-0">
            <a:extLst xmlns:a="http://schemas.openxmlformats.org/drawingml/2006/main">
              <a:ext uri="{FF2B5EF4-FFF2-40B4-BE49-F238E27FC236}">
                <a16:creationId xmlns:a16="http://schemas.microsoft.com/office/drawing/2014/main" id="{1A3D3CFE-45C9-4E15-85C5-92DFB7013B3D}"/>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084 / 100 · COMPUTING HARDWARE</a:t>
            </a:r>
          </a:p>
        </p:txBody>
      </p:sp>
      <p:sp>
        <p:nvSpPr>
          <p:cNvPr id="2" name="concept-84-title-0">
            <a:extLst xmlns:a="http://schemas.openxmlformats.org/drawingml/2006/main">
              <a:ext uri="{FF2B5EF4-FFF2-40B4-BE49-F238E27FC236}">
                <a16:creationId xmlns:a16="http://schemas.microsoft.com/office/drawing/2014/main" id="{A08846A8-719D-46BD-B315-F2D8F1BCE4C7}"/>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Tensor core</a:t>
            </a:r>
          </a:p>
        </p:txBody>
      </p:sp>
      <p:sp>
        <p:nvSpPr>
          <p:cNvPr id="3" name="concept-84-definition-label-0">
            <a:extLst xmlns:a="http://schemas.openxmlformats.org/drawingml/2006/main">
              <a:ext uri="{FF2B5EF4-FFF2-40B4-BE49-F238E27FC236}">
                <a16:creationId xmlns:a16="http://schemas.microsoft.com/office/drawing/2014/main" id="{09559C98-E45F-4478-A2EA-0FF9B0FDC1C5}"/>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84-definition-0">
            <a:extLst xmlns:a="http://schemas.openxmlformats.org/drawingml/2006/main">
              <a:ext uri="{FF2B5EF4-FFF2-40B4-BE49-F238E27FC236}">
                <a16:creationId xmlns:a16="http://schemas.microsoft.com/office/drawing/2014/main" id="{6BE2B46E-F4C5-4EE1-8612-DEAA9D265047}"/>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Tensor Core is a specialized circuit inside an NVIDIA GPU that</a:t>
            </a:r>
          </a:p>
        </p:txBody>
      </p:sp>
      <p:sp>
        <p:nvSpPr>
          <p:cNvPr id="5" name="concept-84-definition-1">
            <a:extLst xmlns:a="http://schemas.openxmlformats.org/drawingml/2006/main">
              <a:ext uri="{FF2B5EF4-FFF2-40B4-BE49-F238E27FC236}">
                <a16:creationId xmlns:a16="http://schemas.microsoft.com/office/drawing/2014/main" id="{DC6C1FFF-0764-4791-A45F-8911456A8536}"/>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multiplies small matrix blocks and adds another matrix.</a:t>
            </a:r>
          </a:p>
        </p:txBody>
      </p:sp>
      <p:sp>
        <p:nvSpPr>
          <p:cNvPr id="6" name="concept-84-definition-2">
            <a:extLst xmlns:a="http://schemas.openxmlformats.org/drawingml/2006/main">
              <a:ext uri="{FF2B5EF4-FFF2-40B4-BE49-F238E27FC236}">
                <a16:creationId xmlns:a16="http://schemas.microsoft.com/office/drawing/2014/main" id="{C3BE928E-C19C-4EC3-923A-5F211CEA4683}"/>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Supported number formats depend on the GPU generation.</a:t>
            </a:r>
          </a:p>
        </p:txBody>
      </p:sp>
      <p:sp>
        <p:nvSpPr>
          <p:cNvPr id="7" name="concept-84-formula-0">
            <a:extLst xmlns:a="http://schemas.openxmlformats.org/drawingml/2006/main">
              <a:ext uri="{FF2B5EF4-FFF2-40B4-BE49-F238E27FC236}">
                <a16:creationId xmlns:a16="http://schemas.microsoft.com/office/drawing/2014/main" id="{72B1B846-97A0-4B16-9F18-CCAC5550118F}"/>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D = AB + C</a:t>
            </a:r>
          </a:p>
        </p:txBody>
      </p:sp>
      <p:sp>
        <p:nvSpPr>
          <p:cNvPr id="8" name="concept-84-example-label-0">
            <a:extLst xmlns:a="http://schemas.openxmlformats.org/drawingml/2006/main">
              <a:ext uri="{FF2B5EF4-FFF2-40B4-BE49-F238E27FC236}">
                <a16:creationId xmlns:a16="http://schemas.microsoft.com/office/drawing/2014/main" id="{A26C56B2-7649-4511-9B64-ACB59F6C5937}"/>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84-example-0">
            <a:extLst xmlns:a="http://schemas.openxmlformats.org/drawingml/2006/main">
              <a:ext uri="{FF2B5EF4-FFF2-40B4-BE49-F238E27FC236}">
                <a16:creationId xmlns:a16="http://schemas.microsoft.com/office/drawing/2014/main" id="{65D8A81A-65AA-4D8E-AC2F-412C45C65834}"/>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 [[1, 2]], B = [[3], [4]], C = [[5]]. Multiply: AB = [[1×3 +</a:t>
            </a:r>
          </a:p>
        </p:txBody>
      </p:sp>
      <p:sp>
        <p:nvSpPr>
          <p:cNvPr id="14" name="concept-84-example-1">
            <a:extLst xmlns:a="http://schemas.openxmlformats.org/drawingml/2006/main">
              <a:ext uri="{FF2B5EF4-FFF2-40B4-BE49-F238E27FC236}">
                <a16:creationId xmlns:a16="http://schemas.microsoft.com/office/drawing/2014/main" id="{4587A9BB-A03C-4163-95FA-E6349386B677}"/>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2×4]] = [[11]]. Add C: D = [[16]].</a:t>
            </a:r>
          </a:p>
        </p:txBody>
      </p:sp>
      <p:sp>
        <p:nvSpPr>
          <p:cNvPr id="10" name="concept-84-metaphor-label-0">
            <a:extLst xmlns:a="http://schemas.openxmlformats.org/drawingml/2006/main">
              <a:ext uri="{FF2B5EF4-FFF2-40B4-BE49-F238E27FC236}">
                <a16:creationId xmlns:a16="http://schemas.microsoft.com/office/drawing/2014/main" id="{419708AC-045D-4A4F-898E-E9A69F2993A2}"/>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84-metaphor-0">
            <a:extLst xmlns:a="http://schemas.openxmlformats.org/drawingml/2006/main">
              <a:ext uri="{FF2B5EF4-FFF2-40B4-BE49-F238E27FC236}">
                <a16:creationId xmlns:a16="http://schemas.microsoft.com/office/drawing/2014/main" id="{6E376BE7-EE2C-4053-A617-7DD5DFB51FD9}"/>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factory station stamps whole groups of arithmetic steps using</a:t>
            </a:r>
          </a:p>
        </p:txBody>
      </p:sp>
      <p:sp>
        <p:nvSpPr>
          <p:cNvPr id="12" name="concept-84-metaphor-1">
            <a:extLst xmlns:a="http://schemas.openxmlformats.org/drawingml/2006/main">
              <a:ext uri="{FF2B5EF4-FFF2-40B4-BE49-F238E27FC236}">
                <a16:creationId xmlns:a16="http://schemas.microsoft.com/office/drawing/2014/main" id="{08ADCEAD-AB4A-424C-B0FF-A7DDC33339FE}"/>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specialized mold.</a:t>
            </a:r>
          </a:p>
        </p:txBody>
      </p:sp>
      <p:sp>
        <p:nvSpPr>
          <p:cNvPr id="13" name="concept-84-footer-0">
            <a:extLst xmlns:a="http://schemas.openxmlformats.org/drawingml/2006/main">
              <a:ext uri="{FF2B5EF4-FFF2-40B4-BE49-F238E27FC236}">
                <a16:creationId xmlns:a16="http://schemas.microsoft.com/office/drawing/2014/main" id="{3B7D67A1-278E-4E84-91AE-2F65B5A7AA2F}"/>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CUDA</a:t>
            </a:r>
          </a:p>
        </p:txBody>
      </p:sp>
    </p:spTree>
    <p:extLst>
      <p:ext uri="{BB962C8B-B14F-4D97-AF65-F5344CB8AC3E}">
        <p14:creationId xmlns:p14="http://schemas.microsoft.com/office/powerpoint/2010/main" val="800666059"/>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oncept-85-chapter-0">
            <a:extLst xmlns:a="http://schemas.openxmlformats.org/drawingml/2006/main">
              <a:ext uri="{FF2B5EF4-FFF2-40B4-BE49-F238E27FC236}">
                <a16:creationId xmlns:a16="http://schemas.microsoft.com/office/drawing/2014/main" id="{EA5DF99E-04AE-469F-B3F3-B582A6523F1B}"/>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085 / 100 · COMPUTING HARDWARE</a:t>
            </a:r>
          </a:p>
        </p:txBody>
      </p:sp>
      <p:sp>
        <p:nvSpPr>
          <p:cNvPr id="2" name="concept-85-title-0">
            <a:extLst xmlns:a="http://schemas.openxmlformats.org/drawingml/2006/main">
              <a:ext uri="{FF2B5EF4-FFF2-40B4-BE49-F238E27FC236}">
                <a16:creationId xmlns:a16="http://schemas.microsoft.com/office/drawing/2014/main" id="{D7BDF9D8-9FF5-4E78-B3E7-7082E632505A}"/>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CUDA</a:t>
            </a:r>
          </a:p>
        </p:txBody>
      </p:sp>
      <p:sp>
        <p:nvSpPr>
          <p:cNvPr id="3" name="concept-85-definition-label-0">
            <a:extLst xmlns:a="http://schemas.openxmlformats.org/drawingml/2006/main">
              <a:ext uri="{FF2B5EF4-FFF2-40B4-BE49-F238E27FC236}">
                <a16:creationId xmlns:a16="http://schemas.microsoft.com/office/drawing/2014/main" id="{D04B8080-5DCB-4DA4-A07C-47B6C9721E31}"/>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85-definition-0">
            <a:extLst xmlns:a="http://schemas.openxmlformats.org/drawingml/2006/main">
              <a:ext uri="{FF2B5EF4-FFF2-40B4-BE49-F238E27FC236}">
                <a16:creationId xmlns:a16="http://schemas.microsoft.com/office/drawing/2014/main" id="{FC042F0F-07B8-45EE-A511-97A11F0D9720}"/>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CUDA is NVIDIA’s platform for programming its GPUs. A kernel</a:t>
            </a:r>
          </a:p>
        </p:txBody>
      </p:sp>
      <p:sp>
        <p:nvSpPr>
          <p:cNvPr id="5" name="concept-85-definition-1">
            <a:extLst xmlns:a="http://schemas.openxmlformats.org/drawingml/2006/main">
              <a:ext uri="{FF2B5EF4-FFF2-40B4-BE49-F238E27FC236}">
                <a16:creationId xmlns:a16="http://schemas.microsoft.com/office/drawing/2014/main" id="{72B115EC-D634-4B3D-8A50-692EB3330E8A}"/>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is a function run by many logical workers called threads.</a:t>
            </a:r>
          </a:p>
        </p:txBody>
      </p:sp>
      <p:sp>
        <p:nvSpPr>
          <p:cNvPr id="6" name="concept-85-definition-2">
            <a:extLst xmlns:a="http://schemas.openxmlformats.org/drawingml/2006/main">
              <a:ext uri="{FF2B5EF4-FFF2-40B4-BE49-F238E27FC236}">
                <a16:creationId xmlns:a16="http://schemas.microsoft.com/office/drawing/2014/main" id="{BC2346DA-8E1A-4813-8A51-B4D411AEE72A}"/>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Threads have indices and are organized into blocks.</a:t>
            </a:r>
          </a:p>
        </p:txBody>
      </p:sp>
      <p:sp>
        <p:nvSpPr>
          <p:cNvPr id="7" name="concept-85-formula-0">
            <a:extLst xmlns:a="http://schemas.openxmlformats.org/drawingml/2006/main">
              <a:ext uri="{FF2B5EF4-FFF2-40B4-BE49-F238E27FC236}">
                <a16:creationId xmlns:a16="http://schemas.microsoft.com/office/drawing/2014/main" id="{B9168807-9BF2-4C12-9AD1-BF948FFE98E2}"/>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For a 1D launch: i = block index × B + thread index</a:t>
            </a:r>
          </a:p>
        </p:txBody>
      </p:sp>
      <p:sp>
        <p:nvSpPr>
          <p:cNvPr id="15" name="concept-85-formula-1">
            <a:extLst xmlns:a="http://schemas.openxmlformats.org/drawingml/2006/main">
              <a:ext uri="{FF2B5EF4-FFF2-40B4-BE49-F238E27FC236}">
                <a16:creationId xmlns:a16="http://schemas.microsoft.com/office/drawing/2014/main" id="{124FBA54-94EA-4491-8672-A4A60846C6D0}"/>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B = threads per block; indices start at 0</a:t>
            </a:r>
          </a:p>
        </p:txBody>
      </p:sp>
      <p:sp>
        <p:nvSpPr>
          <p:cNvPr id="8" name="concept-85-example-label-0">
            <a:extLst xmlns:a="http://schemas.openxmlformats.org/drawingml/2006/main">
              <a:ext uri="{FF2B5EF4-FFF2-40B4-BE49-F238E27FC236}">
                <a16:creationId xmlns:a16="http://schemas.microsoft.com/office/drawing/2014/main" id="{9F71240D-1DA4-4449-A6EC-0DB18A887947}"/>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85-example-0">
            <a:extLst xmlns:a="http://schemas.openxmlformats.org/drawingml/2006/main">
              <a:ext uri="{FF2B5EF4-FFF2-40B4-BE49-F238E27FC236}">
                <a16:creationId xmlns:a16="http://schemas.microsoft.com/office/drawing/2014/main" id="{D9807911-9901-478F-9DE9-0E7254209FC2}"/>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With B = 4, block 1 and thread 2 give i = 1×4+2 = 6. That</a:t>
            </a:r>
          </a:p>
        </p:txBody>
      </p:sp>
      <p:sp>
        <p:nvSpPr>
          <p:cNvPr id="10" name="concept-85-example-1">
            <a:extLst xmlns:a="http://schemas.openxmlformats.org/drawingml/2006/main">
              <a:ext uri="{FF2B5EF4-FFF2-40B4-BE49-F238E27FC236}">
                <a16:creationId xmlns:a16="http://schemas.microsoft.com/office/drawing/2014/main" id="{98E83CB8-3416-4413-AB2F-87B589F3203B}"/>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thread can compute y₆ = 2x₆. Eight such blocks launch 8×4 =</a:t>
            </a:r>
          </a:p>
        </p:txBody>
      </p:sp>
      <p:sp>
        <p:nvSpPr>
          <p:cNvPr id="16" name="concept-85-example-2">
            <a:extLst xmlns:a="http://schemas.openxmlformats.org/drawingml/2006/main">
              <a:ext uri="{FF2B5EF4-FFF2-40B4-BE49-F238E27FC236}">
                <a16:creationId xmlns:a16="http://schemas.microsoft.com/office/drawing/2014/main" id="{2853BEDA-C569-4FB9-A662-E6380F987BB6}"/>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32 threads.</a:t>
            </a:r>
          </a:p>
        </p:txBody>
      </p:sp>
      <p:sp>
        <p:nvSpPr>
          <p:cNvPr id="11" name="concept-85-metaphor-label-0">
            <a:extLst xmlns:a="http://schemas.openxmlformats.org/drawingml/2006/main">
              <a:ext uri="{FF2B5EF4-FFF2-40B4-BE49-F238E27FC236}">
                <a16:creationId xmlns:a16="http://schemas.microsoft.com/office/drawing/2014/main" id="{056CE071-958C-4538-AD74-EC4762CF3F71}"/>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85-metaphor-0">
            <a:extLst xmlns:a="http://schemas.openxmlformats.org/drawingml/2006/main">
              <a:ext uri="{FF2B5EF4-FFF2-40B4-BE49-F238E27FC236}">
                <a16:creationId xmlns:a16="http://schemas.microsoft.com/office/drawing/2014/main" id="{ACDCA9AC-CB10-4690-A223-E3E91C90D1A2}"/>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CUDA is the instruction system that assigns numbered tasks to</a:t>
            </a:r>
          </a:p>
        </p:txBody>
      </p:sp>
      <p:sp>
        <p:nvSpPr>
          <p:cNvPr id="13" name="concept-85-metaphor-1">
            <a:extLst xmlns:a="http://schemas.openxmlformats.org/drawingml/2006/main">
              <a:ext uri="{FF2B5EF4-FFF2-40B4-BE49-F238E27FC236}">
                <a16:creationId xmlns:a16="http://schemas.microsoft.com/office/drawing/2014/main" id="{14B7F074-BF07-4CDA-AEA5-62DA8DE42090}"/>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parallel workshop.</a:t>
            </a:r>
          </a:p>
        </p:txBody>
      </p:sp>
      <p:sp>
        <p:nvSpPr>
          <p:cNvPr id="14" name="concept-85-footer-0">
            <a:extLst xmlns:a="http://schemas.openxmlformats.org/drawingml/2006/main">
              <a:ext uri="{FF2B5EF4-FFF2-40B4-BE49-F238E27FC236}">
                <a16:creationId xmlns:a16="http://schemas.microsoft.com/office/drawing/2014/main" id="{5FFE30F9-308A-4EC2-A394-2D4ED219C861}"/>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Memory capacity</a:t>
            </a:r>
          </a:p>
        </p:txBody>
      </p:sp>
    </p:spTree>
    <p:extLst>
      <p:ext uri="{BB962C8B-B14F-4D97-AF65-F5344CB8AC3E}">
        <p14:creationId xmlns:p14="http://schemas.microsoft.com/office/powerpoint/2010/main" val="1957681106"/>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86-chapter-0">
            <a:extLst xmlns:a="http://schemas.openxmlformats.org/drawingml/2006/main">
              <a:ext uri="{FF2B5EF4-FFF2-40B4-BE49-F238E27FC236}">
                <a16:creationId xmlns:a16="http://schemas.microsoft.com/office/drawing/2014/main" id="{E18516D4-2F3B-4308-BB75-8746C945C162}"/>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086 / 100 · COMPUTING HARDWARE</a:t>
            </a:r>
          </a:p>
        </p:txBody>
      </p:sp>
      <p:sp>
        <p:nvSpPr>
          <p:cNvPr id="2" name="concept-86-title-0">
            <a:extLst xmlns:a="http://schemas.openxmlformats.org/drawingml/2006/main">
              <a:ext uri="{FF2B5EF4-FFF2-40B4-BE49-F238E27FC236}">
                <a16:creationId xmlns:a16="http://schemas.microsoft.com/office/drawing/2014/main" id="{D391530A-F2F5-4B97-A4F5-ADAD7AAF6AB1}"/>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Memory capacity</a:t>
            </a:r>
          </a:p>
        </p:txBody>
      </p:sp>
      <p:sp>
        <p:nvSpPr>
          <p:cNvPr id="3" name="concept-86-definition-label-0">
            <a:extLst xmlns:a="http://schemas.openxmlformats.org/drawingml/2006/main">
              <a:ext uri="{FF2B5EF4-FFF2-40B4-BE49-F238E27FC236}">
                <a16:creationId xmlns:a16="http://schemas.microsoft.com/office/drawing/2014/main" id="{4B756565-215C-45C2-A44E-1DB2D420C998}"/>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86-definition-0">
            <a:extLst xmlns:a="http://schemas.openxmlformats.org/drawingml/2006/main">
              <a:ext uri="{FF2B5EF4-FFF2-40B4-BE49-F238E27FC236}">
                <a16:creationId xmlns:a16="http://schemas.microsoft.com/office/drawing/2014/main" id="{F664CB2E-E37E-47F1-B62E-B97882EF9EFA}"/>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Memory capacity is the amount of information a device can</a:t>
            </a:r>
          </a:p>
        </p:txBody>
      </p:sp>
      <p:sp>
        <p:nvSpPr>
          <p:cNvPr id="5" name="concept-86-definition-1">
            <a:extLst xmlns:a="http://schemas.openxmlformats.org/drawingml/2006/main">
              <a:ext uri="{FF2B5EF4-FFF2-40B4-BE49-F238E27FC236}">
                <a16:creationId xmlns:a16="http://schemas.microsoft.com/office/drawing/2014/main" id="{8CDC28D3-58DA-40FC-A80D-1ECB1EE5C8AD}"/>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hold. Model execution needs space for weights, intermediate</a:t>
            </a:r>
          </a:p>
        </p:txBody>
      </p:sp>
      <p:sp>
        <p:nvSpPr>
          <p:cNvPr id="6" name="concept-86-definition-2">
            <a:extLst xmlns:a="http://schemas.openxmlformats.org/drawingml/2006/main">
              <a:ext uri="{FF2B5EF4-FFF2-40B4-BE49-F238E27FC236}">
                <a16:creationId xmlns:a16="http://schemas.microsoft.com/office/drawing/2014/main" id="{B9250A62-032C-4396-B78A-6ADA69F1A697}"/>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values, and working buffers.</a:t>
            </a:r>
          </a:p>
        </p:txBody>
      </p:sp>
      <p:sp>
        <p:nvSpPr>
          <p:cNvPr id="7" name="concept-86-formula-0">
            <a:extLst xmlns:a="http://schemas.openxmlformats.org/drawingml/2006/main">
              <a:ext uri="{FF2B5EF4-FFF2-40B4-BE49-F238E27FC236}">
                <a16:creationId xmlns:a16="http://schemas.microsoft.com/office/drawing/2014/main" id="{F8F78FB6-DE90-43A5-A942-9F1E90A2FA2B}"/>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weight bytes = parameter count × bits per parameter / 8</a:t>
            </a:r>
          </a:p>
        </p:txBody>
      </p:sp>
      <p:sp>
        <p:nvSpPr>
          <p:cNvPr id="8" name="concept-86-example-label-0">
            <a:extLst xmlns:a="http://schemas.openxmlformats.org/drawingml/2006/main">
              <a:ext uri="{FF2B5EF4-FFF2-40B4-BE49-F238E27FC236}">
                <a16:creationId xmlns:a16="http://schemas.microsoft.com/office/drawing/2014/main" id="{15B08CA0-23BB-43A6-96AF-06DF7978DC79}"/>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86-example-0">
            <a:extLst xmlns:a="http://schemas.openxmlformats.org/drawingml/2006/main">
              <a:ext uri="{FF2B5EF4-FFF2-40B4-BE49-F238E27FC236}">
                <a16:creationId xmlns:a16="http://schemas.microsoft.com/office/drawing/2014/main" id="{F72DE0BC-1A56-4871-980A-D3D1CC522101}"/>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1 billion parameters at 16 bits use 2 billion bytes, or 2 GB, for</a:t>
            </a:r>
          </a:p>
        </p:txBody>
      </p:sp>
      <p:sp>
        <p:nvSpPr>
          <p:cNvPr id="10" name="concept-86-example-1">
            <a:extLst xmlns:a="http://schemas.openxmlformats.org/drawingml/2006/main">
              <a:ext uri="{FF2B5EF4-FFF2-40B4-BE49-F238E27FC236}">
                <a16:creationId xmlns:a16="http://schemas.microsoft.com/office/drawing/2014/main" id="{6B10DE88-4239-4F17-B699-9B9E540F0EE8}"/>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weights alone.</a:t>
            </a:r>
          </a:p>
        </p:txBody>
      </p:sp>
      <p:sp>
        <p:nvSpPr>
          <p:cNvPr id="11" name="concept-86-metaphor-label-0">
            <a:extLst xmlns:a="http://schemas.openxmlformats.org/drawingml/2006/main">
              <a:ext uri="{FF2B5EF4-FFF2-40B4-BE49-F238E27FC236}">
                <a16:creationId xmlns:a16="http://schemas.microsoft.com/office/drawing/2014/main" id="{9F40DD91-E4B3-42F7-8714-7DB2AFB9A945}"/>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86-metaphor-0">
            <a:extLst xmlns:a="http://schemas.openxmlformats.org/drawingml/2006/main">
              <a:ext uri="{FF2B5EF4-FFF2-40B4-BE49-F238E27FC236}">
                <a16:creationId xmlns:a16="http://schemas.microsoft.com/office/drawing/2014/main" id="{C852EEFA-CFB5-4B7A-B3C6-CA98154E0146}"/>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kitchen counter limits how many ingredients and partly</a:t>
            </a:r>
          </a:p>
        </p:txBody>
      </p:sp>
      <p:sp>
        <p:nvSpPr>
          <p:cNvPr id="13" name="concept-86-metaphor-1">
            <a:extLst xmlns:a="http://schemas.openxmlformats.org/drawingml/2006/main">
              <a:ext uri="{FF2B5EF4-FFF2-40B4-BE49-F238E27FC236}">
                <a16:creationId xmlns:a16="http://schemas.microsoft.com/office/drawing/2014/main" id="{8F9D690D-371B-4EF5-B716-FB58957D347A}"/>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prepared dishes fit at once.</a:t>
            </a:r>
          </a:p>
        </p:txBody>
      </p:sp>
      <p:sp>
        <p:nvSpPr>
          <p:cNvPr id="14" name="concept-86-footer-0">
            <a:extLst xmlns:a="http://schemas.openxmlformats.org/drawingml/2006/main">
              <a:ext uri="{FF2B5EF4-FFF2-40B4-BE49-F238E27FC236}">
                <a16:creationId xmlns:a16="http://schemas.microsoft.com/office/drawing/2014/main" id="{A63DA77A-B665-460B-9D1F-672B515E4F98}"/>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Memory bandwidth</a:t>
            </a:r>
          </a:p>
        </p:txBody>
      </p:sp>
    </p:spTree>
    <p:extLst>
      <p:ext uri="{BB962C8B-B14F-4D97-AF65-F5344CB8AC3E}">
        <p14:creationId xmlns:p14="http://schemas.microsoft.com/office/powerpoint/2010/main" val="949835974"/>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ept-87-chapter-0">
            <a:extLst xmlns:a="http://schemas.openxmlformats.org/drawingml/2006/main">
              <a:ext uri="{FF2B5EF4-FFF2-40B4-BE49-F238E27FC236}">
                <a16:creationId xmlns:a16="http://schemas.microsoft.com/office/drawing/2014/main" id="{6BC8F957-581C-4CA8-9811-02AF6ABB992C}"/>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087 / 100 · COMPUTING HARDWARE</a:t>
            </a:r>
          </a:p>
        </p:txBody>
      </p:sp>
      <p:sp>
        <p:nvSpPr>
          <p:cNvPr id="2" name="concept-87-title-0">
            <a:extLst xmlns:a="http://schemas.openxmlformats.org/drawingml/2006/main">
              <a:ext uri="{FF2B5EF4-FFF2-40B4-BE49-F238E27FC236}">
                <a16:creationId xmlns:a16="http://schemas.microsoft.com/office/drawing/2014/main" id="{11970B0D-06D0-4767-83F1-70372B8BD804}"/>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Memory bandwidth</a:t>
            </a:r>
          </a:p>
        </p:txBody>
      </p:sp>
      <p:sp>
        <p:nvSpPr>
          <p:cNvPr id="3" name="concept-87-definition-label-0">
            <a:extLst xmlns:a="http://schemas.openxmlformats.org/drawingml/2006/main">
              <a:ext uri="{FF2B5EF4-FFF2-40B4-BE49-F238E27FC236}">
                <a16:creationId xmlns:a16="http://schemas.microsoft.com/office/drawing/2014/main" id="{10F420AD-96DA-4311-A1DF-06BD444BA285}"/>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87-definition-0">
            <a:extLst xmlns:a="http://schemas.openxmlformats.org/drawingml/2006/main">
              <a:ext uri="{FF2B5EF4-FFF2-40B4-BE49-F238E27FC236}">
                <a16:creationId xmlns:a16="http://schemas.microsoft.com/office/drawing/2014/main" id="{360B3FE2-C26D-416E-ADB8-A89B84CBA817}"/>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Memory bandwidth is the amount of data transferred per unit</a:t>
            </a:r>
          </a:p>
        </p:txBody>
      </p:sp>
      <p:sp>
        <p:nvSpPr>
          <p:cNvPr id="5" name="concept-87-definition-1">
            <a:extLst xmlns:a="http://schemas.openxmlformats.org/drawingml/2006/main">
              <a:ext uri="{FF2B5EF4-FFF2-40B4-BE49-F238E27FC236}">
                <a16:creationId xmlns:a16="http://schemas.microsoft.com/office/drawing/2014/main" id="{316FACA6-BA8D-4B56-ADCD-E576B3D81B47}"/>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time. It can limit speed even when computation units are fast.</a:t>
            </a:r>
          </a:p>
        </p:txBody>
      </p:sp>
      <p:sp>
        <p:nvSpPr>
          <p:cNvPr id="6" name="concept-87-formula-0">
            <a:extLst xmlns:a="http://schemas.openxmlformats.org/drawingml/2006/main">
              <a:ext uri="{FF2B5EF4-FFF2-40B4-BE49-F238E27FC236}">
                <a16:creationId xmlns:a16="http://schemas.microsoft.com/office/drawing/2014/main" id="{CAAE622C-9C34-448E-801D-5F00DC7C40CF}"/>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transfer time ≥ bytes moved / peak bytes per second</a:t>
            </a:r>
          </a:p>
        </p:txBody>
      </p:sp>
      <p:sp>
        <p:nvSpPr>
          <p:cNvPr id="7" name="concept-87-example-label-0">
            <a:extLst xmlns:a="http://schemas.openxmlformats.org/drawingml/2006/main">
              <a:ext uri="{FF2B5EF4-FFF2-40B4-BE49-F238E27FC236}">
                <a16:creationId xmlns:a16="http://schemas.microsoft.com/office/drawing/2014/main" id="{C112A946-A59D-43DC-93F9-A0D93AA75CC8}"/>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8" name="concept-87-example-0">
            <a:extLst xmlns:a="http://schemas.openxmlformats.org/drawingml/2006/main">
              <a:ext uri="{FF2B5EF4-FFF2-40B4-BE49-F238E27FC236}">
                <a16:creationId xmlns:a16="http://schemas.microsoft.com/office/drawing/2014/main" id="{8DA4C01D-5C86-43AB-A09F-69EE4F63809D}"/>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Moving 10 GB through a 100 GB/second channel takes at least</a:t>
            </a:r>
          </a:p>
        </p:txBody>
      </p:sp>
      <p:sp>
        <p:nvSpPr>
          <p:cNvPr id="9" name="concept-87-example-1">
            <a:extLst xmlns:a="http://schemas.openxmlformats.org/drawingml/2006/main">
              <a:ext uri="{FF2B5EF4-FFF2-40B4-BE49-F238E27FC236}">
                <a16:creationId xmlns:a16="http://schemas.microsoft.com/office/drawing/2014/main" id="{E2F870AF-0A3E-4DEA-BDE7-7AAF69C984AA}"/>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0.1 seconds under ideal conditions.</a:t>
            </a:r>
          </a:p>
        </p:txBody>
      </p:sp>
      <p:sp>
        <p:nvSpPr>
          <p:cNvPr id="10" name="concept-87-metaphor-label-0">
            <a:extLst xmlns:a="http://schemas.openxmlformats.org/drawingml/2006/main">
              <a:ext uri="{FF2B5EF4-FFF2-40B4-BE49-F238E27FC236}">
                <a16:creationId xmlns:a16="http://schemas.microsoft.com/office/drawing/2014/main" id="{E67C16EA-F39F-40A6-8590-F06F2E2D26E9}"/>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1" name="concept-87-metaphor-0">
            <a:extLst xmlns:a="http://schemas.openxmlformats.org/drawingml/2006/main">
              <a:ext uri="{FF2B5EF4-FFF2-40B4-BE49-F238E27FC236}">
                <a16:creationId xmlns:a16="http://schemas.microsoft.com/office/drawing/2014/main" id="{9F8ABC57-069C-48C3-A024-1DDB98FD236F}"/>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giant pantry does not help a cook if ingredients arrive</a:t>
            </a:r>
          </a:p>
        </p:txBody>
      </p:sp>
      <p:sp>
        <p:nvSpPr>
          <p:cNvPr id="12" name="concept-87-metaphor-1">
            <a:extLst xmlns:a="http://schemas.openxmlformats.org/drawingml/2006/main">
              <a:ext uri="{FF2B5EF4-FFF2-40B4-BE49-F238E27FC236}">
                <a16:creationId xmlns:a16="http://schemas.microsoft.com/office/drawing/2014/main" id="{94E0ED37-88DE-44E8-8004-85FC30180BFC}"/>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through a narrow serving hatch.</a:t>
            </a:r>
          </a:p>
        </p:txBody>
      </p:sp>
      <p:sp>
        <p:nvSpPr>
          <p:cNvPr id="13" name="concept-87-footer-0">
            <a:extLst xmlns:a="http://schemas.openxmlformats.org/drawingml/2006/main">
              <a:ext uri="{FF2B5EF4-FFF2-40B4-BE49-F238E27FC236}">
                <a16:creationId xmlns:a16="http://schemas.microsoft.com/office/drawing/2014/main" id="{1964D076-E11F-4DA1-B469-FAF1FA23BE37}"/>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H100</a:t>
            </a:r>
          </a:p>
        </p:txBody>
      </p:sp>
    </p:spTree>
    <p:extLst>
      <p:ext uri="{BB962C8B-B14F-4D97-AF65-F5344CB8AC3E}">
        <p14:creationId xmlns:p14="http://schemas.microsoft.com/office/powerpoint/2010/main" val="1993472884"/>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88-chapter-0">
            <a:extLst xmlns:a="http://schemas.openxmlformats.org/drawingml/2006/main">
              <a:ext uri="{FF2B5EF4-FFF2-40B4-BE49-F238E27FC236}">
                <a16:creationId xmlns:a16="http://schemas.microsoft.com/office/drawing/2014/main" id="{8F107901-6274-4259-B529-0E0AC22D4D2A}"/>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088 / 100 · COMPUTING HARDWARE</a:t>
            </a:r>
          </a:p>
        </p:txBody>
      </p:sp>
      <p:sp>
        <p:nvSpPr>
          <p:cNvPr id="2" name="concept-88-title-0">
            <a:extLst xmlns:a="http://schemas.openxmlformats.org/drawingml/2006/main">
              <a:ext uri="{FF2B5EF4-FFF2-40B4-BE49-F238E27FC236}">
                <a16:creationId xmlns:a16="http://schemas.microsoft.com/office/drawing/2014/main" id="{73C3E140-D7F7-45D4-A1E0-D08B0547CCB5}"/>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H100</a:t>
            </a:r>
          </a:p>
        </p:txBody>
      </p:sp>
      <p:sp>
        <p:nvSpPr>
          <p:cNvPr id="3" name="concept-88-definition-label-0">
            <a:extLst xmlns:a="http://schemas.openxmlformats.org/drawingml/2006/main">
              <a:ext uri="{FF2B5EF4-FFF2-40B4-BE49-F238E27FC236}">
                <a16:creationId xmlns:a16="http://schemas.microsoft.com/office/drawing/2014/main" id="{F679D04E-D807-4AEB-A5A5-1AFF25F46FEF}"/>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88-definition-0">
            <a:extLst xmlns:a="http://schemas.openxmlformats.org/drawingml/2006/main">
              <a:ext uri="{FF2B5EF4-FFF2-40B4-BE49-F238E27FC236}">
                <a16:creationId xmlns:a16="http://schemas.microsoft.com/office/drawing/2014/main" id="{61E2AF0A-E050-4394-A4E5-939CFEF99564}"/>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NVIDIA H100 is a Hopper-generation data-center GPU. Its</a:t>
            </a:r>
          </a:p>
        </p:txBody>
      </p:sp>
      <p:sp>
        <p:nvSpPr>
          <p:cNvPr id="5" name="concept-88-definition-1">
            <a:extLst xmlns:a="http://schemas.openxmlformats.org/drawingml/2006/main">
              <a:ext uri="{FF2B5EF4-FFF2-40B4-BE49-F238E27FC236}">
                <a16:creationId xmlns:a16="http://schemas.microsoft.com/office/drawing/2014/main" id="{10607561-C049-45FF-AA59-96632FBC1EE9}"/>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variants differ; the H100 SXM specification includes 80 GB of</a:t>
            </a:r>
          </a:p>
        </p:txBody>
      </p:sp>
      <p:sp>
        <p:nvSpPr>
          <p:cNvPr id="6" name="concept-88-definition-2">
            <a:extLst xmlns:a="http://schemas.openxmlformats.org/drawingml/2006/main">
              <a:ext uri="{FF2B5EF4-FFF2-40B4-BE49-F238E27FC236}">
                <a16:creationId xmlns:a16="http://schemas.microsoft.com/office/drawing/2014/main" id="{D3278AEC-5760-4BDA-A2EA-CE0D1E108968}"/>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HBM3 memory.</a:t>
            </a:r>
          </a:p>
        </p:txBody>
      </p:sp>
      <p:sp>
        <p:nvSpPr>
          <p:cNvPr id="7" name="concept-88-formula-0">
            <a:extLst xmlns:a="http://schemas.openxmlformats.org/drawingml/2006/main">
              <a:ext uri="{FF2B5EF4-FFF2-40B4-BE49-F238E27FC236}">
                <a16:creationId xmlns:a16="http://schemas.microsoft.com/office/drawing/2014/main" id="{F93FAFB6-9ADF-4B26-B5AB-62975C72B609}"/>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weights-only capacity estimate: 80 GB / 2 bytes = 40 billion</a:t>
            </a:r>
          </a:p>
        </p:txBody>
      </p:sp>
      <p:sp>
        <p:nvSpPr>
          <p:cNvPr id="8" name="concept-88-formula-1">
            <a:extLst xmlns:a="http://schemas.openxmlformats.org/drawingml/2006/main">
              <a:ext uri="{FF2B5EF4-FFF2-40B4-BE49-F238E27FC236}">
                <a16:creationId xmlns:a16="http://schemas.microsoft.com/office/drawing/2014/main" id="{35CFC7B7-94A0-4217-9B68-0EEA47628C7C}"/>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values</a:t>
            </a:r>
          </a:p>
        </p:txBody>
      </p:sp>
      <p:sp>
        <p:nvSpPr>
          <p:cNvPr id="9" name="concept-88-example-label-0">
            <a:extLst xmlns:a="http://schemas.openxmlformats.org/drawingml/2006/main">
              <a:ext uri="{FF2B5EF4-FFF2-40B4-BE49-F238E27FC236}">
                <a16:creationId xmlns:a16="http://schemas.microsoft.com/office/drawing/2014/main" id="{624AB90B-D643-4264-A74D-98659C17E9D9}"/>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10" name="concept-88-example-0">
            <a:extLst xmlns:a="http://schemas.openxmlformats.org/drawingml/2006/main">
              <a:ext uri="{FF2B5EF4-FFF2-40B4-BE49-F238E27FC236}">
                <a16:creationId xmlns:a16="http://schemas.microsoft.com/office/drawing/2014/main" id="{A1BB4D37-2961-4E85-821B-FCA86B9BAC35}"/>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10-billion-parameter model uses about 20 GB at 16 bits for</a:t>
            </a:r>
          </a:p>
        </p:txBody>
      </p:sp>
      <p:sp>
        <p:nvSpPr>
          <p:cNvPr id="11" name="concept-88-example-1">
            <a:extLst xmlns:a="http://schemas.openxmlformats.org/drawingml/2006/main">
              <a:ext uri="{FF2B5EF4-FFF2-40B4-BE49-F238E27FC236}">
                <a16:creationId xmlns:a16="http://schemas.microsoft.com/office/drawing/2014/main" id="{14432C73-BB3F-4535-AA8E-83D83FABC6CF}"/>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weights, leaving nominal space for other needs.</a:t>
            </a:r>
          </a:p>
        </p:txBody>
      </p:sp>
      <p:sp>
        <p:nvSpPr>
          <p:cNvPr id="12" name="concept-88-metaphor-label-0">
            <a:extLst xmlns:a="http://schemas.openxmlformats.org/drawingml/2006/main">
              <a:ext uri="{FF2B5EF4-FFF2-40B4-BE49-F238E27FC236}">
                <a16:creationId xmlns:a16="http://schemas.microsoft.com/office/drawing/2014/main" id="{19A91174-0069-4A9E-9E42-41063C817168}"/>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3" name="concept-88-metaphor-0">
            <a:extLst xmlns:a="http://schemas.openxmlformats.org/drawingml/2006/main">
              <a:ext uri="{FF2B5EF4-FFF2-40B4-BE49-F238E27FC236}">
                <a16:creationId xmlns:a16="http://schemas.microsoft.com/office/drawing/2014/main" id="{6E252164-4502-4679-86D4-FEBDC0F92B59}"/>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H100 is a particular workshop machine, with a specified</a:t>
            </a:r>
          </a:p>
        </p:txBody>
      </p:sp>
      <p:sp>
        <p:nvSpPr>
          <p:cNvPr id="14" name="concept-88-metaphor-1">
            <a:extLst xmlns:a="http://schemas.openxmlformats.org/drawingml/2006/main">
              <a:ext uri="{FF2B5EF4-FFF2-40B4-BE49-F238E27FC236}">
                <a16:creationId xmlns:a16="http://schemas.microsoft.com/office/drawing/2014/main" id="{D16EAAAA-7ACB-4DFE-BC8A-2AB33C78813F}"/>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counter size and arithmetic tools.</a:t>
            </a:r>
          </a:p>
        </p:txBody>
      </p:sp>
      <p:sp>
        <p:nvSpPr>
          <p:cNvPr id="15" name="concept-88-footer-0">
            <a:extLst xmlns:a="http://schemas.openxmlformats.org/drawingml/2006/main">
              <a:ext uri="{FF2B5EF4-FFF2-40B4-BE49-F238E27FC236}">
                <a16:creationId xmlns:a16="http://schemas.microsoft.com/office/drawing/2014/main" id="{346AAEFF-582C-4405-9C60-FCC8498C7233}"/>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Compute cluster</a:t>
            </a:r>
          </a:p>
        </p:txBody>
      </p:sp>
    </p:spTree>
    <p:extLst>
      <p:ext uri="{BB962C8B-B14F-4D97-AF65-F5344CB8AC3E}">
        <p14:creationId xmlns:p14="http://schemas.microsoft.com/office/powerpoint/2010/main" val="114014353"/>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oncept-89-chapter-0">
            <a:extLst xmlns:a="http://schemas.openxmlformats.org/drawingml/2006/main">
              <a:ext uri="{FF2B5EF4-FFF2-40B4-BE49-F238E27FC236}">
                <a16:creationId xmlns:a16="http://schemas.microsoft.com/office/drawing/2014/main" id="{B9FA3278-EAD8-42C3-BF2D-0912349758E8}"/>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089 / 100 · COMPUTING HARDWARE</a:t>
            </a:r>
          </a:p>
        </p:txBody>
      </p:sp>
      <p:sp>
        <p:nvSpPr>
          <p:cNvPr id="2" name="concept-89-title-0">
            <a:extLst xmlns:a="http://schemas.openxmlformats.org/drawingml/2006/main">
              <a:ext uri="{FF2B5EF4-FFF2-40B4-BE49-F238E27FC236}">
                <a16:creationId xmlns:a16="http://schemas.microsoft.com/office/drawing/2014/main" id="{345294AB-A40C-4108-937F-0793431F526B}"/>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Compute cluster</a:t>
            </a:r>
          </a:p>
        </p:txBody>
      </p:sp>
      <p:sp>
        <p:nvSpPr>
          <p:cNvPr id="3" name="concept-89-definition-label-0">
            <a:extLst xmlns:a="http://schemas.openxmlformats.org/drawingml/2006/main">
              <a:ext uri="{FF2B5EF4-FFF2-40B4-BE49-F238E27FC236}">
                <a16:creationId xmlns:a16="http://schemas.microsoft.com/office/drawing/2014/main" id="{CFDAA38A-CBD0-43C0-8E48-8F64B2293470}"/>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89-definition-0">
            <a:extLst xmlns:a="http://schemas.openxmlformats.org/drawingml/2006/main">
              <a:ext uri="{FF2B5EF4-FFF2-40B4-BE49-F238E27FC236}">
                <a16:creationId xmlns:a16="http://schemas.microsoft.com/office/drawing/2014/main" id="{5E9128C9-88AF-49DE-B3F3-54351725E4E5}"/>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compute cluster is a set of networked computers working</a:t>
            </a:r>
          </a:p>
        </p:txBody>
      </p:sp>
      <p:sp>
        <p:nvSpPr>
          <p:cNvPr id="5" name="concept-89-definition-1">
            <a:extLst xmlns:a="http://schemas.openxmlformats.org/drawingml/2006/main">
              <a:ext uri="{FF2B5EF4-FFF2-40B4-BE49-F238E27FC236}">
                <a16:creationId xmlns:a16="http://schemas.microsoft.com/office/drawing/2014/main" id="{3C4CD0D0-9B57-4A5C-B1FC-BAA2E185F1E8}"/>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together. Distributed training may divide data, model</a:t>
            </a:r>
          </a:p>
        </p:txBody>
      </p:sp>
      <p:sp>
        <p:nvSpPr>
          <p:cNvPr id="6" name="concept-89-definition-2">
            <a:extLst xmlns:a="http://schemas.openxmlformats.org/drawingml/2006/main">
              <a:ext uri="{FF2B5EF4-FFF2-40B4-BE49-F238E27FC236}">
                <a16:creationId xmlns:a16="http://schemas.microsoft.com/office/drawing/2014/main" id="{1A6C23FE-3E98-4B78-AB60-0481C5939405}"/>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parameters, or both across devices.</a:t>
            </a:r>
          </a:p>
        </p:txBody>
      </p:sp>
      <p:sp>
        <p:nvSpPr>
          <p:cNvPr id="7" name="concept-89-formula-0">
            <a:extLst xmlns:a="http://schemas.openxmlformats.org/drawingml/2006/main">
              <a:ext uri="{FF2B5EF4-FFF2-40B4-BE49-F238E27FC236}">
                <a16:creationId xmlns:a16="http://schemas.microsoft.com/office/drawing/2014/main" id="{A6AA8694-04B4-4FD3-8B8C-6DBE8C67EDB3}"/>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Simple model: time = serial work + parallel work/n</a:t>
            </a:r>
          </a:p>
        </p:txBody>
      </p:sp>
      <p:sp>
        <p:nvSpPr>
          <p:cNvPr id="8" name="concept-89-formula-1">
            <a:extLst xmlns:a="http://schemas.openxmlformats.org/drawingml/2006/main">
              <a:ext uri="{FF2B5EF4-FFF2-40B4-BE49-F238E27FC236}">
                <a16:creationId xmlns:a16="http://schemas.microsoft.com/office/drawing/2014/main" id="{2A83BA16-EFC7-4463-9F8D-445FA8825DB1}"/>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n = equal workers; communication adds further time</a:t>
            </a:r>
          </a:p>
        </p:txBody>
      </p:sp>
      <p:sp>
        <p:nvSpPr>
          <p:cNvPr id="9" name="concept-89-example-label-0">
            <a:extLst xmlns:a="http://schemas.openxmlformats.org/drawingml/2006/main">
              <a:ext uri="{FF2B5EF4-FFF2-40B4-BE49-F238E27FC236}">
                <a16:creationId xmlns:a16="http://schemas.microsoft.com/office/drawing/2014/main" id="{DFAFEB24-241E-4E33-B48C-7E315A7E483F}"/>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10" name="concept-89-example-0">
            <a:extLst xmlns:a="http://schemas.openxmlformats.org/drawingml/2006/main">
              <a:ext uri="{FF2B5EF4-FFF2-40B4-BE49-F238E27FC236}">
                <a16:creationId xmlns:a16="http://schemas.microsoft.com/office/drawing/2014/main" id="{9C5C56B1-ADEA-4E92-A124-B034E31A6156}"/>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80-second job has 20 seconds of serial work and 60 divisible</a:t>
            </a:r>
          </a:p>
        </p:txBody>
      </p:sp>
      <p:sp>
        <p:nvSpPr>
          <p:cNvPr id="11" name="concept-89-example-1">
            <a:extLst xmlns:a="http://schemas.openxmlformats.org/drawingml/2006/main">
              <a:ext uri="{FF2B5EF4-FFF2-40B4-BE49-F238E27FC236}">
                <a16:creationId xmlns:a16="http://schemas.microsoft.com/office/drawing/2014/main" id="{8491B86D-8A2C-4B85-9EE2-5A53E89D552B}"/>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seconds. Four workers need at least 20 + 60/4 = 35 seconds in</a:t>
            </a:r>
          </a:p>
        </p:txBody>
      </p:sp>
      <p:sp>
        <p:nvSpPr>
          <p:cNvPr id="12" name="concept-89-example-2">
            <a:extLst xmlns:a="http://schemas.openxmlformats.org/drawingml/2006/main">
              <a:ext uri="{FF2B5EF4-FFF2-40B4-BE49-F238E27FC236}">
                <a16:creationId xmlns:a16="http://schemas.microsoft.com/office/drawing/2014/main" id="{323E037F-260D-45F9-8A60-34AD8C3CBDD3}"/>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this model.</a:t>
            </a:r>
          </a:p>
        </p:txBody>
      </p:sp>
      <p:sp>
        <p:nvSpPr>
          <p:cNvPr id="13" name="concept-89-metaphor-label-0">
            <a:extLst xmlns:a="http://schemas.openxmlformats.org/drawingml/2006/main">
              <a:ext uri="{FF2B5EF4-FFF2-40B4-BE49-F238E27FC236}">
                <a16:creationId xmlns:a16="http://schemas.microsoft.com/office/drawing/2014/main" id="{7A4E0701-EAFD-467C-8DE9-6E25E23AE208}"/>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4" name="concept-89-metaphor-0">
            <a:extLst xmlns:a="http://schemas.openxmlformats.org/drawingml/2006/main">
              <a:ext uri="{FF2B5EF4-FFF2-40B4-BE49-F238E27FC236}">
                <a16:creationId xmlns:a16="http://schemas.microsoft.com/office/drawing/2014/main" id="{00A8953B-C706-4A87-A17F-214E62EE8EE6}"/>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Eight kitchens can cook together, but they still need roads to</a:t>
            </a:r>
          </a:p>
        </p:txBody>
      </p:sp>
      <p:sp>
        <p:nvSpPr>
          <p:cNvPr id="15" name="concept-89-metaphor-1">
            <a:extLst xmlns:a="http://schemas.openxmlformats.org/drawingml/2006/main">
              <a:ext uri="{FF2B5EF4-FFF2-40B4-BE49-F238E27FC236}">
                <a16:creationId xmlns:a16="http://schemas.microsoft.com/office/drawing/2014/main" id="{1CFB3F10-69A7-4E38-916E-1776B8E1F507}"/>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exchange ingredients and results.</a:t>
            </a:r>
          </a:p>
        </p:txBody>
      </p:sp>
      <p:sp>
        <p:nvSpPr>
          <p:cNvPr id="16" name="concept-89-footer-0">
            <a:extLst xmlns:a="http://schemas.openxmlformats.org/drawingml/2006/main">
              <a:ext uri="{FF2B5EF4-FFF2-40B4-BE49-F238E27FC236}">
                <a16:creationId xmlns:a16="http://schemas.microsoft.com/office/drawing/2014/main" id="{AB2CB679-65B2-41EC-BA12-E7486CA2E902}"/>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TSMC and chip fabrication</a:t>
            </a:r>
          </a:p>
        </p:txBody>
      </p:sp>
    </p:spTree>
    <p:extLst>
      <p:ext uri="{BB962C8B-B14F-4D97-AF65-F5344CB8AC3E}">
        <p14:creationId xmlns:p14="http://schemas.microsoft.com/office/powerpoint/2010/main" val="852236421"/>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90-chapter-0">
            <a:extLst xmlns:a="http://schemas.openxmlformats.org/drawingml/2006/main">
              <a:ext uri="{FF2B5EF4-FFF2-40B4-BE49-F238E27FC236}">
                <a16:creationId xmlns:a16="http://schemas.microsoft.com/office/drawing/2014/main" id="{7E1102CD-D8A8-4F54-9E14-44246205766C}"/>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090 / 100 · COMPUTING HARDWARE</a:t>
            </a:r>
          </a:p>
        </p:txBody>
      </p:sp>
      <p:sp>
        <p:nvSpPr>
          <p:cNvPr id="2" name="concept-90-title-0">
            <a:extLst xmlns:a="http://schemas.openxmlformats.org/drawingml/2006/main">
              <a:ext uri="{FF2B5EF4-FFF2-40B4-BE49-F238E27FC236}">
                <a16:creationId xmlns:a16="http://schemas.microsoft.com/office/drawing/2014/main" id="{54B98716-7B18-4D1C-B19A-C997EABFFA84}"/>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TSMC and chip fabrication</a:t>
            </a:r>
          </a:p>
        </p:txBody>
      </p:sp>
      <p:sp>
        <p:nvSpPr>
          <p:cNvPr id="3" name="concept-90-definition-label-0">
            <a:extLst xmlns:a="http://schemas.openxmlformats.org/drawingml/2006/main">
              <a:ext uri="{FF2B5EF4-FFF2-40B4-BE49-F238E27FC236}">
                <a16:creationId xmlns:a16="http://schemas.microsoft.com/office/drawing/2014/main" id="{05F99D72-5E58-43CD-9DF6-283FAA0A91C7}"/>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90-definition-0">
            <a:extLst xmlns:a="http://schemas.openxmlformats.org/drawingml/2006/main">
              <a:ext uri="{FF2B5EF4-FFF2-40B4-BE49-F238E27FC236}">
                <a16:creationId xmlns:a16="http://schemas.microsoft.com/office/drawing/2014/main" id="{7E8ECB94-8B1E-43AB-80A8-4EB52CA0136E}"/>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TSMC is a semiconductor foundry: it manufactures chips</a:t>
            </a:r>
          </a:p>
        </p:txBody>
      </p:sp>
      <p:sp>
        <p:nvSpPr>
          <p:cNvPr id="5" name="concept-90-definition-1">
            <a:extLst xmlns:a="http://schemas.openxmlformats.org/drawingml/2006/main">
              <a:ext uri="{FF2B5EF4-FFF2-40B4-BE49-F238E27FC236}">
                <a16:creationId xmlns:a16="http://schemas.microsoft.com/office/drawing/2014/main" id="{3A5CBE17-4689-4904-A560-FDE6B7C9A793}"/>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designed by customers. Circuits are formed on a silicon wafer,</a:t>
            </a:r>
          </a:p>
        </p:txBody>
      </p:sp>
      <p:sp>
        <p:nvSpPr>
          <p:cNvPr id="6" name="concept-90-definition-2">
            <a:extLst xmlns:a="http://schemas.openxmlformats.org/drawingml/2006/main">
              <a:ext uri="{FF2B5EF4-FFF2-40B4-BE49-F238E27FC236}">
                <a16:creationId xmlns:a16="http://schemas.microsoft.com/office/drawing/2014/main" id="{7BC39C09-BDB7-4188-9D04-601EDC927055}"/>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then separated into individual chips called dies.</a:t>
            </a:r>
          </a:p>
        </p:txBody>
      </p:sp>
      <p:sp>
        <p:nvSpPr>
          <p:cNvPr id="7" name="concept-90-formula-0">
            <a:extLst xmlns:a="http://schemas.openxmlformats.org/drawingml/2006/main">
              <a:ext uri="{FF2B5EF4-FFF2-40B4-BE49-F238E27FC236}">
                <a16:creationId xmlns:a16="http://schemas.microsoft.com/office/drawing/2014/main" id="{FB1F9D00-9DE1-42A6-9370-BFB6D707EB57}"/>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yield = usable dies / manufactured dies</a:t>
            </a:r>
          </a:p>
        </p:txBody>
      </p:sp>
      <p:sp>
        <p:nvSpPr>
          <p:cNvPr id="8" name="concept-90-example-label-0">
            <a:extLst xmlns:a="http://schemas.openxmlformats.org/drawingml/2006/main">
              <a:ext uri="{FF2B5EF4-FFF2-40B4-BE49-F238E27FC236}">
                <a16:creationId xmlns:a16="http://schemas.microsoft.com/office/drawing/2014/main" id="{0970FE17-8612-402F-AD65-BCD9DF154B90}"/>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90-example-0">
            <a:extLst xmlns:a="http://schemas.openxmlformats.org/drawingml/2006/main">
              <a:ext uri="{FF2B5EF4-FFF2-40B4-BE49-F238E27FC236}">
                <a16:creationId xmlns:a16="http://schemas.microsoft.com/office/drawing/2014/main" id="{01C2641D-8986-4458-BA0A-2670FCEEF509}"/>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 a hypothetical batch of 100 dies, 80 passing inspection gives</a:t>
            </a:r>
          </a:p>
        </p:txBody>
      </p:sp>
      <p:sp>
        <p:nvSpPr>
          <p:cNvPr id="10" name="concept-90-example-1">
            <a:extLst xmlns:a="http://schemas.openxmlformats.org/drawingml/2006/main">
              <a:ext uri="{FF2B5EF4-FFF2-40B4-BE49-F238E27FC236}">
                <a16:creationId xmlns:a16="http://schemas.microsoft.com/office/drawing/2014/main" id="{404231E7-1E4B-4C16-9D70-507C36317D6C}"/>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80% yield. This is a teaching example, not TSMC production</a:t>
            </a:r>
          </a:p>
        </p:txBody>
      </p:sp>
      <p:sp>
        <p:nvSpPr>
          <p:cNvPr id="11" name="concept-90-example-2">
            <a:extLst xmlns:a="http://schemas.openxmlformats.org/drawingml/2006/main">
              <a:ext uri="{FF2B5EF4-FFF2-40B4-BE49-F238E27FC236}">
                <a16:creationId xmlns:a16="http://schemas.microsoft.com/office/drawing/2014/main" id="{6B7F64A6-7E66-47BC-9333-94BE9CB14BF3}"/>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data.</a:t>
            </a:r>
          </a:p>
        </p:txBody>
      </p:sp>
      <p:sp>
        <p:nvSpPr>
          <p:cNvPr id="12" name="concept-90-metaphor-label-0">
            <a:extLst xmlns:a="http://schemas.openxmlformats.org/drawingml/2006/main">
              <a:ext uri="{FF2B5EF4-FFF2-40B4-BE49-F238E27FC236}">
                <a16:creationId xmlns:a16="http://schemas.microsoft.com/office/drawing/2014/main" id="{5B16195B-4064-42FD-9ED0-C06EF04AA7C5}"/>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3" name="concept-90-metaphor-0">
            <a:extLst xmlns:a="http://schemas.openxmlformats.org/drawingml/2006/main">
              <a:ext uri="{FF2B5EF4-FFF2-40B4-BE49-F238E27FC236}">
                <a16:creationId xmlns:a16="http://schemas.microsoft.com/office/drawing/2014/main" id="{88F6201F-83D7-4F94-9C26-5DC3E17FE1A8}"/>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foundry is the factory that fabricates another company's</a:t>
            </a:r>
          </a:p>
        </p:txBody>
      </p:sp>
      <p:sp>
        <p:nvSpPr>
          <p:cNvPr id="14" name="concept-90-metaphor-1">
            <a:extLst xmlns:a="http://schemas.openxmlformats.org/drawingml/2006/main">
              <a:ext uri="{FF2B5EF4-FFF2-40B4-BE49-F238E27FC236}">
                <a16:creationId xmlns:a16="http://schemas.microsoft.com/office/drawing/2014/main" id="{3B998439-4EE2-44D1-8F1A-4A9460AC1FE6}"/>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machine design.</a:t>
            </a:r>
          </a:p>
        </p:txBody>
      </p:sp>
      <p:sp>
        <p:nvSpPr>
          <p:cNvPr id="15" name="concept-90-footer-0">
            <a:extLst xmlns:a="http://schemas.openxmlformats.org/drawingml/2006/main">
              <a:ext uri="{FF2B5EF4-FFF2-40B4-BE49-F238E27FC236}">
                <a16:creationId xmlns:a16="http://schemas.microsoft.com/office/drawing/2014/main" id="{33AD795E-9EE5-40D0-BBA8-CC2BB8BC181F}"/>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Well log and LAS</a:t>
            </a:r>
          </a:p>
        </p:txBody>
      </p:sp>
    </p:spTree>
    <p:extLst>
      <p:ext uri="{BB962C8B-B14F-4D97-AF65-F5344CB8AC3E}">
        <p14:creationId xmlns:p14="http://schemas.microsoft.com/office/powerpoint/2010/main" val="1926029452"/>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91-chapter-0">
            <a:extLst xmlns:a="http://schemas.openxmlformats.org/drawingml/2006/main">
              <a:ext uri="{FF2B5EF4-FFF2-40B4-BE49-F238E27FC236}">
                <a16:creationId xmlns:a16="http://schemas.microsoft.com/office/drawing/2014/main" id="{8AAA55B5-6A2B-4966-B960-8DD76DE943CC}"/>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091 / 100 · THE WELL-LOG APPLICATION</a:t>
            </a:r>
          </a:p>
        </p:txBody>
      </p:sp>
      <p:sp>
        <p:nvSpPr>
          <p:cNvPr id="2" name="concept-91-title-0">
            <a:extLst xmlns:a="http://schemas.openxmlformats.org/drawingml/2006/main">
              <a:ext uri="{FF2B5EF4-FFF2-40B4-BE49-F238E27FC236}">
                <a16:creationId xmlns:a16="http://schemas.microsoft.com/office/drawing/2014/main" id="{5B5CEB1E-EFD4-412D-9E2F-D3588DEEA7F5}"/>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Well log and LAS</a:t>
            </a:r>
          </a:p>
        </p:txBody>
      </p:sp>
      <p:sp>
        <p:nvSpPr>
          <p:cNvPr id="3" name="concept-91-definition-label-0">
            <a:extLst xmlns:a="http://schemas.openxmlformats.org/drawingml/2006/main">
              <a:ext uri="{FF2B5EF4-FFF2-40B4-BE49-F238E27FC236}">
                <a16:creationId xmlns:a16="http://schemas.microsoft.com/office/drawing/2014/main" id="{726AB85E-19CB-40CE-9188-434066FB956B}"/>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91-definition-0">
            <a:extLst xmlns:a="http://schemas.openxmlformats.org/drawingml/2006/main">
              <a:ext uri="{FF2B5EF4-FFF2-40B4-BE49-F238E27FC236}">
                <a16:creationId xmlns:a16="http://schemas.microsoft.com/office/drawing/2014/main" id="{E0148D08-F750-4F40-A6F6-7855F1F7F4EB}"/>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well log records measurements indexed by depth. Log ASCII</a:t>
            </a:r>
          </a:p>
        </p:txBody>
      </p:sp>
      <p:sp>
        <p:nvSpPr>
          <p:cNvPr id="5" name="concept-91-definition-1">
            <a:extLst xmlns:a="http://schemas.openxmlformats.org/drawingml/2006/main">
              <a:ext uri="{FF2B5EF4-FFF2-40B4-BE49-F238E27FC236}">
                <a16:creationId xmlns:a16="http://schemas.microsoft.com/office/drawing/2014/main" id="{B0004889-8790-4C17-A2D9-63A9A2C64025}"/>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Standard, LAS, is a text format for exchanging well-log curves</a:t>
            </a:r>
          </a:p>
        </p:txBody>
      </p:sp>
      <p:sp>
        <p:nvSpPr>
          <p:cNvPr id="6" name="concept-91-definition-2">
            <a:extLst xmlns:a="http://schemas.openxmlformats.org/drawingml/2006/main">
              <a:ext uri="{FF2B5EF4-FFF2-40B4-BE49-F238E27FC236}">
                <a16:creationId xmlns:a16="http://schemas.microsoft.com/office/drawing/2014/main" id="{2C65A085-DA77-4489-BD12-B68849C1CAC1}"/>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and metadata.</a:t>
            </a:r>
          </a:p>
        </p:txBody>
      </p:sp>
      <p:sp>
        <p:nvSpPr>
          <p:cNvPr id="7" name="concept-91-formula-0">
            <a:extLst xmlns:a="http://schemas.openxmlformats.org/drawingml/2006/main">
              <a:ext uri="{FF2B5EF4-FFF2-40B4-BE49-F238E27FC236}">
                <a16:creationId xmlns:a16="http://schemas.microsoft.com/office/drawing/2014/main" id="{3857D65A-089F-482C-A3A7-40C8138AE372}"/>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curve x(d); samples = {(dᵢ, xᵢ)}</a:t>
            </a:r>
          </a:p>
        </p:txBody>
      </p:sp>
      <p:sp>
        <p:nvSpPr>
          <p:cNvPr id="8" name="concept-91-example-label-0">
            <a:extLst xmlns:a="http://schemas.openxmlformats.org/drawingml/2006/main">
              <a:ext uri="{FF2B5EF4-FFF2-40B4-BE49-F238E27FC236}">
                <a16:creationId xmlns:a16="http://schemas.microsoft.com/office/drawing/2014/main" id="{8C9025FA-638C-4AED-8076-26BDB18A5F2A}"/>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91-example-0">
            <a:extLst xmlns:a="http://schemas.openxmlformats.org/drawingml/2006/main">
              <a:ext uri="{FF2B5EF4-FFF2-40B4-BE49-F238E27FC236}">
                <a16:creationId xmlns:a16="http://schemas.microsoft.com/office/drawing/2014/main" id="{6ECEBDAB-D714-4FD9-B061-AA31DD1D61F6}"/>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toy temperature log records (100 m, 30 °C) and (101 m, 30.2</a:t>
            </a:r>
          </a:p>
        </p:txBody>
      </p:sp>
      <p:sp>
        <p:nvSpPr>
          <p:cNvPr id="10" name="concept-91-example-1">
            <a:extLst xmlns:a="http://schemas.openxmlformats.org/drawingml/2006/main">
              <a:ext uri="{FF2B5EF4-FFF2-40B4-BE49-F238E27FC236}">
                <a16:creationId xmlns:a16="http://schemas.microsoft.com/office/drawing/2014/main" id="{3DE00862-9150-44D5-8EB4-BC91C858EEC7}"/>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 Temperature rises 0.2 °C over 1 m. LAS stores curve names</a:t>
            </a:r>
          </a:p>
        </p:txBody>
      </p:sp>
      <p:sp>
        <p:nvSpPr>
          <p:cNvPr id="15" name="concept-91-example-2">
            <a:extLst xmlns:a="http://schemas.openxmlformats.org/drawingml/2006/main">
              <a:ext uri="{FF2B5EF4-FFF2-40B4-BE49-F238E27FC236}">
                <a16:creationId xmlns:a16="http://schemas.microsoft.com/office/drawing/2014/main" id="{EDB93EDD-0637-46D2-BF85-4CD6AD7F010C}"/>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and units too.</a:t>
            </a:r>
          </a:p>
        </p:txBody>
      </p:sp>
      <p:sp>
        <p:nvSpPr>
          <p:cNvPr id="11" name="concept-91-metaphor-label-0">
            <a:extLst xmlns:a="http://schemas.openxmlformats.org/drawingml/2006/main">
              <a:ext uri="{FF2B5EF4-FFF2-40B4-BE49-F238E27FC236}">
                <a16:creationId xmlns:a16="http://schemas.microsoft.com/office/drawing/2014/main" id="{D3042CC3-7BB7-42B6-8E1C-94D3258575A4}"/>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91-metaphor-0">
            <a:extLst xmlns:a="http://schemas.openxmlformats.org/drawingml/2006/main">
              <a:ext uri="{FF2B5EF4-FFF2-40B4-BE49-F238E27FC236}">
                <a16:creationId xmlns:a16="http://schemas.microsoft.com/office/drawing/2014/main" id="{63A2CB7C-E75A-4A60-87EC-C2EB6C316E3F}"/>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well log is a vertical diary of instrument readings through the</a:t>
            </a:r>
          </a:p>
        </p:txBody>
      </p:sp>
      <p:sp>
        <p:nvSpPr>
          <p:cNvPr id="13" name="concept-91-metaphor-1">
            <a:extLst xmlns:a="http://schemas.openxmlformats.org/drawingml/2006/main">
              <a:ext uri="{FF2B5EF4-FFF2-40B4-BE49-F238E27FC236}">
                <a16:creationId xmlns:a16="http://schemas.microsoft.com/office/drawing/2014/main" id="{374DDC76-3DC9-4821-B5BF-426435318C0E}"/>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ground.</a:t>
            </a:r>
          </a:p>
        </p:txBody>
      </p:sp>
      <p:sp>
        <p:nvSpPr>
          <p:cNvPr id="14" name="concept-91-footer-0">
            <a:extLst xmlns:a="http://schemas.openxmlformats.org/drawingml/2006/main">
              <a:ext uri="{FF2B5EF4-FFF2-40B4-BE49-F238E27FC236}">
                <a16:creationId xmlns:a16="http://schemas.microsoft.com/office/drawing/2014/main" id="{AAAA9F27-B9A3-405B-BE07-0A9CE0A65C44}"/>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Windowing and missing data</a:t>
            </a:r>
          </a:p>
        </p:txBody>
      </p:sp>
    </p:spTree>
    <p:extLst>
      <p:ext uri="{BB962C8B-B14F-4D97-AF65-F5344CB8AC3E}">
        <p14:creationId xmlns:p14="http://schemas.microsoft.com/office/powerpoint/2010/main" val="601602247"/>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92-chapter-0">
            <a:extLst xmlns:a="http://schemas.openxmlformats.org/drawingml/2006/main">
              <a:ext uri="{FF2B5EF4-FFF2-40B4-BE49-F238E27FC236}">
                <a16:creationId xmlns:a16="http://schemas.microsoft.com/office/drawing/2014/main" id="{21787726-D61D-4259-93EF-9CB0F13A954D}"/>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092 / 100 · THE WELL-LOG APPLICATION</a:t>
            </a:r>
          </a:p>
        </p:txBody>
      </p:sp>
      <p:sp>
        <p:nvSpPr>
          <p:cNvPr id="2" name="concept-92-title-0">
            <a:extLst xmlns:a="http://schemas.openxmlformats.org/drawingml/2006/main">
              <a:ext uri="{FF2B5EF4-FFF2-40B4-BE49-F238E27FC236}">
                <a16:creationId xmlns:a16="http://schemas.microsoft.com/office/drawing/2014/main" id="{A0EA1477-C7A0-4F17-91D4-AED825D72D94}"/>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Windowing and missing data</a:t>
            </a:r>
          </a:p>
        </p:txBody>
      </p:sp>
      <p:sp>
        <p:nvSpPr>
          <p:cNvPr id="3" name="concept-92-definition-label-0">
            <a:extLst xmlns:a="http://schemas.openxmlformats.org/drawingml/2006/main">
              <a:ext uri="{FF2B5EF4-FFF2-40B4-BE49-F238E27FC236}">
                <a16:creationId xmlns:a16="http://schemas.microsoft.com/office/drawing/2014/main" id="{2A9415DF-715E-45FD-A569-C5EA4366024B}"/>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92-definition-0">
            <a:extLst xmlns:a="http://schemas.openxmlformats.org/drawingml/2006/main">
              <a:ext uri="{FF2B5EF4-FFF2-40B4-BE49-F238E27FC236}">
                <a16:creationId xmlns:a16="http://schemas.microsoft.com/office/drawing/2014/main" id="{0AC2AD43-1F04-480E-BE09-70BD412A43A2}"/>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Windowing divides an ordered signal into local segments. A</a:t>
            </a:r>
          </a:p>
        </p:txBody>
      </p:sp>
      <p:sp>
        <p:nvSpPr>
          <p:cNvPr id="5" name="concept-92-definition-1">
            <a:extLst xmlns:a="http://schemas.openxmlformats.org/drawingml/2006/main">
              <a:ext uri="{FF2B5EF4-FFF2-40B4-BE49-F238E27FC236}">
                <a16:creationId xmlns:a16="http://schemas.microsoft.com/office/drawing/2014/main" id="{286177E5-C68C-4262-85D8-C287FA274C20}"/>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mask records which entries are observed so absent values are</a:t>
            </a:r>
          </a:p>
        </p:txBody>
      </p:sp>
      <p:sp>
        <p:nvSpPr>
          <p:cNvPr id="6" name="concept-92-definition-2">
            <a:extLst xmlns:a="http://schemas.openxmlformats.org/drawingml/2006/main">
              <a:ext uri="{FF2B5EF4-FFF2-40B4-BE49-F238E27FC236}">
                <a16:creationId xmlns:a16="http://schemas.microsoft.com/office/drawing/2014/main" id="{A081A1E3-D6D9-4E8F-95B3-0ADA6CFF712F}"/>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not mistaken for measurements.</a:t>
            </a:r>
          </a:p>
        </p:txBody>
      </p:sp>
      <p:sp>
        <p:nvSpPr>
          <p:cNvPr id="7" name="concept-92-formula-0">
            <a:extLst xmlns:a="http://schemas.openxmlformats.org/drawingml/2006/main">
              <a:ext uri="{FF2B5EF4-FFF2-40B4-BE49-F238E27FC236}">
                <a16:creationId xmlns:a16="http://schemas.microsoft.com/office/drawing/2014/main" id="{262DAF70-E241-4461-9DFA-9CD709348416}"/>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Wᵢ = (xᵢ, …, xᵢ₊ₗ₋₁); mⱼ ∈ {0, 1}</a:t>
            </a:r>
          </a:p>
        </p:txBody>
      </p:sp>
      <p:sp>
        <p:nvSpPr>
          <p:cNvPr id="8" name="concept-92-example-label-0">
            <a:extLst xmlns:a="http://schemas.openxmlformats.org/drawingml/2006/main">
              <a:ext uri="{FF2B5EF4-FFF2-40B4-BE49-F238E27FC236}">
                <a16:creationId xmlns:a16="http://schemas.microsoft.com/office/drawing/2014/main" id="{8345A8C3-9197-4CA8-9C8D-6DEAEF767615}"/>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92-example-0">
            <a:extLst xmlns:a="http://schemas.openxmlformats.org/drawingml/2006/main">
              <a:ext uri="{FF2B5EF4-FFF2-40B4-BE49-F238E27FC236}">
                <a16:creationId xmlns:a16="http://schemas.microsoft.com/office/drawing/2014/main" id="{8E4DAAC4-8FCC-44A0-A7FD-9A9EE446C367}"/>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Sequence (2, 4, missing, 6) gives length-3 windows (2, 4,</a:t>
            </a:r>
          </a:p>
        </p:txBody>
      </p:sp>
      <p:sp>
        <p:nvSpPr>
          <p:cNvPr id="10" name="concept-92-example-1">
            <a:extLst xmlns:a="http://schemas.openxmlformats.org/drawingml/2006/main">
              <a:ext uri="{FF2B5EF4-FFF2-40B4-BE49-F238E27FC236}">
                <a16:creationId xmlns:a16="http://schemas.microsoft.com/office/drawing/2014/main" id="{989A4F8C-CD56-419E-8462-62459ABE6508}"/>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missing) and (4, missing, 6). The second has mask (1, 0, 1): its</a:t>
            </a:r>
          </a:p>
        </p:txBody>
      </p:sp>
      <p:sp>
        <p:nvSpPr>
          <p:cNvPr id="15" name="concept-92-example-2">
            <a:extLst xmlns:a="http://schemas.openxmlformats.org/drawingml/2006/main">
              <a:ext uri="{FF2B5EF4-FFF2-40B4-BE49-F238E27FC236}">
                <a16:creationId xmlns:a16="http://schemas.microsoft.com/office/drawing/2014/main" id="{6675C146-94C1-49B0-9BD6-F57A2753A7B2}"/>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middle value is absent.</a:t>
            </a:r>
          </a:p>
        </p:txBody>
      </p:sp>
      <p:sp>
        <p:nvSpPr>
          <p:cNvPr id="11" name="concept-92-metaphor-label-0">
            <a:extLst xmlns:a="http://schemas.openxmlformats.org/drawingml/2006/main">
              <a:ext uri="{FF2B5EF4-FFF2-40B4-BE49-F238E27FC236}">
                <a16:creationId xmlns:a16="http://schemas.microsoft.com/office/drawing/2014/main" id="{BC78DA18-6288-4242-879C-F51ED390A277}"/>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92-metaphor-0">
            <a:extLst xmlns:a="http://schemas.openxmlformats.org/drawingml/2006/main">
              <a:ext uri="{FF2B5EF4-FFF2-40B4-BE49-F238E27FC236}">
                <a16:creationId xmlns:a16="http://schemas.microsoft.com/office/drawing/2014/main" id="{33614794-54A9-4C87-9CCD-CE4A92179F3C}"/>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Cut a long film into scenes, while marking damaged frames</a:t>
            </a:r>
          </a:p>
        </p:txBody>
      </p:sp>
      <p:sp>
        <p:nvSpPr>
          <p:cNvPr id="13" name="concept-92-metaphor-1">
            <a:extLst xmlns:a="http://schemas.openxmlformats.org/drawingml/2006/main">
              <a:ext uri="{FF2B5EF4-FFF2-40B4-BE49-F238E27FC236}">
                <a16:creationId xmlns:a16="http://schemas.microsoft.com/office/drawing/2014/main" id="{0C2DE9C8-D73F-49EF-B23E-44A46FE5A74D}"/>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rather than pretending they show darkness.</a:t>
            </a:r>
          </a:p>
        </p:txBody>
      </p:sp>
      <p:sp>
        <p:nvSpPr>
          <p:cNvPr id="14" name="concept-92-footer-0">
            <a:extLst xmlns:a="http://schemas.openxmlformats.org/drawingml/2006/main">
              <a:ext uri="{FF2B5EF4-FFF2-40B4-BE49-F238E27FC236}">
                <a16:creationId xmlns:a16="http://schemas.microsoft.com/office/drawing/2014/main" id="{6B3B94AA-FDE6-4845-B673-001B7F71D90B}"/>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Provenance and uncertainty</a:t>
            </a:r>
          </a:p>
        </p:txBody>
      </p:sp>
    </p:spTree>
    <p:extLst>
      <p:ext uri="{BB962C8B-B14F-4D97-AF65-F5344CB8AC3E}">
        <p14:creationId xmlns:p14="http://schemas.microsoft.com/office/powerpoint/2010/main" val="914386894"/>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93-chapter-0">
            <a:extLst xmlns:a="http://schemas.openxmlformats.org/drawingml/2006/main">
              <a:ext uri="{FF2B5EF4-FFF2-40B4-BE49-F238E27FC236}">
                <a16:creationId xmlns:a16="http://schemas.microsoft.com/office/drawing/2014/main" id="{5F829F7D-E095-4005-B539-1B4F093104F5}"/>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093 / 100 · THE WELL-LOG APPLICATION</a:t>
            </a:r>
          </a:p>
        </p:txBody>
      </p:sp>
      <p:sp>
        <p:nvSpPr>
          <p:cNvPr id="2" name="concept-93-title-0">
            <a:extLst xmlns:a="http://schemas.openxmlformats.org/drawingml/2006/main">
              <a:ext uri="{FF2B5EF4-FFF2-40B4-BE49-F238E27FC236}">
                <a16:creationId xmlns:a16="http://schemas.microsoft.com/office/drawing/2014/main" id="{F7D3164E-FBCA-4A7A-853F-5E325E0463EF}"/>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Provenance and uncertainty</a:t>
            </a:r>
          </a:p>
        </p:txBody>
      </p:sp>
      <p:sp>
        <p:nvSpPr>
          <p:cNvPr id="3" name="concept-93-definition-label-0">
            <a:extLst xmlns:a="http://schemas.openxmlformats.org/drawingml/2006/main">
              <a:ext uri="{FF2B5EF4-FFF2-40B4-BE49-F238E27FC236}">
                <a16:creationId xmlns:a16="http://schemas.microsoft.com/office/drawing/2014/main" id="{9EC7C8E9-2F40-44D2-9CB1-557C7ED2BE45}"/>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93-definition-0">
            <a:extLst xmlns:a="http://schemas.openxmlformats.org/drawingml/2006/main">
              <a:ext uri="{FF2B5EF4-FFF2-40B4-BE49-F238E27FC236}">
                <a16:creationId xmlns:a16="http://schemas.microsoft.com/office/drawing/2014/main" id="{CC1D8509-AF24-4C35-9037-CC4180D67CA8}"/>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Provenance records a result's origin and transformations.</a:t>
            </a:r>
          </a:p>
        </p:txBody>
      </p:sp>
      <p:sp>
        <p:nvSpPr>
          <p:cNvPr id="5" name="concept-93-definition-1">
            <a:extLst xmlns:a="http://schemas.openxmlformats.org/drawingml/2006/main">
              <a:ext uri="{FF2B5EF4-FFF2-40B4-BE49-F238E27FC236}">
                <a16:creationId xmlns:a16="http://schemas.microsoft.com/office/drawing/2014/main" id="{CD5EE256-EF15-411F-948C-EA93E4A05315}"/>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Uncertainty describes what is not known about its value, using</a:t>
            </a:r>
          </a:p>
        </p:txBody>
      </p:sp>
      <p:sp>
        <p:nvSpPr>
          <p:cNvPr id="6" name="concept-93-definition-2">
            <a:extLst xmlns:a="http://schemas.openxmlformats.org/drawingml/2006/main">
              <a:ext uri="{FF2B5EF4-FFF2-40B4-BE49-F238E27FC236}">
                <a16:creationId xmlns:a16="http://schemas.microsoft.com/office/drawing/2014/main" id="{0FD88A48-6B1E-492A-A0D5-6D7EE91944F3}"/>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stated method or bound.</a:t>
            </a:r>
          </a:p>
        </p:txBody>
      </p:sp>
      <p:sp>
        <p:nvSpPr>
          <p:cNvPr id="7" name="concept-93-formula-0">
            <a:extLst xmlns:a="http://schemas.openxmlformats.org/drawingml/2006/main">
              <a:ext uri="{FF2B5EF4-FFF2-40B4-BE49-F238E27FC236}">
                <a16:creationId xmlns:a16="http://schemas.microsoft.com/office/drawing/2014/main" id="{C1A16D8E-0618-4236-A4FA-904985E047D5}"/>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If abs(error) ≤ δ: true value ∈ [reading − δ, reading + δ]</a:t>
            </a:r>
          </a:p>
        </p:txBody>
      </p:sp>
      <p:sp>
        <p:nvSpPr>
          <p:cNvPr id="8" name="concept-93-example-label-0">
            <a:extLst xmlns:a="http://schemas.openxmlformats.org/drawingml/2006/main">
              <a:ext uri="{FF2B5EF4-FFF2-40B4-BE49-F238E27FC236}">
                <a16:creationId xmlns:a16="http://schemas.microsoft.com/office/drawing/2014/main" id="{C2A22412-FD41-4645-8A28-E805C2727538}"/>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93-example-0">
            <a:extLst xmlns:a="http://schemas.openxmlformats.org/drawingml/2006/main">
              <a:ext uri="{FF2B5EF4-FFF2-40B4-BE49-F238E27FC236}">
                <a16:creationId xmlns:a16="http://schemas.microsoft.com/office/drawing/2014/main" id="{9718A00B-F275-44A8-AF86-178DF46FF72F}"/>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Well A, 100 m depth, sensor S2: 30 °C. With a justified error</a:t>
            </a:r>
          </a:p>
        </p:txBody>
      </p:sp>
      <p:sp>
        <p:nvSpPr>
          <p:cNvPr id="10" name="concept-93-example-1">
            <a:extLst xmlns:a="http://schemas.openxmlformats.org/drawingml/2006/main">
              <a:ext uri="{FF2B5EF4-FFF2-40B4-BE49-F238E27FC236}">
                <a16:creationId xmlns:a16="http://schemas.microsoft.com/office/drawing/2014/main" id="{3FD700B3-3A7B-4E81-980D-31A2ECF3EA0F}"/>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bound ±0.2 °C, the interval is [29.8, 30.2] °C. Keep the source</a:t>
            </a:r>
          </a:p>
        </p:txBody>
      </p:sp>
      <p:sp>
        <p:nvSpPr>
          <p:cNvPr id="15" name="concept-93-example-2">
            <a:extLst xmlns:a="http://schemas.openxmlformats.org/drawingml/2006/main">
              <a:ext uri="{FF2B5EF4-FFF2-40B4-BE49-F238E27FC236}">
                <a16:creationId xmlns:a16="http://schemas.microsoft.com/office/drawing/2014/main" id="{7C36A8A0-F5B1-433A-BFFB-515D201756F2}"/>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and calibration version.</a:t>
            </a:r>
          </a:p>
        </p:txBody>
      </p:sp>
      <p:sp>
        <p:nvSpPr>
          <p:cNvPr id="11" name="concept-93-metaphor-label-0">
            <a:extLst xmlns:a="http://schemas.openxmlformats.org/drawingml/2006/main">
              <a:ext uri="{FF2B5EF4-FFF2-40B4-BE49-F238E27FC236}">
                <a16:creationId xmlns:a16="http://schemas.microsoft.com/office/drawing/2014/main" id="{A7EB7027-21B1-47C4-975F-54111943D0B4}"/>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93-metaphor-0">
            <a:extLst xmlns:a="http://schemas.openxmlformats.org/drawingml/2006/main">
              <a:ext uri="{FF2B5EF4-FFF2-40B4-BE49-F238E27FC236}">
                <a16:creationId xmlns:a16="http://schemas.microsoft.com/office/drawing/2014/main" id="{B2A71379-11EA-4B48-B3FD-B7E8325D6C2E}"/>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measurement needs both a return address and a ruler</a:t>
            </a:r>
          </a:p>
        </p:txBody>
      </p:sp>
      <p:sp>
        <p:nvSpPr>
          <p:cNvPr id="13" name="concept-93-metaphor-1">
            <a:extLst xmlns:a="http://schemas.openxmlformats.org/drawingml/2006/main">
              <a:ext uri="{FF2B5EF4-FFF2-40B4-BE49-F238E27FC236}">
                <a16:creationId xmlns:a16="http://schemas.microsoft.com/office/drawing/2014/main" id="{82D0D657-DC78-458E-A318-982DED3CA143}"/>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showing its fuzziness.</a:t>
            </a:r>
          </a:p>
        </p:txBody>
      </p:sp>
      <p:sp>
        <p:nvSpPr>
          <p:cNvPr id="14" name="concept-93-footer-0">
            <a:extLst xmlns:a="http://schemas.openxmlformats.org/drawingml/2006/main">
              <a:ext uri="{FF2B5EF4-FFF2-40B4-BE49-F238E27FC236}">
                <a16:creationId xmlns:a16="http://schemas.microsoft.com/office/drawing/2014/main" id="{407864C7-C16A-4BD3-A96F-7A3F07146157}"/>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OSDU Data Platform</a:t>
            </a:r>
          </a:p>
        </p:txBody>
      </p:sp>
    </p:spTree>
    <p:extLst>
      <p:ext uri="{BB962C8B-B14F-4D97-AF65-F5344CB8AC3E}">
        <p14:creationId xmlns:p14="http://schemas.microsoft.com/office/powerpoint/2010/main" val="1301120433"/>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oncept-94-chapter-0">
            <a:extLst xmlns:a="http://schemas.openxmlformats.org/drawingml/2006/main">
              <a:ext uri="{FF2B5EF4-FFF2-40B4-BE49-F238E27FC236}">
                <a16:creationId xmlns:a16="http://schemas.microsoft.com/office/drawing/2014/main" id="{C94121CB-3B0E-40DB-B79C-D4BA5CF27016}"/>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094 / 100 · THE WELL-LOG APPLICATION</a:t>
            </a:r>
          </a:p>
        </p:txBody>
      </p:sp>
      <p:sp>
        <p:nvSpPr>
          <p:cNvPr id="2" name="concept-94-title-0">
            <a:extLst xmlns:a="http://schemas.openxmlformats.org/drawingml/2006/main">
              <a:ext uri="{FF2B5EF4-FFF2-40B4-BE49-F238E27FC236}">
                <a16:creationId xmlns:a16="http://schemas.microsoft.com/office/drawing/2014/main" id="{E96D0978-EF7A-4AF9-959B-B2A2E00799F4}"/>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OSDU Data Platform</a:t>
            </a:r>
          </a:p>
        </p:txBody>
      </p:sp>
      <p:sp>
        <p:nvSpPr>
          <p:cNvPr id="3" name="concept-94-definition-label-0">
            <a:extLst xmlns:a="http://schemas.openxmlformats.org/drawingml/2006/main">
              <a:ext uri="{FF2B5EF4-FFF2-40B4-BE49-F238E27FC236}">
                <a16:creationId xmlns:a16="http://schemas.microsoft.com/office/drawing/2014/main" id="{FFEA43FA-C368-49C2-BE3B-BD250E493F72}"/>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94-definition-0">
            <a:extLst xmlns:a="http://schemas.openxmlformats.org/drawingml/2006/main">
              <a:ext uri="{FF2B5EF4-FFF2-40B4-BE49-F238E27FC236}">
                <a16:creationId xmlns:a16="http://schemas.microsoft.com/office/drawing/2014/main" id="{365F7828-9C81-40E9-99BA-9F0429D2C617}"/>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OSDU Data Platform provides shared data formats and</a:t>
            </a:r>
          </a:p>
        </p:txBody>
      </p:sp>
      <p:sp>
        <p:nvSpPr>
          <p:cNvPr id="5" name="concept-94-definition-1">
            <a:extLst xmlns:a="http://schemas.openxmlformats.org/drawingml/2006/main">
              <a:ext uri="{FF2B5EF4-FFF2-40B4-BE49-F238E27FC236}">
                <a16:creationId xmlns:a16="http://schemas.microsoft.com/office/drawing/2014/main" id="{0208F0F5-79C6-4D91-BFC2-EA2BA747B7FE}"/>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services for storing, finding and accessing energy data. It links</a:t>
            </a:r>
          </a:p>
        </p:txBody>
      </p:sp>
      <p:sp>
        <p:nvSpPr>
          <p:cNvPr id="6" name="concept-94-definition-2">
            <a:extLst xmlns:a="http://schemas.openxmlformats.org/drawingml/2006/main">
              <a:ext uri="{FF2B5EF4-FFF2-40B4-BE49-F238E27FC236}">
                <a16:creationId xmlns:a16="http://schemas.microsoft.com/office/drawing/2014/main" id="{C7DBF456-6F28-4AE9-BCE0-EFF77A39FC44}"/>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measurements to metadata and controls who can access them.</a:t>
            </a:r>
          </a:p>
        </p:txBody>
      </p:sp>
      <p:sp>
        <p:nvSpPr>
          <p:cNvPr id="7" name="concept-94-formula-0">
            <a:extLst xmlns:a="http://schemas.openxmlformats.org/drawingml/2006/main">
              <a:ext uri="{FF2B5EF4-FFF2-40B4-BE49-F238E27FC236}">
                <a16:creationId xmlns:a16="http://schemas.microsoft.com/office/drawing/2014/main" id="{5237818B-48B4-4A1D-9402-CE1EF130FA11}"/>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Conceptual path: record ID → authorized lookup → data +</a:t>
            </a:r>
          </a:p>
        </p:txBody>
      </p:sp>
      <p:sp>
        <p:nvSpPr>
          <p:cNvPr id="8" name="concept-94-formula-1">
            <a:extLst xmlns:a="http://schemas.openxmlformats.org/drawingml/2006/main">
              <a:ext uri="{FF2B5EF4-FFF2-40B4-BE49-F238E27FC236}">
                <a16:creationId xmlns:a16="http://schemas.microsoft.com/office/drawing/2014/main" id="{ECFAC042-7592-4FE4-B27F-CE8288821840}"/>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metadata</a:t>
            </a:r>
          </a:p>
        </p:txBody>
      </p:sp>
      <p:sp>
        <p:nvSpPr>
          <p:cNvPr id="9" name="concept-94-example-label-0">
            <a:extLst xmlns:a="http://schemas.openxmlformats.org/drawingml/2006/main">
              <a:ext uri="{FF2B5EF4-FFF2-40B4-BE49-F238E27FC236}">
                <a16:creationId xmlns:a16="http://schemas.microsoft.com/office/drawing/2014/main" id="{E636C6F1-279F-41A4-8F9A-CEAAD5BE80AB}"/>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10" name="concept-94-example-0">
            <a:extLst xmlns:a="http://schemas.openxmlformats.org/drawingml/2006/main">
              <a:ext uri="{FF2B5EF4-FFF2-40B4-BE49-F238E27FC236}">
                <a16:creationId xmlns:a16="http://schemas.microsoft.com/office/drawing/2014/main" id="{00C62934-CB30-46D6-BC72-3963B6DFE388}"/>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Record 17 identifies a Well A temperature log. An authorized</a:t>
            </a:r>
          </a:p>
        </p:txBody>
      </p:sp>
      <p:sp>
        <p:nvSpPr>
          <p:cNvPr id="11" name="concept-94-example-1">
            <a:extLst xmlns:a="http://schemas.openxmlformats.org/drawingml/2006/main">
              <a:ext uri="{FF2B5EF4-FFF2-40B4-BE49-F238E27FC236}">
                <a16:creationId xmlns:a16="http://schemas.microsoft.com/office/drawing/2014/main" id="{8A307B9B-33E3-4012-9550-349C957C1183}"/>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request retrieves its 100 m, 30 °C measurement together with</a:t>
            </a:r>
          </a:p>
        </p:txBody>
      </p:sp>
      <p:sp>
        <p:nvSpPr>
          <p:cNvPr id="16" name="concept-94-example-2">
            <a:extLst xmlns:a="http://schemas.openxmlformats.org/drawingml/2006/main">
              <a:ext uri="{FF2B5EF4-FFF2-40B4-BE49-F238E27FC236}">
                <a16:creationId xmlns:a16="http://schemas.microsoft.com/office/drawing/2014/main" id="{430624FD-ECC6-402A-A5BD-258B273E9490}"/>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curve’s depth and temperature units.</a:t>
            </a:r>
          </a:p>
        </p:txBody>
      </p:sp>
      <p:sp>
        <p:nvSpPr>
          <p:cNvPr id="12" name="concept-94-metaphor-label-0">
            <a:extLst xmlns:a="http://schemas.openxmlformats.org/drawingml/2006/main">
              <a:ext uri="{FF2B5EF4-FFF2-40B4-BE49-F238E27FC236}">
                <a16:creationId xmlns:a16="http://schemas.microsoft.com/office/drawing/2014/main" id="{0D875D8E-B8E6-43AD-9DCB-83BEDDEF89EB}"/>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3" name="concept-94-metaphor-0">
            <a:extLst xmlns:a="http://schemas.openxmlformats.org/drawingml/2006/main">
              <a:ext uri="{FF2B5EF4-FFF2-40B4-BE49-F238E27FC236}">
                <a16:creationId xmlns:a16="http://schemas.microsoft.com/office/drawing/2014/main" id="{0C177AEF-278B-4EFA-868D-406F0AD3277B}"/>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shared catalog lets different laboratories find and describe</a:t>
            </a:r>
          </a:p>
        </p:txBody>
      </p:sp>
      <p:sp>
        <p:nvSpPr>
          <p:cNvPr id="14" name="concept-94-metaphor-1">
            <a:extLst xmlns:a="http://schemas.openxmlformats.org/drawingml/2006/main">
              <a:ext uri="{FF2B5EF4-FFF2-40B4-BE49-F238E27FC236}">
                <a16:creationId xmlns:a16="http://schemas.microsoft.com/office/drawing/2014/main" id="{4D976F47-4953-4CBE-B36B-6DCC9E2FDC26}"/>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materials using compatible conventions.</a:t>
            </a:r>
          </a:p>
        </p:txBody>
      </p:sp>
      <p:sp>
        <p:nvSpPr>
          <p:cNvPr id="15" name="concept-94-footer-0">
            <a:extLst xmlns:a="http://schemas.openxmlformats.org/drawingml/2006/main">
              <a:ext uri="{FF2B5EF4-FFF2-40B4-BE49-F238E27FC236}">
                <a16:creationId xmlns:a16="http://schemas.microsoft.com/office/drawing/2014/main" id="{9BC7C4A3-AE30-40D0-AA3D-B8A4C376F952}"/>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Open source and reproducibility</a:t>
            </a:r>
          </a:p>
        </p:txBody>
      </p:sp>
    </p:spTree>
    <p:extLst>
      <p:ext uri="{BB962C8B-B14F-4D97-AF65-F5344CB8AC3E}">
        <p14:creationId xmlns:p14="http://schemas.microsoft.com/office/powerpoint/2010/main" val="994867840"/>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oncept-95-chapter-0">
            <a:extLst xmlns:a="http://schemas.openxmlformats.org/drawingml/2006/main">
              <a:ext uri="{FF2B5EF4-FFF2-40B4-BE49-F238E27FC236}">
                <a16:creationId xmlns:a16="http://schemas.microsoft.com/office/drawing/2014/main" id="{2C83BCDC-BE39-47E5-871C-54C0867D66A6}"/>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095 / 100 · THE WELL-LOG APPLICATION</a:t>
            </a:r>
          </a:p>
        </p:txBody>
      </p:sp>
      <p:sp>
        <p:nvSpPr>
          <p:cNvPr id="2" name="concept-95-title-0">
            <a:extLst xmlns:a="http://schemas.openxmlformats.org/drawingml/2006/main">
              <a:ext uri="{FF2B5EF4-FFF2-40B4-BE49-F238E27FC236}">
                <a16:creationId xmlns:a16="http://schemas.microsoft.com/office/drawing/2014/main" id="{63F16025-6C48-4511-8515-D944A6E413EA}"/>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Open source and reproducibility</a:t>
            </a:r>
          </a:p>
        </p:txBody>
      </p:sp>
      <p:sp>
        <p:nvSpPr>
          <p:cNvPr id="3" name="concept-95-definition-label-0">
            <a:extLst xmlns:a="http://schemas.openxmlformats.org/drawingml/2006/main">
              <a:ext uri="{FF2B5EF4-FFF2-40B4-BE49-F238E27FC236}">
                <a16:creationId xmlns:a16="http://schemas.microsoft.com/office/drawing/2014/main" id="{C474AA19-CD0C-4FBA-9FB8-6A7919EB1216}"/>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95-definition-0">
            <a:extLst xmlns:a="http://schemas.openxmlformats.org/drawingml/2006/main">
              <a:ext uri="{FF2B5EF4-FFF2-40B4-BE49-F238E27FC236}">
                <a16:creationId xmlns:a16="http://schemas.microsoft.com/office/drawing/2014/main" id="{B628D3B2-3692-4F0B-AB6E-2C16F19E7461}"/>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Open-source licensing permits use, study, modification, and</a:t>
            </a:r>
          </a:p>
        </p:txBody>
      </p:sp>
      <p:sp>
        <p:nvSpPr>
          <p:cNvPr id="5" name="concept-95-definition-1">
            <a:extLst xmlns:a="http://schemas.openxmlformats.org/drawingml/2006/main">
              <a:ext uri="{FF2B5EF4-FFF2-40B4-BE49-F238E27FC236}">
                <a16:creationId xmlns:a16="http://schemas.microsoft.com/office/drawing/2014/main" id="{0D1B0721-4B20-4A17-B3B2-9BFC5DB4BA59}"/>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redistribution under stated terms. Reproducibility requires</a:t>
            </a:r>
          </a:p>
        </p:txBody>
      </p:sp>
      <p:sp>
        <p:nvSpPr>
          <p:cNvPr id="6" name="concept-95-definition-2">
            <a:extLst xmlns:a="http://schemas.openxmlformats.org/drawingml/2006/main">
              <a:ext uri="{FF2B5EF4-FFF2-40B4-BE49-F238E27FC236}">
                <a16:creationId xmlns:a16="http://schemas.microsoft.com/office/drawing/2014/main" id="{A305C44D-E597-4F36-95C4-7856596B8425}"/>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enough materials to repeat and evaluate a result.</a:t>
            </a:r>
          </a:p>
        </p:txBody>
      </p:sp>
      <p:sp>
        <p:nvSpPr>
          <p:cNvPr id="7" name="concept-95-formula-0">
            <a:extLst xmlns:a="http://schemas.openxmlformats.org/drawingml/2006/main">
              <a:ext uri="{FF2B5EF4-FFF2-40B4-BE49-F238E27FC236}">
                <a16:creationId xmlns:a16="http://schemas.microsoft.com/office/drawing/2014/main" id="{ADEBFE48-2C33-4EE2-8AA8-EB69E07F5B28}"/>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Reproducible result: data + code + settings + environment</a:t>
            </a:r>
          </a:p>
        </p:txBody>
      </p:sp>
      <p:sp>
        <p:nvSpPr>
          <p:cNvPr id="9" name="concept-95-example-label-0">
            <a:extLst xmlns:a="http://schemas.openxmlformats.org/drawingml/2006/main">
              <a:ext uri="{FF2B5EF4-FFF2-40B4-BE49-F238E27FC236}">
                <a16:creationId xmlns:a16="http://schemas.microsoft.com/office/drawing/2014/main" id="{F1E60BFA-55AF-4B00-A9D8-B415B6784081}"/>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10" name="concept-95-example-0">
            <a:extLst xmlns:a="http://schemas.openxmlformats.org/drawingml/2006/main">
              <a:ext uri="{FF2B5EF4-FFF2-40B4-BE49-F238E27FC236}">
                <a16:creationId xmlns:a16="http://schemas.microsoft.com/office/drawing/2014/main" id="{9E7F4E30-A2B8-4FD7-A4F9-5D865B9A7B7C}"/>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Publish allowed data (2, 4, 6), code mean(x), and the</a:t>
            </a:r>
          </a:p>
        </p:txBody>
      </p:sp>
      <p:sp>
        <p:nvSpPr>
          <p:cNvPr id="11" name="concept-95-example-1">
            <a:extLst xmlns:a="http://schemas.openxmlformats.org/drawingml/2006/main">
              <a:ext uri="{FF2B5EF4-FFF2-40B4-BE49-F238E27FC236}">
                <a16:creationId xmlns:a16="http://schemas.microsoft.com/office/drawing/2014/main" id="{3F635C03-7673-4F5A-B629-0DA6F5352F19}"/>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environment. Another person obtains (2+4+6)/3 = 4.</a:t>
            </a:r>
          </a:p>
        </p:txBody>
      </p:sp>
      <p:sp>
        <p:nvSpPr>
          <p:cNvPr id="16" name="concept-95-example-2">
            <a:extLst xmlns:a="http://schemas.openxmlformats.org/drawingml/2006/main">
              <a:ext uri="{FF2B5EF4-FFF2-40B4-BE49-F238E27FC236}">
                <a16:creationId xmlns:a16="http://schemas.microsoft.com/office/drawing/2014/main" id="{71D258CF-9FED-4371-9F19-9FA6EE3A6FD4}"/>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Publishing only “result = 4” cannot reproduce the calculation.</a:t>
            </a:r>
          </a:p>
        </p:txBody>
      </p:sp>
      <p:sp>
        <p:nvSpPr>
          <p:cNvPr id="12" name="concept-95-metaphor-label-0">
            <a:extLst xmlns:a="http://schemas.openxmlformats.org/drawingml/2006/main">
              <a:ext uri="{FF2B5EF4-FFF2-40B4-BE49-F238E27FC236}">
                <a16:creationId xmlns:a16="http://schemas.microsoft.com/office/drawing/2014/main" id="{42622182-2B25-49BD-933E-87D55C7B1B24}"/>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3" name="concept-95-metaphor-0">
            <a:extLst xmlns:a="http://schemas.openxmlformats.org/drawingml/2006/main">
              <a:ext uri="{FF2B5EF4-FFF2-40B4-BE49-F238E27FC236}">
                <a16:creationId xmlns:a16="http://schemas.microsoft.com/office/drawing/2014/main" id="{B04220D7-5C50-43CF-8075-52347C9D549B}"/>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Share the recipe, ingredients, oven settings, and tasting rules</a:t>
            </a:r>
          </a:p>
        </p:txBody>
      </p:sp>
      <p:sp>
        <p:nvSpPr>
          <p:cNvPr id="14" name="concept-95-metaphor-1">
            <a:extLst xmlns:a="http://schemas.openxmlformats.org/drawingml/2006/main">
              <a:ext uri="{FF2B5EF4-FFF2-40B4-BE49-F238E27FC236}">
                <a16:creationId xmlns:a16="http://schemas.microsoft.com/office/drawing/2014/main" id="{1977BE22-93E9-4A09-B754-47E45926CE68}"/>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so others can check the cake.</a:t>
            </a:r>
          </a:p>
        </p:txBody>
      </p:sp>
      <p:sp>
        <p:nvSpPr>
          <p:cNvPr id="15" name="concept-95-footer-0">
            <a:extLst xmlns:a="http://schemas.openxmlformats.org/drawingml/2006/main">
              <a:ext uri="{FF2B5EF4-FFF2-40B4-BE49-F238E27FC236}">
                <a16:creationId xmlns:a16="http://schemas.microsoft.com/office/drawing/2014/main" id="{D4D8C10B-C6A1-4753-9960-33E7D1583792}"/>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Representation alignment</a:t>
            </a:r>
          </a:p>
        </p:txBody>
      </p:sp>
    </p:spTree>
    <p:extLst>
      <p:ext uri="{BB962C8B-B14F-4D97-AF65-F5344CB8AC3E}">
        <p14:creationId xmlns:p14="http://schemas.microsoft.com/office/powerpoint/2010/main" val="2146091997"/>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oncept-96-chapter-0">
            <a:extLst xmlns:a="http://schemas.openxmlformats.org/drawingml/2006/main">
              <a:ext uri="{FF2B5EF4-FFF2-40B4-BE49-F238E27FC236}">
                <a16:creationId xmlns:a16="http://schemas.microsoft.com/office/drawing/2014/main" id="{DD533E25-473A-4E59-A434-F7EE91AC5B97}"/>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096 / 100 · THE WELL-LOG APPLICATION</a:t>
            </a:r>
          </a:p>
        </p:txBody>
      </p:sp>
      <p:sp>
        <p:nvSpPr>
          <p:cNvPr id="2" name="concept-96-title-0">
            <a:extLst xmlns:a="http://schemas.openxmlformats.org/drawingml/2006/main">
              <a:ext uri="{FF2B5EF4-FFF2-40B4-BE49-F238E27FC236}">
                <a16:creationId xmlns:a16="http://schemas.microsoft.com/office/drawing/2014/main" id="{D23C29FF-E5CB-4CDF-AA0A-9436F0040739}"/>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Representation alignment</a:t>
            </a:r>
          </a:p>
        </p:txBody>
      </p:sp>
      <p:sp>
        <p:nvSpPr>
          <p:cNvPr id="3" name="concept-96-definition-label-0">
            <a:extLst xmlns:a="http://schemas.openxmlformats.org/drawingml/2006/main">
              <a:ext uri="{FF2B5EF4-FFF2-40B4-BE49-F238E27FC236}">
                <a16:creationId xmlns:a16="http://schemas.microsoft.com/office/drawing/2014/main" id="{06723F74-B4D4-468A-B031-8C6238BE47E2}"/>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96-definition-0">
            <a:extLst xmlns:a="http://schemas.openxmlformats.org/drawingml/2006/main">
              <a:ext uri="{FF2B5EF4-FFF2-40B4-BE49-F238E27FC236}">
                <a16:creationId xmlns:a16="http://schemas.microsoft.com/office/drawing/2014/main" id="{5C6841D8-6875-467E-81D9-B8DD7FEA65D7}"/>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Representation alignment connects domain vectors or tokens to</a:t>
            </a:r>
          </a:p>
        </p:txBody>
      </p:sp>
      <p:sp>
        <p:nvSpPr>
          <p:cNvPr id="5" name="concept-96-definition-1">
            <a:extLst xmlns:a="http://schemas.openxmlformats.org/drawingml/2006/main">
              <a:ext uri="{FF2B5EF4-FFF2-40B4-BE49-F238E27FC236}">
                <a16:creationId xmlns:a16="http://schemas.microsoft.com/office/drawing/2014/main" id="{ABCF31E1-B506-46C1-B90C-E17D40F8FE40}"/>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language tasks. Paired examples can train a model to use those</a:t>
            </a:r>
          </a:p>
        </p:txBody>
      </p:sp>
      <p:sp>
        <p:nvSpPr>
          <p:cNvPr id="6" name="concept-96-definition-2">
            <a:extLst xmlns:a="http://schemas.openxmlformats.org/drawingml/2006/main">
              <a:ext uri="{FF2B5EF4-FFF2-40B4-BE49-F238E27FC236}">
                <a16:creationId xmlns:a16="http://schemas.microsoft.com/office/drawing/2014/main" id="{26125728-2BBA-498F-9CC2-BFB17752CA2F}"/>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representations when predicting an answer.</a:t>
            </a:r>
          </a:p>
        </p:txBody>
      </p:sp>
      <p:sp>
        <p:nvSpPr>
          <p:cNvPr id="7" name="concept-96-formula-0">
            <a:extLst xmlns:a="http://schemas.openxmlformats.org/drawingml/2006/main">
              <a:ext uri="{FF2B5EF4-FFF2-40B4-BE49-F238E27FC236}">
                <a16:creationId xmlns:a16="http://schemas.microsoft.com/office/drawing/2014/main" id="{CA781EF6-0B3D-44AE-A459-22E4B39DB57F}"/>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A supervised objective: minimize −Σᵢ ln P_θ(answerᵢ ∣ qᵢ,</a:t>
            </a:r>
          </a:p>
        </p:txBody>
      </p:sp>
      <p:sp>
        <p:nvSpPr>
          <p:cNvPr id="8" name="concept-96-formula-1">
            <a:extLst xmlns:a="http://schemas.openxmlformats.org/drawingml/2006/main">
              <a:ext uri="{FF2B5EF4-FFF2-40B4-BE49-F238E27FC236}">
                <a16:creationId xmlns:a16="http://schemas.microsoft.com/office/drawing/2014/main" id="{E6417812-790B-4E8C-A41E-810CA59DC2E0}"/>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codesᵢ, metadataᵢ)</a:t>
            </a:r>
          </a:p>
        </p:txBody>
      </p:sp>
      <p:sp>
        <p:nvSpPr>
          <p:cNvPr id="9" name="concept-96-example-label-0">
            <a:extLst xmlns:a="http://schemas.openxmlformats.org/drawingml/2006/main">
              <a:ext uri="{FF2B5EF4-FFF2-40B4-BE49-F238E27FC236}">
                <a16:creationId xmlns:a16="http://schemas.microsoft.com/office/drawing/2014/main" id="{8160F2F7-819F-4501-A50D-4FCD5A6BC627}"/>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10" name="concept-96-example-0">
            <a:extLst xmlns:a="http://schemas.openxmlformats.org/drawingml/2006/main">
              <a:ext uri="{FF2B5EF4-FFF2-40B4-BE49-F238E27FC236}">
                <a16:creationId xmlns:a16="http://schemas.microsoft.com/office/drawing/2014/main" id="{B70757F5-326A-489F-A31A-47FF671F9831}"/>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 a code paired with answer “rising,” predicting probability</a:t>
            </a:r>
          </a:p>
        </p:txBody>
      </p:sp>
      <p:sp>
        <p:nvSpPr>
          <p:cNvPr id="11" name="concept-96-example-1">
            <a:extLst xmlns:a="http://schemas.openxmlformats.org/drawingml/2006/main">
              <a:ext uri="{FF2B5EF4-FFF2-40B4-BE49-F238E27FC236}">
                <a16:creationId xmlns:a16="http://schemas.microsoft.com/office/drawing/2014/main" id="{ED6055A6-2365-4F41-AEBD-5D77F9C05285}"/>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0.2 gives loss −ln(0.2) ≈ 1.61. At 0.8, loss ≈ 0.22. Paired data</a:t>
            </a:r>
          </a:p>
        </p:txBody>
      </p:sp>
      <p:sp>
        <p:nvSpPr>
          <p:cNvPr id="12" name="concept-96-example-2">
            <a:extLst xmlns:a="http://schemas.openxmlformats.org/drawingml/2006/main">
              <a:ext uri="{FF2B5EF4-FFF2-40B4-BE49-F238E27FC236}">
                <a16:creationId xmlns:a16="http://schemas.microsoft.com/office/drawing/2014/main" id="{7F06B6EC-DF90-4023-9925-9C56CD12ED9C}"/>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teach the connection.</a:t>
            </a:r>
          </a:p>
        </p:txBody>
      </p:sp>
      <p:sp>
        <p:nvSpPr>
          <p:cNvPr id="13" name="concept-96-metaphor-label-0">
            <a:extLst xmlns:a="http://schemas.openxmlformats.org/drawingml/2006/main">
              <a:ext uri="{FF2B5EF4-FFF2-40B4-BE49-F238E27FC236}">
                <a16:creationId xmlns:a16="http://schemas.microsoft.com/office/drawing/2014/main" id="{D34B6462-605A-4FD2-AC1E-7DAA0C888433}"/>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4" name="concept-96-metaphor-0">
            <a:extLst xmlns:a="http://schemas.openxmlformats.org/drawingml/2006/main">
              <a:ext uri="{FF2B5EF4-FFF2-40B4-BE49-F238E27FC236}">
                <a16:creationId xmlns:a16="http://schemas.microsoft.com/office/drawing/2014/main" id="{C585F261-6D44-4479-A6F6-D14D8DEEAC09}"/>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Inventing an alphabet is easy; teaching readers what its</a:t>
            </a:r>
          </a:p>
        </p:txBody>
      </p:sp>
      <p:sp>
        <p:nvSpPr>
          <p:cNvPr id="15" name="concept-96-metaphor-1">
            <a:extLst xmlns:a="http://schemas.openxmlformats.org/drawingml/2006/main">
              <a:ext uri="{FF2B5EF4-FFF2-40B4-BE49-F238E27FC236}">
                <a16:creationId xmlns:a16="http://schemas.microsoft.com/office/drawing/2014/main" id="{0B95E0C9-077D-459D-902B-492D67D8C3F2}"/>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symbols refer to takes examples and practice.</a:t>
            </a:r>
          </a:p>
        </p:txBody>
      </p:sp>
      <p:sp>
        <p:nvSpPr>
          <p:cNvPr id="16" name="concept-96-footer-0">
            <a:extLst xmlns:a="http://schemas.openxmlformats.org/drawingml/2006/main">
              <a:ext uri="{FF2B5EF4-FFF2-40B4-BE49-F238E27FC236}">
                <a16:creationId xmlns:a16="http://schemas.microsoft.com/office/drawing/2014/main" id="{0E0CE5DA-7EC7-4BC3-8670-D7A5DF3102C8}"/>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Sememe.ai framework</a:t>
            </a:r>
          </a:p>
        </p:txBody>
      </p:sp>
    </p:spTree>
    <p:extLst>
      <p:ext uri="{BB962C8B-B14F-4D97-AF65-F5344CB8AC3E}">
        <p14:creationId xmlns:p14="http://schemas.microsoft.com/office/powerpoint/2010/main" val="1243435402"/>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97-chapter-0">
            <a:extLst xmlns:a="http://schemas.openxmlformats.org/drawingml/2006/main">
              <a:ext uri="{FF2B5EF4-FFF2-40B4-BE49-F238E27FC236}">
                <a16:creationId xmlns:a16="http://schemas.microsoft.com/office/drawing/2014/main" id="{94BBA357-C202-47B2-99A3-E4FBB2846D4C}"/>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097 / 100 · THE WELL-LOG APPLICATION</a:t>
            </a:r>
          </a:p>
        </p:txBody>
      </p:sp>
      <p:sp>
        <p:nvSpPr>
          <p:cNvPr id="2" name="concept-97-title-0">
            <a:extLst xmlns:a="http://schemas.openxmlformats.org/drawingml/2006/main">
              <a:ext uri="{FF2B5EF4-FFF2-40B4-BE49-F238E27FC236}">
                <a16:creationId xmlns:a16="http://schemas.microsoft.com/office/drawing/2014/main" id="{53391913-B32B-4F66-AAAF-A5AD0942EF79}"/>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Sememe.ai framework</a:t>
            </a:r>
          </a:p>
        </p:txBody>
      </p:sp>
      <p:sp>
        <p:nvSpPr>
          <p:cNvPr id="3" name="concept-97-definition-label-0">
            <a:extLst xmlns:a="http://schemas.openxmlformats.org/drawingml/2006/main">
              <a:ext uri="{FF2B5EF4-FFF2-40B4-BE49-F238E27FC236}">
                <a16:creationId xmlns:a16="http://schemas.microsoft.com/office/drawing/2014/main" id="{96BDD663-C289-4B3C-B6F5-6D1845016F62}"/>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97-definition-0">
            <a:extLst xmlns:a="http://schemas.openxmlformats.org/drawingml/2006/main">
              <a:ext uri="{FF2B5EF4-FFF2-40B4-BE49-F238E27FC236}">
                <a16:creationId xmlns:a16="http://schemas.microsoft.com/office/drawing/2014/main" id="{EC73C38F-B7C3-4B4E-914E-A62F711C09BD}"/>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Sememe.ai is the framework and SDK described for connecting</a:t>
            </a:r>
          </a:p>
        </p:txBody>
      </p:sp>
      <p:sp>
        <p:nvSpPr>
          <p:cNvPr id="5" name="concept-97-definition-1">
            <a:extLst xmlns:a="http://schemas.openxmlformats.org/drawingml/2006/main">
              <a:ext uri="{FF2B5EF4-FFF2-40B4-BE49-F238E27FC236}">
                <a16:creationId xmlns:a16="http://schemas.microsoft.com/office/drawing/2014/main" id="{9DD0203E-546E-446F-AFF3-E8655650BC3B}"/>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domain models and representations to language interfaces.</a:t>
            </a:r>
          </a:p>
        </p:txBody>
      </p:sp>
      <p:sp>
        <p:nvSpPr>
          <p:cNvPr id="6" name="concept-97-definition-2">
            <a:extLst xmlns:a="http://schemas.openxmlformats.org/drawingml/2006/main">
              <a:ext uri="{FF2B5EF4-FFF2-40B4-BE49-F238E27FC236}">
                <a16:creationId xmlns:a16="http://schemas.microsoft.com/office/drawing/2014/main" id="{2C70E3B7-5BFB-4337-8191-A05452C8143C}"/>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This well-log workflow is a proposed application.</a:t>
            </a:r>
          </a:p>
        </p:txBody>
      </p:sp>
      <p:sp>
        <p:nvSpPr>
          <p:cNvPr id="7" name="concept-97-formula-0">
            <a:extLst xmlns:a="http://schemas.openxmlformats.org/drawingml/2006/main">
              <a:ext uri="{FF2B5EF4-FFF2-40B4-BE49-F238E27FC236}">
                <a16:creationId xmlns:a16="http://schemas.microsoft.com/office/drawing/2014/main" id="{7FD398A3-ED93-4C7B-A69E-4F56FB725D9F}"/>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well window → encoder → code IDs + metadata →</a:t>
            </a:r>
          </a:p>
        </p:txBody>
      </p:sp>
      <p:sp>
        <p:nvSpPr>
          <p:cNvPr id="8" name="concept-97-formula-1">
            <a:extLst xmlns:a="http://schemas.openxmlformats.org/drawingml/2006/main">
              <a:ext uri="{FF2B5EF4-FFF2-40B4-BE49-F238E27FC236}">
                <a16:creationId xmlns:a16="http://schemas.microsoft.com/office/drawing/2014/main" id="{58691CAA-8419-4C9F-A3FF-A3885649469A}"/>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language/model interface</a:t>
            </a:r>
          </a:p>
        </p:txBody>
      </p:sp>
      <p:sp>
        <p:nvSpPr>
          <p:cNvPr id="9" name="concept-97-example-label-0">
            <a:extLst xmlns:a="http://schemas.openxmlformats.org/drawingml/2006/main">
              <a:ext uri="{FF2B5EF4-FFF2-40B4-BE49-F238E27FC236}">
                <a16:creationId xmlns:a16="http://schemas.microsoft.com/office/drawing/2014/main" id="{D2093D9E-2CD5-4582-8A1B-7AF4DAFE5C4D}"/>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10" name="concept-97-example-0">
            <a:extLst xmlns:a="http://schemas.openxmlformats.org/drawingml/2006/main">
              <a:ext uri="{FF2B5EF4-FFF2-40B4-BE49-F238E27FC236}">
                <a16:creationId xmlns:a16="http://schemas.microsoft.com/office/drawing/2014/main" id="{30D777D4-60F2-4339-8C9F-38494534B480}"/>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proposed design maps 512 measurements into 8 code IDs</a:t>
            </a:r>
          </a:p>
        </p:txBody>
      </p:sp>
      <p:sp>
        <p:nvSpPr>
          <p:cNvPr id="11" name="concept-97-example-1">
            <a:extLst xmlns:a="http://schemas.openxmlformats.org/drawingml/2006/main">
              <a:ext uri="{FF2B5EF4-FFF2-40B4-BE49-F238E27FC236}">
                <a16:creationId xmlns:a16="http://schemas.microsoft.com/office/drawing/2014/main" id="{61CA801D-917A-440D-B5B4-AA39018F75A3}"/>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while retaining the well, depth, units, and model version.</a:t>
            </a:r>
          </a:p>
        </p:txBody>
      </p:sp>
      <p:sp>
        <p:nvSpPr>
          <p:cNvPr id="12" name="concept-97-metaphor-label-0">
            <a:extLst xmlns:a="http://schemas.openxmlformats.org/drawingml/2006/main">
              <a:ext uri="{FF2B5EF4-FFF2-40B4-BE49-F238E27FC236}">
                <a16:creationId xmlns:a16="http://schemas.microsoft.com/office/drawing/2014/main" id="{F2AA57F3-35E0-405D-8F33-4AA9351B7EB4}"/>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3" name="concept-97-metaphor-0">
            <a:extLst xmlns:a="http://schemas.openxmlformats.org/drawingml/2006/main">
              <a:ext uri="{FF2B5EF4-FFF2-40B4-BE49-F238E27FC236}">
                <a16:creationId xmlns:a16="http://schemas.microsoft.com/office/drawing/2014/main" id="{9DD78854-B5C8-4FB5-8C55-E670E26C0EFA}"/>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Build a translation workbench that keeps a scientific notebook</a:t>
            </a:r>
          </a:p>
        </p:txBody>
      </p:sp>
      <p:sp>
        <p:nvSpPr>
          <p:cNvPr id="14" name="concept-97-metaphor-1">
            <a:extLst xmlns:a="http://schemas.openxmlformats.org/drawingml/2006/main">
              <a:ext uri="{FF2B5EF4-FFF2-40B4-BE49-F238E27FC236}">
                <a16:creationId xmlns:a16="http://schemas.microsoft.com/office/drawing/2014/main" id="{CA70F9A0-3608-48F9-AD72-09AFEAA47712}"/>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beside its shorthand dictionary.</a:t>
            </a:r>
          </a:p>
        </p:txBody>
      </p:sp>
      <p:sp>
        <p:nvSpPr>
          <p:cNvPr id="15" name="concept-97-footer-0">
            <a:extLst xmlns:a="http://schemas.openxmlformats.org/drawingml/2006/main">
              <a:ext uri="{FF2B5EF4-FFF2-40B4-BE49-F238E27FC236}">
                <a16:creationId xmlns:a16="http://schemas.microsoft.com/office/drawing/2014/main" id="{60622F38-973D-4CAC-9728-A3CD90F80B11}"/>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Benchmark and ablation</a:t>
            </a:r>
          </a:p>
        </p:txBody>
      </p:sp>
    </p:spTree>
    <p:extLst>
      <p:ext uri="{BB962C8B-B14F-4D97-AF65-F5344CB8AC3E}">
        <p14:creationId xmlns:p14="http://schemas.microsoft.com/office/powerpoint/2010/main" val="1889940040"/>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concept-98-chapter-0">
            <a:extLst xmlns:a="http://schemas.openxmlformats.org/drawingml/2006/main">
              <a:ext uri="{FF2B5EF4-FFF2-40B4-BE49-F238E27FC236}">
                <a16:creationId xmlns:a16="http://schemas.microsoft.com/office/drawing/2014/main" id="{2D8CDF2B-0A04-4139-86EA-646E2E986FB4}"/>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098 / 100 · THE WELL-LOG APPLICATION</a:t>
            </a:r>
          </a:p>
        </p:txBody>
      </p:sp>
      <p:sp>
        <p:nvSpPr>
          <p:cNvPr id="2" name="concept-98-title-0">
            <a:extLst xmlns:a="http://schemas.openxmlformats.org/drawingml/2006/main">
              <a:ext uri="{FF2B5EF4-FFF2-40B4-BE49-F238E27FC236}">
                <a16:creationId xmlns:a16="http://schemas.microsoft.com/office/drawing/2014/main" id="{B5259B85-6F95-487D-BEBA-CFE60A12322D}"/>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Benchmark and ablation</a:t>
            </a:r>
          </a:p>
        </p:txBody>
      </p:sp>
      <p:sp>
        <p:nvSpPr>
          <p:cNvPr id="3" name="concept-98-definition-label-0">
            <a:extLst xmlns:a="http://schemas.openxmlformats.org/drawingml/2006/main">
              <a:ext uri="{FF2B5EF4-FFF2-40B4-BE49-F238E27FC236}">
                <a16:creationId xmlns:a16="http://schemas.microsoft.com/office/drawing/2014/main" id="{505FE32F-369E-4DCC-A7E6-603AC8E11B72}"/>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98-definition-0">
            <a:extLst xmlns:a="http://schemas.openxmlformats.org/drawingml/2006/main">
              <a:ext uri="{FF2B5EF4-FFF2-40B4-BE49-F238E27FC236}">
                <a16:creationId xmlns:a16="http://schemas.microsoft.com/office/drawing/2014/main" id="{8BCF8C3A-2C74-4A6C-BC0B-8F9F0EBF3D5D}"/>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benchmark defines fixed evaluation tasks and metrics. An</a:t>
            </a:r>
          </a:p>
        </p:txBody>
      </p:sp>
      <p:sp>
        <p:nvSpPr>
          <p:cNvPr id="5" name="concept-98-definition-1">
            <a:extLst xmlns:a="http://schemas.openxmlformats.org/drawingml/2006/main">
              <a:ext uri="{FF2B5EF4-FFF2-40B4-BE49-F238E27FC236}">
                <a16:creationId xmlns:a16="http://schemas.microsoft.com/office/drawing/2014/main" id="{D1FBEEE9-80DC-499E-969E-BB8E1B093EDD}"/>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ablation changes one component to test what it contributes</a:t>
            </a:r>
          </a:p>
        </p:txBody>
      </p:sp>
      <p:sp>
        <p:nvSpPr>
          <p:cNvPr id="6" name="concept-98-definition-2">
            <a:extLst xmlns:a="http://schemas.openxmlformats.org/drawingml/2006/main">
              <a:ext uri="{FF2B5EF4-FFF2-40B4-BE49-F238E27FC236}">
                <a16:creationId xmlns:a16="http://schemas.microsoft.com/office/drawing/2014/main" id="{B7D8A785-223F-427C-8145-7BF57D169058}"/>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under a controlled comparison.</a:t>
            </a:r>
          </a:p>
        </p:txBody>
      </p:sp>
      <p:sp>
        <p:nvSpPr>
          <p:cNvPr id="7" name="concept-98-formula-0">
            <a:extLst xmlns:a="http://schemas.openxmlformats.org/drawingml/2006/main">
              <a:ext uri="{FF2B5EF4-FFF2-40B4-BE49-F238E27FC236}">
                <a16:creationId xmlns:a16="http://schemas.microsoft.com/office/drawing/2014/main" id="{4B222C23-CAF2-4320-A9AC-34B69D1E62C3}"/>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accuracy = correct / total; change = scorefull − scorewithout</a:t>
            </a:r>
          </a:p>
        </p:txBody>
      </p:sp>
      <p:sp>
        <p:nvSpPr>
          <p:cNvPr id="8" name="concept-98-example-label-0">
            <a:extLst xmlns:a="http://schemas.openxmlformats.org/drawingml/2006/main">
              <a:ext uri="{FF2B5EF4-FFF2-40B4-BE49-F238E27FC236}">
                <a16:creationId xmlns:a16="http://schemas.microsoft.com/office/drawing/2014/main" id="{6B3D5E74-DC2A-42A1-AEC9-EE7F98CFEFA8}"/>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98-example-0">
            <a:extLst xmlns:a="http://schemas.openxmlformats.org/drawingml/2006/main">
              <a:ext uri="{FF2B5EF4-FFF2-40B4-BE49-F238E27FC236}">
                <a16:creationId xmlns:a16="http://schemas.microsoft.com/office/drawing/2014/main" id="{ED5A251C-84A8-46F2-9497-1C4C7DC865E6}"/>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On the same 50 held-out questions, the full system gets 40</a:t>
            </a:r>
          </a:p>
        </p:txBody>
      </p:sp>
      <p:sp>
        <p:nvSpPr>
          <p:cNvPr id="10" name="concept-98-example-1">
            <a:extLst xmlns:a="http://schemas.openxmlformats.org/drawingml/2006/main">
              <a:ext uri="{FF2B5EF4-FFF2-40B4-BE49-F238E27FC236}">
                <a16:creationId xmlns:a16="http://schemas.microsoft.com/office/drawing/2014/main" id="{6DB34718-CAFE-4836-946A-A67DAEA3BCEB}"/>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right (80%). Disabling its learned-token input gives 35 (70%).</a:t>
            </a:r>
          </a:p>
        </p:txBody>
      </p:sp>
      <p:sp>
        <p:nvSpPr>
          <p:cNvPr id="15" name="concept-98-example-2">
            <a:extLst xmlns:a="http://schemas.openxmlformats.org/drawingml/2006/main">
              <a:ext uri="{FF2B5EF4-FFF2-40B4-BE49-F238E27FC236}">
                <a16:creationId xmlns:a16="http://schemas.microsoft.com/office/drawing/2014/main" id="{359BF069-099E-44B8-B174-BE4631A4A03F}"/>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The observed drop is 10 percentage points.</a:t>
            </a:r>
          </a:p>
        </p:txBody>
      </p:sp>
      <p:sp>
        <p:nvSpPr>
          <p:cNvPr id="11" name="concept-98-metaphor-label-0">
            <a:extLst xmlns:a="http://schemas.openxmlformats.org/drawingml/2006/main">
              <a:ext uri="{FF2B5EF4-FFF2-40B4-BE49-F238E27FC236}">
                <a16:creationId xmlns:a16="http://schemas.microsoft.com/office/drawing/2014/main" id="{8DEC58EC-46BF-413B-8906-E4EB7C025247}"/>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98-metaphor-0">
            <a:extLst xmlns:a="http://schemas.openxmlformats.org/drawingml/2006/main">
              <a:ext uri="{FF2B5EF4-FFF2-40B4-BE49-F238E27FC236}">
                <a16:creationId xmlns:a16="http://schemas.microsoft.com/office/drawing/2014/main" id="{2D7C70BA-07FA-48F2-8253-7F827A5B0BB0}"/>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Race on the same course, then remove one engine part to see</a:t>
            </a:r>
          </a:p>
        </p:txBody>
      </p:sp>
      <p:sp>
        <p:nvSpPr>
          <p:cNvPr id="13" name="concept-98-metaphor-1">
            <a:extLst xmlns:a="http://schemas.openxmlformats.org/drawingml/2006/main">
              <a:ext uri="{FF2B5EF4-FFF2-40B4-BE49-F238E27FC236}">
                <a16:creationId xmlns:a16="http://schemas.microsoft.com/office/drawing/2014/main" id="{A2C1419B-BDF2-44C2-B01D-95F79A61709C}"/>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whether it actually helped.</a:t>
            </a:r>
          </a:p>
        </p:txBody>
      </p:sp>
      <p:sp>
        <p:nvSpPr>
          <p:cNvPr id="14" name="concept-98-footer-0">
            <a:extLst xmlns:a="http://schemas.openxmlformats.org/drawingml/2006/main">
              <a:ext uri="{FF2B5EF4-FFF2-40B4-BE49-F238E27FC236}">
                <a16:creationId xmlns:a16="http://schemas.microsoft.com/office/drawing/2014/main" id="{E328AD52-1D39-4A01-9BC5-2BF82F121AEB}"/>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Forward-deployed engineering</a:t>
            </a:r>
          </a:p>
        </p:txBody>
      </p:sp>
    </p:spTree>
    <p:extLst>
      <p:ext uri="{BB962C8B-B14F-4D97-AF65-F5344CB8AC3E}">
        <p14:creationId xmlns:p14="http://schemas.microsoft.com/office/powerpoint/2010/main" val="875782684"/>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concept-99-chapter-0">
            <a:extLst xmlns:a="http://schemas.openxmlformats.org/drawingml/2006/main">
              <a:ext uri="{FF2B5EF4-FFF2-40B4-BE49-F238E27FC236}">
                <a16:creationId xmlns:a16="http://schemas.microsoft.com/office/drawing/2014/main" id="{D78834BA-AF3E-48EC-AED0-AAE246A07701}"/>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099 / 100 · THE WELL-LOG APPLICATION</a:t>
            </a:r>
          </a:p>
        </p:txBody>
      </p:sp>
      <p:sp>
        <p:nvSpPr>
          <p:cNvPr id="2" name="concept-99-title-0">
            <a:extLst xmlns:a="http://schemas.openxmlformats.org/drawingml/2006/main">
              <a:ext uri="{FF2B5EF4-FFF2-40B4-BE49-F238E27FC236}">
                <a16:creationId xmlns:a16="http://schemas.microsoft.com/office/drawing/2014/main" id="{42D1D0F7-6DDE-4463-A789-A07C73C4BBC2}"/>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Forward-deployed engineering</a:t>
            </a:r>
          </a:p>
        </p:txBody>
      </p:sp>
      <p:sp>
        <p:nvSpPr>
          <p:cNvPr id="3" name="concept-99-definition-label-0">
            <a:extLst xmlns:a="http://schemas.openxmlformats.org/drawingml/2006/main">
              <a:ext uri="{FF2B5EF4-FFF2-40B4-BE49-F238E27FC236}">
                <a16:creationId xmlns:a16="http://schemas.microsoft.com/office/drawing/2014/main" id="{C5D37932-C51B-4075-A7B1-65F8D002C5F6}"/>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99-definition-0">
            <a:extLst xmlns:a="http://schemas.openxmlformats.org/drawingml/2006/main">
              <a:ext uri="{FF2B5EF4-FFF2-40B4-BE49-F238E27FC236}">
                <a16:creationId xmlns:a16="http://schemas.microsoft.com/office/drawing/2014/main" id="{9DD69DA3-7524-458D-A781-B714E48248B1}"/>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Forward-deployed engineering embeds technical work with</a:t>
            </a:r>
          </a:p>
        </p:txBody>
      </p:sp>
      <p:sp>
        <p:nvSpPr>
          <p:cNvPr id="5" name="concept-99-definition-1">
            <a:extLst xmlns:a="http://schemas.openxmlformats.org/drawingml/2006/main">
              <a:ext uri="{FF2B5EF4-FFF2-40B4-BE49-F238E27FC236}">
                <a16:creationId xmlns:a16="http://schemas.microsoft.com/office/drawing/2014/main" id="{B9D6FAE9-9B7D-44E9-A438-31EF6CBBA2D6}"/>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users to define a valuable problem, integrate a solution, and</a:t>
            </a:r>
          </a:p>
        </p:txBody>
      </p:sp>
      <p:sp>
        <p:nvSpPr>
          <p:cNvPr id="6" name="concept-99-definition-2">
            <a:extLst xmlns:a="http://schemas.openxmlformats.org/drawingml/2006/main">
              <a:ext uri="{FF2B5EF4-FFF2-40B4-BE49-F238E27FC236}">
                <a16:creationId xmlns:a16="http://schemas.microsoft.com/office/drawing/2014/main" id="{47E943B0-BCC1-43F1-ABF4-10B6BAA3918B}"/>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measure its performance in real operations.</a:t>
            </a:r>
          </a:p>
        </p:txBody>
      </p:sp>
      <p:sp>
        <p:nvSpPr>
          <p:cNvPr id="7" name="concept-99-formula-0">
            <a:extLst xmlns:a="http://schemas.openxmlformats.org/drawingml/2006/main">
              <a:ext uri="{FF2B5EF4-FFF2-40B4-BE49-F238E27FC236}">
                <a16:creationId xmlns:a16="http://schemas.microsoft.com/office/drawing/2014/main" id="{F3D8ED0B-7900-4C60-911F-6ADB76C5F6C7}"/>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time saved per case = previous time − deployed time</a:t>
            </a:r>
          </a:p>
        </p:txBody>
      </p:sp>
      <p:sp>
        <p:nvSpPr>
          <p:cNvPr id="8" name="concept-99-example-label-0">
            <a:extLst xmlns:a="http://schemas.openxmlformats.org/drawingml/2006/main">
              <a:ext uri="{FF2B5EF4-FFF2-40B4-BE49-F238E27FC236}">
                <a16:creationId xmlns:a16="http://schemas.microsoft.com/office/drawing/2014/main" id="{CB744E83-9CCD-4608-9C72-62ACB43AF9C9}"/>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9" name="concept-99-example-0">
            <a:extLst xmlns:a="http://schemas.openxmlformats.org/drawingml/2006/main">
              <a:ext uri="{FF2B5EF4-FFF2-40B4-BE49-F238E27FC236}">
                <a16:creationId xmlns:a16="http://schemas.microsoft.com/office/drawing/2014/main" id="{2F0B8BCF-8BE3-42EA-8455-2B15861D1DFA}"/>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If a verified workflow reduces a task from 30 to 10 minutes, 12</a:t>
            </a:r>
          </a:p>
        </p:txBody>
      </p:sp>
      <p:sp>
        <p:nvSpPr>
          <p:cNvPr id="10" name="concept-99-example-1">
            <a:extLst xmlns:a="http://schemas.openxmlformats.org/drawingml/2006/main">
              <a:ext uri="{FF2B5EF4-FFF2-40B4-BE49-F238E27FC236}">
                <a16:creationId xmlns:a16="http://schemas.microsoft.com/office/drawing/2014/main" id="{576FED13-43FC-4646-84C8-039D2A4394DB}"/>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tasks save 240 minutes, or 4 hours.</a:t>
            </a:r>
          </a:p>
        </p:txBody>
      </p:sp>
      <p:sp>
        <p:nvSpPr>
          <p:cNvPr id="11" name="concept-99-metaphor-label-0">
            <a:extLst xmlns:a="http://schemas.openxmlformats.org/drawingml/2006/main">
              <a:ext uri="{FF2B5EF4-FFF2-40B4-BE49-F238E27FC236}">
                <a16:creationId xmlns:a16="http://schemas.microsoft.com/office/drawing/2014/main" id="{BA3BDF27-2EFA-4A16-AC6D-F066F39339A1}"/>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2" name="concept-99-metaphor-0">
            <a:extLst xmlns:a="http://schemas.openxmlformats.org/drawingml/2006/main">
              <a:ext uri="{FF2B5EF4-FFF2-40B4-BE49-F238E27FC236}">
                <a16:creationId xmlns:a16="http://schemas.microsoft.com/office/drawing/2014/main" id="{71BDDBC3-EAD0-4CA3-A905-A83DD9520628}"/>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 engineer builds a bridge at the actual river, adjusting to its</a:t>
            </a:r>
          </a:p>
        </p:txBody>
      </p:sp>
      <p:sp>
        <p:nvSpPr>
          <p:cNvPr id="13" name="concept-99-metaphor-1">
            <a:extLst xmlns:a="http://schemas.openxmlformats.org/drawingml/2006/main">
              <a:ext uri="{FF2B5EF4-FFF2-40B4-BE49-F238E27FC236}">
                <a16:creationId xmlns:a16="http://schemas.microsoft.com/office/drawing/2014/main" id="{C63E70FD-4499-4B64-B63A-D0C3DEEFD790}"/>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banks and traffic.</a:t>
            </a:r>
          </a:p>
        </p:txBody>
      </p:sp>
      <p:sp>
        <p:nvSpPr>
          <p:cNvPr id="14" name="concept-99-footer-0">
            <a:extLst xmlns:a="http://schemas.openxmlformats.org/drawingml/2006/main">
              <a:ext uri="{FF2B5EF4-FFF2-40B4-BE49-F238E27FC236}">
                <a16:creationId xmlns:a16="http://schemas.microsoft.com/office/drawing/2014/main" id="{2C1F4042-7235-4A60-8141-4C9ABDA845EC}"/>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NEXT Grounded model conversation</a:t>
            </a:r>
          </a:p>
        </p:txBody>
      </p:sp>
    </p:spTree>
    <p:extLst>
      <p:ext uri="{BB962C8B-B14F-4D97-AF65-F5344CB8AC3E}">
        <p14:creationId xmlns:p14="http://schemas.microsoft.com/office/powerpoint/2010/main" val="895555734"/>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concept-100-chapter-0">
            <a:extLst xmlns:a="http://schemas.openxmlformats.org/drawingml/2006/main">
              <a:ext uri="{FF2B5EF4-FFF2-40B4-BE49-F238E27FC236}">
                <a16:creationId xmlns:a16="http://schemas.microsoft.com/office/drawing/2014/main" id="{CEC2F390-7B71-4D1F-8D13-1AB9BA4F90A4}"/>
              </a:ext>
            </a:extLst>
          </p:cNvPr>
          <p:cNvSpPr>
            <a:spLocks xmlns:a="http://schemas.openxmlformats.org/drawingml/2006/main" noGrp="1"/>
          </p:cNvSpPr>
          <p:nvPr/>
        </p:nvSpPr>
        <p:spPr>
          <a:xfrm xmlns:a="http://schemas.openxmlformats.org/drawingml/2006/main">
            <a:off x="590550" y="3619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55555"/>
                </a:solidFill>
                <a:latin typeface="DejaVu Sans"/>
                <a:ea typeface="DejaVu Sans"/>
                <a:cs typeface="DejaVu Sans"/>
              </a:defRPr>
            </a:pPr>
            <a:r>
              <a:rPr sz="1275" b="0">
                <a:solidFill>
                  <a:srgbClr val="555555"/>
                </a:solidFill>
                <a:latin typeface="DejaVu Sans"/>
                <a:ea typeface="DejaVu Sans"/>
                <a:cs typeface="DejaVu Sans"/>
              </a:rPr>
              <a:t>100 / 100 · THE WELL-LOG APPLICATION</a:t>
            </a:r>
          </a:p>
        </p:txBody>
      </p:sp>
      <p:sp>
        <p:nvSpPr>
          <p:cNvPr id="2" name="concept-100-title-0">
            <a:extLst xmlns:a="http://schemas.openxmlformats.org/drawingml/2006/main">
              <a:ext uri="{FF2B5EF4-FFF2-40B4-BE49-F238E27FC236}">
                <a16:creationId xmlns:a16="http://schemas.microsoft.com/office/drawing/2014/main" id="{3139440A-22D9-44B9-985C-502CBE32B846}"/>
              </a:ext>
            </a:extLst>
          </p:cNvPr>
          <p:cNvSpPr>
            <a:spLocks xmlns:a="http://schemas.openxmlformats.org/drawingml/2006/main" noGrp="1"/>
          </p:cNvSpPr>
          <p:nvPr/>
        </p:nvSpPr>
        <p:spPr>
          <a:xfrm xmlns:a="http://schemas.openxmlformats.org/drawingml/2006/main">
            <a:off x="571500" y="790575"/>
            <a:ext cx="95631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750" b="1">
                <a:solidFill>
                  <a:srgbClr val="111111"/>
                </a:solidFill>
                <a:latin typeface="DejaVu Sans"/>
                <a:ea typeface="DejaVu Sans"/>
                <a:cs typeface="DejaVu Sans"/>
              </a:defRPr>
            </a:pPr>
            <a:r>
              <a:rPr sz="3750" b="1">
                <a:solidFill>
                  <a:srgbClr val="111111"/>
                </a:solidFill>
                <a:latin typeface="DejaVu Sans"/>
                <a:ea typeface="DejaVu Sans"/>
                <a:cs typeface="DejaVu Sans"/>
              </a:rPr>
              <a:t>Grounded model conversation</a:t>
            </a:r>
          </a:p>
        </p:txBody>
      </p:sp>
      <p:sp>
        <p:nvSpPr>
          <p:cNvPr id="3" name="concept-100-definition-label-0">
            <a:extLst xmlns:a="http://schemas.openxmlformats.org/drawingml/2006/main">
              <a:ext uri="{FF2B5EF4-FFF2-40B4-BE49-F238E27FC236}">
                <a16:creationId xmlns:a16="http://schemas.microsoft.com/office/drawing/2014/main" id="{D8BCEA98-415E-4C2C-9456-55279C47BA3C}"/>
              </a:ext>
            </a:extLst>
          </p:cNvPr>
          <p:cNvSpPr>
            <a:spLocks xmlns:a="http://schemas.openxmlformats.org/drawingml/2006/main" noGrp="1"/>
          </p:cNvSpPr>
          <p:nvPr/>
        </p:nvSpPr>
        <p:spPr>
          <a:xfrm xmlns:a="http://schemas.openxmlformats.org/drawingml/2006/main">
            <a:off x="590550" y="160020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DEFINITION</a:t>
            </a:r>
          </a:p>
        </p:txBody>
      </p:sp>
      <p:sp>
        <p:nvSpPr>
          <p:cNvPr id="4" name="concept-100-definition-0">
            <a:extLst xmlns:a="http://schemas.openxmlformats.org/drawingml/2006/main">
              <a:ext uri="{FF2B5EF4-FFF2-40B4-BE49-F238E27FC236}">
                <a16:creationId xmlns:a16="http://schemas.microsoft.com/office/drawing/2014/main" id="{A9AFCFEF-5891-49C5-87C4-39E0B6D0B39B}"/>
              </a:ext>
            </a:extLst>
          </p:cNvPr>
          <p:cNvSpPr>
            <a:spLocks xmlns:a="http://schemas.openxmlformats.org/drawingml/2006/main" noGrp="1"/>
          </p:cNvSpPr>
          <p:nvPr/>
        </p:nvSpPr>
        <p:spPr>
          <a:xfrm xmlns:a="http://schemas.openxmlformats.org/drawingml/2006/main">
            <a:off x="571500" y="1895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 grounded model conversation links a natural-language</a:t>
            </a:r>
          </a:p>
        </p:txBody>
      </p:sp>
      <p:sp>
        <p:nvSpPr>
          <p:cNvPr id="5" name="concept-100-definition-1">
            <a:extLst xmlns:a="http://schemas.openxmlformats.org/drawingml/2006/main">
              <a:ext uri="{FF2B5EF4-FFF2-40B4-BE49-F238E27FC236}">
                <a16:creationId xmlns:a16="http://schemas.microsoft.com/office/drawing/2014/main" id="{4281B544-766F-40DE-BACD-72BB266B3AA4}"/>
              </a:ext>
            </a:extLst>
          </p:cNvPr>
          <p:cNvSpPr>
            <a:spLocks xmlns:a="http://schemas.openxmlformats.org/drawingml/2006/main" noGrp="1"/>
          </p:cNvSpPr>
          <p:nvPr/>
        </p:nvSpPr>
        <p:spPr>
          <a:xfrm xmlns:a="http://schemas.openxmlformats.org/drawingml/2006/main">
            <a:off x="571500" y="2266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question to identified data and a defined computation, then</a:t>
            </a:r>
          </a:p>
        </p:txBody>
      </p:sp>
      <p:sp>
        <p:nvSpPr>
          <p:cNvPr id="6" name="concept-100-definition-2">
            <a:extLst xmlns:a="http://schemas.openxmlformats.org/drawingml/2006/main">
              <a:ext uri="{FF2B5EF4-FFF2-40B4-BE49-F238E27FC236}">
                <a16:creationId xmlns:a16="http://schemas.microsoft.com/office/drawing/2014/main" id="{1114B88A-DF51-4010-93DF-FC0831CCBBEE}"/>
              </a:ext>
            </a:extLst>
          </p:cNvPr>
          <p:cNvSpPr>
            <a:spLocks xmlns:a="http://schemas.openxmlformats.org/drawingml/2006/main" noGrp="1"/>
          </p:cNvSpPr>
          <p:nvPr/>
        </p:nvSpPr>
        <p:spPr>
          <a:xfrm xmlns:a="http://schemas.openxmlformats.org/drawingml/2006/main">
            <a:off x="571500" y="263842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reports the result with assumptions and evidence.</a:t>
            </a:r>
          </a:p>
        </p:txBody>
      </p:sp>
      <p:sp>
        <p:nvSpPr>
          <p:cNvPr id="7" name="concept-100-formula-0">
            <a:extLst xmlns:a="http://schemas.openxmlformats.org/drawingml/2006/main">
              <a:ext uri="{FF2B5EF4-FFF2-40B4-BE49-F238E27FC236}">
                <a16:creationId xmlns:a16="http://schemas.microsoft.com/office/drawing/2014/main" id="{FC1B7B14-A6A0-40A5-8AD2-2F4F08086DBF}"/>
              </a:ext>
            </a:extLst>
          </p:cNvPr>
          <p:cNvSpPr>
            <a:spLocks xmlns:a="http://schemas.openxmlformats.org/drawingml/2006/main" noGrp="1"/>
          </p:cNvSpPr>
          <p:nvPr/>
        </p:nvSpPr>
        <p:spPr>
          <a:xfrm xmlns:a="http://schemas.openxmlformats.org/drawingml/2006/main">
            <a:off x="571500" y="313372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question → validated inputs → model/tool → result →</a:t>
            </a:r>
          </a:p>
        </p:txBody>
      </p:sp>
      <p:sp>
        <p:nvSpPr>
          <p:cNvPr id="8" name="concept-100-formula-1">
            <a:extLst xmlns:a="http://schemas.openxmlformats.org/drawingml/2006/main">
              <a:ext uri="{FF2B5EF4-FFF2-40B4-BE49-F238E27FC236}">
                <a16:creationId xmlns:a16="http://schemas.microsoft.com/office/drawing/2014/main" id="{F0C63E11-60BD-467E-8EEC-E2064249280A}"/>
              </a:ext>
            </a:extLst>
          </p:cNvPr>
          <p:cNvSpPr>
            <a:spLocks xmlns:a="http://schemas.openxmlformats.org/drawingml/2006/main" noGrp="1"/>
          </p:cNvSpPr>
          <p:nvPr/>
        </p:nvSpPr>
        <p:spPr>
          <a:xfrm xmlns:a="http://schemas.openxmlformats.org/drawingml/2006/main">
            <a:off x="571500" y="3533775"/>
            <a:ext cx="9563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0">
                <a:solidFill>
                  <a:srgbClr val="111111"/>
                </a:solidFill>
                <a:latin typeface="DejaVu Sans"/>
                <a:ea typeface="DejaVu Sans"/>
                <a:cs typeface="DejaVu Sans"/>
              </a:defRPr>
            </a:pPr>
            <a:r>
              <a:rPr sz="2400" b="0">
                <a:solidFill>
                  <a:srgbClr val="111111"/>
                </a:solidFill>
                <a:latin typeface="DejaVu Sans"/>
                <a:ea typeface="DejaVu Sans"/>
                <a:cs typeface="DejaVu Sans"/>
              </a:rPr>
              <a:t>explained answer</a:t>
            </a:r>
          </a:p>
        </p:txBody>
      </p:sp>
      <p:sp>
        <p:nvSpPr>
          <p:cNvPr id="9" name="concept-100-example-label-0">
            <a:extLst xmlns:a="http://schemas.openxmlformats.org/drawingml/2006/main">
              <a:ext uri="{FF2B5EF4-FFF2-40B4-BE49-F238E27FC236}">
                <a16:creationId xmlns:a16="http://schemas.microsoft.com/office/drawing/2014/main" id="{F26BC338-911E-4037-89CD-1405DB49B3F3}"/>
              </a:ext>
            </a:extLst>
          </p:cNvPr>
          <p:cNvSpPr>
            <a:spLocks xmlns:a="http://schemas.openxmlformats.org/drawingml/2006/main" noGrp="1"/>
          </p:cNvSpPr>
          <p:nvPr/>
        </p:nvSpPr>
        <p:spPr>
          <a:xfrm xmlns:a="http://schemas.openxmlformats.org/drawingml/2006/main">
            <a:off x="590550" y="4286250"/>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WORKED EXAMPLE</a:t>
            </a:r>
          </a:p>
        </p:txBody>
      </p:sp>
      <p:sp>
        <p:nvSpPr>
          <p:cNvPr id="10" name="concept-100-example-0">
            <a:extLst xmlns:a="http://schemas.openxmlformats.org/drawingml/2006/main">
              <a:ext uri="{FF2B5EF4-FFF2-40B4-BE49-F238E27FC236}">
                <a16:creationId xmlns:a16="http://schemas.microsoft.com/office/drawing/2014/main" id="{BC52BD25-4CE9-44BA-BB68-DCD5529CC051}"/>
              </a:ext>
            </a:extLst>
          </p:cNvPr>
          <p:cNvSpPr>
            <a:spLocks xmlns:a="http://schemas.openxmlformats.org/drawingml/2006/main" noGrp="1"/>
          </p:cNvSpPr>
          <p:nvPr/>
        </p:nvSpPr>
        <p:spPr>
          <a:xfrm xmlns:a="http://schemas.openxmlformats.org/drawingml/2006/main">
            <a:off x="571500" y="457200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“Double inflow.” Starting volume 10 L, usual inflow 3 L/step,</a:t>
            </a:r>
          </a:p>
        </p:txBody>
      </p:sp>
      <p:sp>
        <p:nvSpPr>
          <p:cNvPr id="11" name="concept-100-example-1">
            <a:extLst xmlns:a="http://schemas.openxmlformats.org/drawingml/2006/main">
              <a:ext uri="{FF2B5EF4-FFF2-40B4-BE49-F238E27FC236}">
                <a16:creationId xmlns:a16="http://schemas.microsoft.com/office/drawing/2014/main" id="{5BE09C9A-8053-4B56-8AC5-ADEDA8D9DDB8}"/>
              </a:ext>
            </a:extLst>
          </p:cNvPr>
          <p:cNvSpPr>
            <a:spLocks xmlns:a="http://schemas.openxmlformats.org/drawingml/2006/main" noGrp="1"/>
          </p:cNvSpPr>
          <p:nvPr/>
        </p:nvSpPr>
        <p:spPr>
          <a:xfrm xmlns:a="http://schemas.openxmlformats.org/drawingml/2006/main">
            <a:off x="571500" y="49434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drain 2 L/step. Model predicts 10 + 2×3 − 2 = 14 L after one</a:t>
            </a:r>
          </a:p>
        </p:txBody>
      </p:sp>
      <p:sp>
        <p:nvSpPr>
          <p:cNvPr id="16" name="concept-100-example-2">
            <a:extLst xmlns:a="http://schemas.openxmlformats.org/drawingml/2006/main">
              <a:ext uri="{FF2B5EF4-FFF2-40B4-BE49-F238E27FC236}">
                <a16:creationId xmlns:a16="http://schemas.microsoft.com/office/drawing/2014/main" id="{BACD945A-58C5-4DD2-A7A6-D9A975463BC5}"/>
              </a:ext>
            </a:extLst>
          </p:cNvPr>
          <p:cNvSpPr>
            <a:spLocks xmlns:a="http://schemas.openxmlformats.org/drawingml/2006/main" noGrp="1"/>
          </p:cNvSpPr>
          <p:nvPr/>
        </p:nvSpPr>
        <p:spPr>
          <a:xfrm xmlns:a="http://schemas.openxmlformats.org/drawingml/2006/main">
            <a:off x="571500" y="53149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step, assuming no overflow.</a:t>
            </a:r>
          </a:p>
        </p:txBody>
      </p:sp>
      <p:sp>
        <p:nvSpPr>
          <p:cNvPr id="12" name="concept-100-metaphor-label-0">
            <a:extLst xmlns:a="http://schemas.openxmlformats.org/drawingml/2006/main">
              <a:ext uri="{FF2B5EF4-FFF2-40B4-BE49-F238E27FC236}">
                <a16:creationId xmlns:a16="http://schemas.microsoft.com/office/drawing/2014/main" id="{5B9BFDB8-A750-4437-ABE8-510A5D631A13}"/>
              </a:ext>
            </a:extLst>
          </p:cNvPr>
          <p:cNvSpPr>
            <a:spLocks xmlns:a="http://schemas.openxmlformats.org/drawingml/2006/main" noGrp="1"/>
          </p:cNvSpPr>
          <p:nvPr/>
        </p:nvSpPr>
        <p:spPr>
          <a:xfrm xmlns:a="http://schemas.openxmlformats.org/drawingml/2006/main">
            <a:off x="590550" y="5838825"/>
            <a:ext cx="9563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55555"/>
                </a:solidFill>
                <a:latin typeface="DejaVu Sans"/>
                <a:ea typeface="DejaVu Sans"/>
                <a:cs typeface="DejaVu Sans"/>
              </a:defRPr>
            </a:pPr>
            <a:r>
              <a:rPr sz="1275" b="1">
                <a:solidFill>
                  <a:srgbClr val="555555"/>
                </a:solidFill>
                <a:latin typeface="DejaVu Sans"/>
                <a:ea typeface="DejaVu Sans"/>
                <a:cs typeface="DejaVu Sans"/>
              </a:rPr>
              <a:t>METAPHOR</a:t>
            </a:r>
          </a:p>
        </p:txBody>
      </p:sp>
      <p:sp>
        <p:nvSpPr>
          <p:cNvPr id="13" name="concept-100-metaphor-0">
            <a:extLst xmlns:a="http://schemas.openxmlformats.org/drawingml/2006/main">
              <a:ext uri="{FF2B5EF4-FFF2-40B4-BE49-F238E27FC236}">
                <a16:creationId xmlns:a16="http://schemas.microsoft.com/office/drawing/2014/main" id="{05310895-B99F-4198-B77F-424B248653D8}"/>
              </a:ext>
            </a:extLst>
          </p:cNvPr>
          <p:cNvSpPr>
            <a:spLocks xmlns:a="http://schemas.openxmlformats.org/drawingml/2006/main" noGrp="1"/>
          </p:cNvSpPr>
          <p:nvPr/>
        </p:nvSpPr>
        <p:spPr>
          <a:xfrm xmlns:a="http://schemas.openxmlformats.org/drawingml/2006/main">
            <a:off x="571500" y="6124575"/>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Language is the interpreter at the laboratory door; instruments</a:t>
            </a:r>
          </a:p>
        </p:txBody>
      </p:sp>
      <p:sp>
        <p:nvSpPr>
          <p:cNvPr id="14" name="concept-100-metaphor-1">
            <a:extLst xmlns:a="http://schemas.openxmlformats.org/drawingml/2006/main">
              <a:ext uri="{FF2B5EF4-FFF2-40B4-BE49-F238E27FC236}">
                <a16:creationId xmlns:a16="http://schemas.microsoft.com/office/drawing/2014/main" id="{AA848426-7AD3-4B3E-9753-84BB473125BA}"/>
              </a:ext>
            </a:extLst>
          </p:cNvPr>
          <p:cNvSpPr>
            <a:spLocks xmlns:a="http://schemas.openxmlformats.org/drawingml/2006/main" noGrp="1"/>
          </p:cNvSpPr>
          <p:nvPr/>
        </p:nvSpPr>
        <p:spPr>
          <a:xfrm xmlns:a="http://schemas.openxmlformats.org/drawingml/2006/main">
            <a:off x="571500" y="6496050"/>
            <a:ext cx="9563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11111"/>
                </a:solidFill>
                <a:latin typeface="DejaVu Sans"/>
                <a:ea typeface="DejaVu Sans"/>
                <a:cs typeface="DejaVu Sans"/>
              </a:defRPr>
            </a:pPr>
            <a:r>
              <a:rPr sz="2325" b="0">
                <a:solidFill>
                  <a:srgbClr val="111111"/>
                </a:solidFill>
                <a:latin typeface="DejaVu Sans"/>
                <a:ea typeface="DejaVu Sans"/>
                <a:cs typeface="DejaVu Sans"/>
              </a:rPr>
              <a:t>and models do the measured work inside.</a:t>
            </a:r>
          </a:p>
        </p:txBody>
      </p:sp>
      <p:sp>
        <p:nvSpPr>
          <p:cNvPr id="15" name="concept-100-footer-0">
            <a:extLst xmlns:a="http://schemas.openxmlformats.org/drawingml/2006/main">
              <a:ext uri="{FF2B5EF4-FFF2-40B4-BE49-F238E27FC236}">
                <a16:creationId xmlns:a16="http://schemas.microsoft.com/office/drawing/2014/main" id="{69A886F4-15BF-4A2E-82B7-553407F30D30}"/>
              </a:ext>
            </a:extLst>
          </p:cNvPr>
          <p:cNvSpPr>
            <a:spLocks xmlns:a="http://schemas.openxmlformats.org/drawingml/2006/main" noGrp="1"/>
          </p:cNvSpPr>
          <p:nvPr/>
        </p:nvSpPr>
        <p:spPr>
          <a:xfrm xmlns:a="http://schemas.openxmlformats.org/drawingml/2006/main">
            <a:off x="590550" y="7134225"/>
            <a:ext cx="956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55555"/>
                </a:solidFill>
                <a:latin typeface="DejaVu Sans"/>
                <a:ea typeface="DejaVu Sans"/>
                <a:cs typeface="DejaVu Sans"/>
              </a:defRPr>
            </a:pPr>
            <a:r>
              <a:rPr sz="1125" b="0">
                <a:solidFill>
                  <a:srgbClr val="555555"/>
                </a:solidFill>
                <a:latin typeface="DejaVu Sans"/>
                <a:ea typeface="DejaVu Sans"/>
                <a:cs typeface="DejaVu Sans"/>
              </a:rPr>
              <a:t>Explain the complete system in your own words.</a:t>
            </a:r>
          </a:p>
        </p:txBody>
      </p:sp>
    </p:spTree>
    <p:extLst>
      <p:ext uri="{BB962C8B-B14F-4D97-AF65-F5344CB8AC3E}">
        <p14:creationId xmlns:p14="http://schemas.microsoft.com/office/powerpoint/2010/main" val="6685148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2026-09-10T13:44:15.6590000Z</dcterms:created>
  <dcterms:modified xsi:type="dcterms:W3CDTF">2026-09-10T13:44:15.6590000Z</dcterms:modified>
</coreProperties>
</file>